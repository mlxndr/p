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1_0.xml" ContentType="application/vnd.ms-powerpoint.comments+xml"/>
  <Override PartName="/ppt/notesSlides/notesSlide12.xml" ContentType="application/vnd.openxmlformats-officedocument.presentationml.notesSlide+xml"/>
  <Override PartName="/ppt/comments/modernComment_102_0.xml" ContentType="application/vnd.ms-powerpoint.comments+xml"/>
  <Override PartName="/ppt/notesSlides/notesSlide13.xml" ContentType="application/vnd.openxmlformats-officedocument.presentationml.notesSlide+xml"/>
  <Override PartName="/ppt/comments/modernComment_103_0.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05_0.xml" ContentType="application/vnd.ms-powerpoint.comments+xml"/>
  <Override PartName="/ppt/notesSlides/notesSlide16.xml" ContentType="application/vnd.openxmlformats-officedocument.presentationml.notesSlide+xml"/>
  <Override PartName="/ppt/comments/modernComment_106_0.xml" ContentType="application/vnd.ms-powerpoint.comments+xml"/>
  <Override PartName="/ppt/notesSlides/notesSlide17.xml" ContentType="application/vnd.openxmlformats-officedocument.presentationml.notesSlide+xml"/>
  <Override PartName="/ppt/comments/modernComment_107_3B8F0A57.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68" r:id="rId2"/>
    <p:sldId id="269" r:id="rId3"/>
    <p:sldId id="270" r:id="rId4"/>
    <p:sldId id="271" r:id="rId5"/>
    <p:sldId id="272" r:id="rId6"/>
    <p:sldId id="260" r:id="rId7"/>
    <p:sldId id="256" r:id="rId8"/>
    <p:sldId id="283" r:id="rId9"/>
    <p:sldId id="284" r:id="rId10"/>
    <p:sldId id="282" r:id="rId11"/>
    <p:sldId id="257" r:id="rId12"/>
    <p:sldId id="258" r:id="rId13"/>
    <p:sldId id="259" r:id="rId14"/>
    <p:sldId id="281" r:id="rId15"/>
    <p:sldId id="261" r:id="rId16"/>
    <p:sldId id="262" r:id="rId17"/>
    <p:sldId id="267" r:id="rId18"/>
    <p:sldId id="263" r:id="rId19"/>
    <p:sldId id="264" r:id="rId20"/>
    <p:sldId id="265" r:id="rId21"/>
    <p:sldId id="266" r:id="rId22"/>
    <p:sldId id="274" r:id="rId23"/>
    <p:sldId id="277" r:id="rId24"/>
    <p:sldId id="278" r:id="rId25"/>
    <p:sldId id="280" r:id="rId26"/>
    <p:sldId id="285" r:id="rId27"/>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863AB6F-1038-41C6-B159-67B5474A908B}" name="Andrew Struan" initials="AS" userId="S::andrew.struan@glasgow.ac.uk::e3043fea-6a51-4c47-9924-ea408bc9670b" providerId="AD"/>
  <p188:author id="{8D372A8D-4379-364D-D27D-D81C9E67E8C9}" name="Marc Alexander" initials="MA" userId="S::Marc.Alexander@glasgow.ac.uk::70df41f1-7007-4f79-96ee-63a10c4e863f" providerId="AD"/>
  <p188:author id="{077FFBE1-D9C7-660F-2388-2213C2765234}" name="Ruth Cole" initials="RC" userId="S::Ruth.Cole@glasgow.ac.uk::78a7e813-80b8-4a3c-bd1e-44c2edf1134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BF4305-F43D-A348-9537-0F861E4272AC}" v="677" dt="2025-03-25T11:45:12.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78"/>
    <p:restoredTop sz="94638"/>
  </p:normalViewPr>
  <p:slideViewPr>
    <p:cSldViewPr snapToGrid="0">
      <p:cViewPr varScale="1">
        <p:scale>
          <a:sx n="72" d="100"/>
          <a:sy n="72" d="100"/>
        </p:scale>
        <p:origin x="216" y="10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Alexander" userId="70df41f1-7007-4f79-96ee-63a10c4e863f" providerId="ADAL" clId="{E7BF4305-F43D-A348-9537-0F861E4272AC}"/>
    <pc:docChg chg="undo custSel addSld modSld">
      <pc:chgData name="Marc Alexander" userId="70df41f1-7007-4f79-96ee-63a10c4e863f" providerId="ADAL" clId="{E7BF4305-F43D-A348-9537-0F861E4272AC}" dt="2025-03-25T11:45:12.227" v="4372" actId="1076"/>
      <pc:docMkLst>
        <pc:docMk/>
      </pc:docMkLst>
      <pc:sldChg chg="addSp delSp modSp mod">
        <pc:chgData name="Marc Alexander" userId="70df41f1-7007-4f79-96ee-63a10c4e863f" providerId="ADAL" clId="{E7BF4305-F43D-A348-9537-0F861E4272AC}" dt="2025-03-25T11:38:35.790" v="3715" actId="20577"/>
        <pc:sldMkLst>
          <pc:docMk/>
          <pc:sldMk cId="0" sldId="256"/>
        </pc:sldMkLst>
        <pc:spChg chg="mod">
          <ac:chgData name="Marc Alexander" userId="70df41f1-7007-4f79-96ee-63a10c4e863f" providerId="ADAL" clId="{E7BF4305-F43D-A348-9537-0F861E4272AC}" dt="2025-03-23T20:40:34.870" v="3497" actId="790"/>
          <ac:spMkLst>
            <pc:docMk/>
            <pc:sldMk cId="0" sldId="256"/>
            <ac:spMk id="3" creationId="{00000000-0000-0000-0000-000000000000}"/>
          </ac:spMkLst>
        </pc:spChg>
        <pc:spChg chg="add mod">
          <ac:chgData name="Marc Alexander" userId="70df41f1-7007-4f79-96ee-63a10c4e863f" providerId="ADAL" clId="{E7BF4305-F43D-A348-9537-0F861E4272AC}" dt="2025-03-25T11:38:35.790" v="3715" actId="20577"/>
          <ac:spMkLst>
            <pc:docMk/>
            <pc:sldMk cId="0" sldId="256"/>
            <ac:spMk id="5" creationId="{E1C86BDC-BCAB-0811-5EE3-58EDC9DE7387}"/>
          </ac:spMkLst>
        </pc:spChg>
        <pc:picChg chg="add mod">
          <ac:chgData name="Marc Alexander" userId="70df41f1-7007-4f79-96ee-63a10c4e863f" providerId="ADAL" clId="{E7BF4305-F43D-A348-9537-0F861E4272AC}" dt="2025-03-23T20:14:56.784" v="1023"/>
          <ac:picMkLst>
            <pc:docMk/>
            <pc:sldMk cId="0" sldId="256"/>
            <ac:picMk id="6" creationId="{EFD162F2-311C-9504-E15D-10B1684C5844}"/>
          </ac:picMkLst>
        </pc:picChg>
      </pc:sldChg>
      <pc:sldChg chg="modSp mod">
        <pc:chgData name="Marc Alexander" userId="70df41f1-7007-4f79-96ee-63a10c4e863f" providerId="ADAL" clId="{E7BF4305-F43D-A348-9537-0F861E4272AC}" dt="2025-03-23T20:40:34.870" v="3497" actId="790"/>
        <pc:sldMkLst>
          <pc:docMk/>
          <pc:sldMk cId="0" sldId="257"/>
        </pc:sldMkLst>
        <pc:spChg chg="mod">
          <ac:chgData name="Marc Alexander" userId="70df41f1-7007-4f79-96ee-63a10c4e863f" providerId="ADAL" clId="{E7BF4305-F43D-A348-9537-0F861E4272AC}" dt="2025-03-23T20:40:34.870" v="3497" actId="790"/>
          <ac:spMkLst>
            <pc:docMk/>
            <pc:sldMk cId="0" sldId="257"/>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5" creationId="{00000000-0000-0000-0000-000000000000}"/>
          </ac:spMkLst>
        </pc:spChg>
        <pc:spChg chg="mod">
          <ac:chgData name="Marc Alexander" userId="70df41f1-7007-4f79-96ee-63a10c4e863f" providerId="ADAL" clId="{E7BF4305-F43D-A348-9537-0F861E4272AC}" dt="2025-03-23T20:21:10.769" v="1714"/>
          <ac:spMkLst>
            <pc:docMk/>
            <pc:sldMk cId="0" sldId="257"/>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9"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10"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13" creationId="{00000000-0000-0000-0000-000000000000}"/>
          </ac:spMkLst>
        </pc:spChg>
        <pc:spChg chg="mod">
          <ac:chgData name="Marc Alexander" userId="70df41f1-7007-4f79-96ee-63a10c4e863f" providerId="ADAL" clId="{E7BF4305-F43D-A348-9537-0F861E4272AC}" dt="2025-03-23T20:21:10.769" v="1714"/>
          <ac:spMkLst>
            <pc:docMk/>
            <pc:sldMk cId="0" sldId="257"/>
            <ac:spMk id="14"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15" creationId="{00000000-0000-0000-0000-000000000000}"/>
          </ac:spMkLst>
        </pc:spChg>
        <pc:spChg chg="mod">
          <ac:chgData name="Marc Alexander" userId="70df41f1-7007-4f79-96ee-63a10c4e863f" providerId="ADAL" clId="{E7BF4305-F43D-A348-9537-0F861E4272AC}" dt="2025-03-23T20:40:34.870" v="3497" actId="790"/>
          <ac:spMkLst>
            <pc:docMk/>
            <pc:sldMk cId="0" sldId="257"/>
            <ac:spMk id="17" creationId="{00000000-0000-0000-0000-000000000000}"/>
          </ac:spMkLst>
        </pc:spChg>
        <pc:spChg chg="mod">
          <ac:chgData name="Marc Alexander" userId="70df41f1-7007-4f79-96ee-63a10c4e863f" providerId="ADAL" clId="{E7BF4305-F43D-A348-9537-0F861E4272AC}" dt="2025-03-23T20:21:10.769" v="1714"/>
          <ac:spMkLst>
            <pc:docMk/>
            <pc:sldMk cId="0" sldId="257"/>
            <ac:spMk id="18" creationId="{00000000-0000-0000-0000-000000000000}"/>
          </ac:spMkLst>
        </pc:spChg>
      </pc:sldChg>
      <pc:sldChg chg="modSp mod modCm">
        <pc:chgData name="Marc Alexander" userId="70df41f1-7007-4f79-96ee-63a10c4e863f" providerId="ADAL" clId="{E7BF4305-F43D-A348-9537-0F861E4272AC}" dt="2025-03-23T20:40:34.870" v="3497" actId="790"/>
        <pc:sldMkLst>
          <pc:docMk/>
          <pc:sldMk cId="0" sldId="258"/>
        </pc:sldMkLst>
        <pc:spChg chg="mod">
          <ac:chgData name="Marc Alexander" userId="70df41f1-7007-4f79-96ee-63a10c4e863f" providerId="ADAL" clId="{E7BF4305-F43D-A348-9537-0F861E4272AC}" dt="2025-03-23T20:40:34.870" v="3497" actId="790"/>
          <ac:spMkLst>
            <pc:docMk/>
            <pc:sldMk cId="0" sldId="258"/>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58"/>
            <ac:spMk id="4" creationId="{00000000-0000-0000-0000-000000000000}"/>
          </ac:spMkLst>
        </pc:spChg>
        <pc:spChg chg="mod">
          <ac:chgData name="Marc Alexander" userId="70df41f1-7007-4f79-96ee-63a10c4e863f" providerId="ADAL" clId="{E7BF4305-F43D-A348-9537-0F861E4272AC}" dt="2025-03-23T20:40:34.870" v="3497" actId="790"/>
          <ac:spMkLst>
            <pc:docMk/>
            <pc:sldMk cId="0" sldId="258"/>
            <ac:spMk id="5" creationId="{00000000-0000-0000-0000-000000000000}"/>
          </ac:spMkLst>
        </pc:spChg>
        <pc:spChg chg="mod">
          <ac:chgData name="Marc Alexander" userId="70df41f1-7007-4f79-96ee-63a10c4e863f" providerId="ADAL" clId="{E7BF4305-F43D-A348-9537-0F861E4272AC}" dt="2025-03-23T20:40:34.870" v="3497" actId="790"/>
          <ac:spMkLst>
            <pc:docMk/>
            <pc:sldMk cId="0" sldId="258"/>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58"/>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58"/>
            <ac:spMk id="10" creationId="{00000000-0000-0000-0000-000000000000}"/>
          </ac:spMkLst>
        </pc:spChg>
        <pc:spChg chg="mod">
          <ac:chgData name="Marc Alexander" userId="70df41f1-7007-4f79-96ee-63a10c4e863f" providerId="ADAL" clId="{E7BF4305-F43D-A348-9537-0F861E4272AC}" dt="2025-03-23T20:40:34.870" v="3497" actId="790"/>
          <ac:spMkLst>
            <pc:docMk/>
            <pc:sldMk cId="0" sldId="258"/>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58"/>
            <ac:spMk id="13" creationId="{00000000-0000-0000-0000-000000000000}"/>
          </ac:spMkLst>
        </pc:spChg>
        <pc:spChg chg="mod">
          <ac:chgData name="Marc Alexander" userId="70df41f1-7007-4f79-96ee-63a10c4e863f" providerId="ADAL" clId="{E7BF4305-F43D-A348-9537-0F861E4272AC}" dt="2025-03-23T20:40:34.870" v="3497" actId="790"/>
          <ac:spMkLst>
            <pc:docMk/>
            <pc:sldMk cId="0" sldId="258"/>
            <ac:spMk id="14" creationId="{00000000-0000-0000-0000-000000000000}"/>
          </ac:spMkLst>
        </pc:spChg>
        <pc:extLst>
          <p:ext xmlns:p="http://schemas.openxmlformats.org/presentationml/2006/main" uri="{D6D511B9-2390-475A-947B-AFAB55BFBCF1}">
            <pc226:cmChg xmlns:pc226="http://schemas.microsoft.com/office/powerpoint/2022/06/main/command" chg="mod">
              <pc226:chgData name="Marc Alexander" userId="70df41f1-7007-4f79-96ee-63a10c4e863f" providerId="ADAL" clId="{E7BF4305-F43D-A348-9537-0F861E4272AC}" dt="2025-03-21T14:41:59.670" v="54" actId="20577"/>
              <pc2:cmMkLst xmlns:pc2="http://schemas.microsoft.com/office/powerpoint/2019/9/main/command">
                <pc:docMk/>
                <pc:sldMk cId="0" sldId="258"/>
                <pc2:cmMk id="{AE026430-4C89-4E1D-9354-E98033270012}"/>
              </pc2:cmMkLst>
            </pc226:cmChg>
            <pc226:cmChg xmlns:pc226="http://schemas.microsoft.com/office/powerpoint/2022/06/main/command" chg="mod">
              <pc226:chgData name="Marc Alexander" userId="70df41f1-7007-4f79-96ee-63a10c4e863f" providerId="ADAL" clId="{E7BF4305-F43D-A348-9537-0F861E4272AC}" dt="2025-03-21T14:40:57.065" v="19" actId="20577"/>
              <pc2:cmMkLst xmlns:pc2="http://schemas.microsoft.com/office/powerpoint/2019/9/main/command">
                <pc:docMk/>
                <pc:sldMk cId="0" sldId="258"/>
                <pc2:cmMk id="{83A60369-E506-4DB0-909A-2E74F5613726}"/>
              </pc2:cmMkLst>
            </pc226:cmChg>
            <pc226:cmChg xmlns:pc226="http://schemas.microsoft.com/office/powerpoint/2022/06/main/command" chg="mod">
              <pc226:chgData name="Marc Alexander" userId="70df41f1-7007-4f79-96ee-63a10c4e863f" providerId="ADAL" clId="{E7BF4305-F43D-A348-9537-0F861E4272AC}" dt="2025-03-21T14:41:10.295" v="43" actId="20577"/>
              <pc2:cmMkLst xmlns:pc2="http://schemas.microsoft.com/office/powerpoint/2019/9/main/command">
                <pc:docMk/>
                <pc:sldMk cId="0" sldId="258"/>
                <pc2:cmMk id="{81D19388-3FD6-4061-AC93-9DD13D9BB15A}"/>
              </pc2:cmMkLst>
            </pc226:cmChg>
            <pc226:cmChg xmlns:pc226="http://schemas.microsoft.com/office/powerpoint/2022/06/main/command" chg="mod">
              <pc226:chgData name="Marc Alexander" userId="70df41f1-7007-4f79-96ee-63a10c4e863f" providerId="ADAL" clId="{E7BF4305-F43D-A348-9537-0F861E4272AC}" dt="2025-03-21T14:41:59.670" v="54" actId="20577"/>
              <pc2:cmMkLst xmlns:pc2="http://schemas.microsoft.com/office/powerpoint/2019/9/main/command">
                <pc:docMk/>
                <pc:sldMk cId="0" sldId="258"/>
                <pc2:cmMk id="{5DD135DC-7DB2-40DC-8362-7A3FC0EE59B2}"/>
              </pc2:cmMkLst>
            </pc226:cmChg>
          </p:ext>
        </pc:extLst>
      </pc:sldChg>
      <pc:sldChg chg="modSp mod modCm">
        <pc:chgData name="Marc Alexander" userId="70df41f1-7007-4f79-96ee-63a10c4e863f" providerId="ADAL" clId="{E7BF4305-F43D-A348-9537-0F861E4272AC}" dt="2025-03-23T20:40:34.870" v="3497" actId="790"/>
        <pc:sldMkLst>
          <pc:docMk/>
          <pc:sldMk cId="0" sldId="259"/>
        </pc:sldMkLst>
        <pc:spChg chg="mod">
          <ac:chgData name="Marc Alexander" userId="70df41f1-7007-4f79-96ee-63a10c4e863f" providerId="ADAL" clId="{E7BF4305-F43D-A348-9537-0F861E4272AC}" dt="2025-03-23T20:21:17.108" v="1715"/>
          <ac:spMkLst>
            <pc:docMk/>
            <pc:sldMk cId="0" sldId="259"/>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3" creationId="{00000000-0000-0000-0000-000000000000}"/>
          </ac:spMkLst>
        </pc:spChg>
        <pc:spChg chg="mod">
          <ac:chgData name="Marc Alexander" userId="70df41f1-7007-4f79-96ee-63a10c4e863f" providerId="ADAL" clId="{E7BF4305-F43D-A348-9537-0F861E4272AC}" dt="2025-03-23T20:21:17.108" v="1715"/>
          <ac:spMkLst>
            <pc:docMk/>
            <pc:sldMk cId="0" sldId="259"/>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9"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10" creationId="{00000000-0000-0000-0000-000000000000}"/>
          </ac:spMkLst>
        </pc:spChg>
        <pc:spChg chg="mod">
          <ac:chgData name="Marc Alexander" userId="70df41f1-7007-4f79-96ee-63a10c4e863f" providerId="ADAL" clId="{E7BF4305-F43D-A348-9537-0F861E4272AC}" dt="2025-03-23T20:21:17.108" v="1715"/>
          <ac:spMkLst>
            <pc:docMk/>
            <pc:sldMk cId="0" sldId="259"/>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13"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17"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18"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19"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20" creationId="{00000000-0000-0000-0000-000000000000}"/>
          </ac:spMkLst>
        </pc:spChg>
        <pc:spChg chg="mod">
          <ac:chgData name="Marc Alexander" userId="70df41f1-7007-4f79-96ee-63a10c4e863f" providerId="ADAL" clId="{E7BF4305-F43D-A348-9537-0F861E4272AC}" dt="2025-03-23T20:21:17.108" v="1715"/>
          <ac:spMkLst>
            <pc:docMk/>
            <pc:sldMk cId="0" sldId="259"/>
            <ac:spMk id="22" creationId="{00000000-0000-0000-0000-000000000000}"/>
          </ac:spMkLst>
        </pc:spChg>
        <pc:spChg chg="mod">
          <ac:chgData name="Marc Alexander" userId="70df41f1-7007-4f79-96ee-63a10c4e863f" providerId="ADAL" clId="{E7BF4305-F43D-A348-9537-0F861E4272AC}" dt="2025-03-23T20:21:10.769" v="1714"/>
          <ac:spMkLst>
            <pc:docMk/>
            <pc:sldMk cId="0" sldId="259"/>
            <ac:spMk id="23" creationId="{00000000-0000-0000-0000-000000000000}"/>
          </ac:spMkLst>
        </pc:spChg>
        <pc:spChg chg="mod">
          <ac:chgData name="Marc Alexander" userId="70df41f1-7007-4f79-96ee-63a10c4e863f" providerId="ADAL" clId="{E7BF4305-F43D-A348-9537-0F861E4272AC}" dt="2025-03-23T20:40:34.870" v="3497" actId="790"/>
          <ac:spMkLst>
            <pc:docMk/>
            <pc:sldMk cId="0" sldId="259"/>
            <ac:spMk id="24" creationId="{00000000-0000-0000-0000-000000000000}"/>
          </ac:spMkLst>
        </pc:spChg>
        <pc:extLst>
          <p:ext xmlns:p="http://schemas.openxmlformats.org/presentationml/2006/main" uri="{D6D511B9-2390-475A-947B-AFAB55BFBCF1}">
            <pc226:cmChg xmlns:pc226="http://schemas.microsoft.com/office/powerpoint/2022/06/main/command" chg="mod">
              <pc226:chgData name="Marc Alexander" userId="70df41f1-7007-4f79-96ee-63a10c4e863f" providerId="ADAL" clId="{E7BF4305-F43D-A348-9537-0F861E4272AC}" dt="2025-03-21T14:42:40.787" v="147" actId="20577"/>
              <pc2:cmMkLst xmlns:pc2="http://schemas.microsoft.com/office/powerpoint/2019/9/main/command">
                <pc:docMk/>
                <pc:sldMk cId="0" sldId="259"/>
                <pc2:cmMk id="{FCA53A6A-840F-4B5D-B789-0ACE6B022A5F}"/>
              </pc2:cmMkLst>
            </pc226:cmChg>
          </p:ext>
        </pc:extLst>
      </pc:sldChg>
      <pc:sldChg chg="modSp mod modCm">
        <pc:chgData name="Marc Alexander" userId="70df41f1-7007-4f79-96ee-63a10c4e863f" providerId="ADAL" clId="{E7BF4305-F43D-A348-9537-0F861E4272AC}" dt="2025-03-23T20:40:34.870" v="3497" actId="790"/>
        <pc:sldMkLst>
          <pc:docMk/>
          <pc:sldMk cId="0" sldId="260"/>
        </pc:sldMkLst>
        <pc:spChg chg="mod">
          <ac:chgData name="Marc Alexander" userId="70df41f1-7007-4f79-96ee-63a10c4e863f" providerId="ADAL" clId="{E7BF4305-F43D-A348-9537-0F861E4272AC}" dt="2025-03-23T20:40:34.870" v="3497" actId="790"/>
          <ac:spMkLst>
            <pc:docMk/>
            <pc:sldMk cId="0" sldId="260"/>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60"/>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60"/>
            <ac:spMk id="6" creationId="{A89A489A-27D2-12B7-4677-AB8F880AC42E}"/>
          </ac:spMkLst>
        </pc:spChg>
        <pc:extLst>
          <p:ext xmlns:p="http://schemas.openxmlformats.org/presentationml/2006/main" uri="{D6D511B9-2390-475A-947B-AFAB55BFBCF1}">
            <pc226:cmChg xmlns:pc226="http://schemas.microsoft.com/office/powerpoint/2022/06/main/command" chg="mod">
              <pc226:chgData name="Marc Alexander" userId="70df41f1-7007-4f79-96ee-63a10c4e863f" providerId="ADAL" clId="{E7BF4305-F43D-A348-9537-0F861E4272AC}" dt="2025-03-21T14:50:24.454" v="816" actId="20577"/>
              <pc2:cmMkLst xmlns:pc2="http://schemas.microsoft.com/office/powerpoint/2019/9/main/command">
                <pc:docMk/>
                <pc:sldMk cId="0" sldId="260"/>
                <pc2:cmMk id="{3A425456-DBE4-4366-BA25-707309DEF972}"/>
              </pc2:cmMkLst>
            </pc226:cmChg>
            <pc226:cmChg xmlns:pc226="http://schemas.microsoft.com/office/powerpoint/2022/06/main/command" chg="mod">
              <pc226:chgData name="Marc Alexander" userId="70df41f1-7007-4f79-96ee-63a10c4e863f" providerId="ADAL" clId="{E7BF4305-F43D-A348-9537-0F861E4272AC}" dt="2025-03-21T14:50:24.454" v="816" actId="20577"/>
              <pc2:cmMkLst xmlns:pc2="http://schemas.microsoft.com/office/powerpoint/2019/9/main/command">
                <pc:docMk/>
                <pc:sldMk cId="0" sldId="260"/>
                <pc2:cmMk id="{6C7540A1-7B13-4440-AD29-E642457B12AE}"/>
              </pc2:cmMkLst>
            </pc226:cmChg>
          </p:ext>
        </pc:extLst>
      </pc:sldChg>
      <pc:sldChg chg="modSp mod modCm">
        <pc:chgData name="Marc Alexander" userId="70df41f1-7007-4f79-96ee-63a10c4e863f" providerId="ADAL" clId="{E7BF4305-F43D-A348-9537-0F861E4272AC}" dt="2025-03-23T20:41:35.575" v="3555" actId="20577"/>
        <pc:sldMkLst>
          <pc:docMk/>
          <pc:sldMk cId="0" sldId="261"/>
        </pc:sldMkLst>
        <pc:spChg chg="mod">
          <ac:chgData name="Marc Alexander" userId="70df41f1-7007-4f79-96ee-63a10c4e863f" providerId="ADAL" clId="{E7BF4305-F43D-A348-9537-0F861E4272AC}" dt="2025-03-23T20:21:17.108" v="1715"/>
          <ac:spMkLst>
            <pc:docMk/>
            <pc:sldMk cId="0" sldId="261"/>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4"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5" creationId="{00000000-0000-0000-0000-000000000000}"/>
          </ac:spMkLst>
        </pc:spChg>
        <pc:spChg chg="mod">
          <ac:chgData name="Marc Alexander" userId="70df41f1-7007-4f79-96ee-63a10c4e863f" providerId="ADAL" clId="{E7BF4305-F43D-A348-9537-0F861E4272AC}" dt="2025-03-23T20:21:10.769" v="1714"/>
          <ac:spMkLst>
            <pc:docMk/>
            <pc:sldMk cId="0" sldId="261"/>
            <ac:spMk id="6" creationId="{00000000-0000-0000-0000-000000000000}"/>
          </ac:spMkLst>
        </pc:spChg>
        <pc:spChg chg="mod">
          <ac:chgData name="Marc Alexander" userId="70df41f1-7007-4f79-96ee-63a10c4e863f" providerId="ADAL" clId="{E7BF4305-F43D-A348-9537-0F861E4272AC}" dt="2025-03-23T20:21:10.769" v="1714"/>
          <ac:spMkLst>
            <pc:docMk/>
            <pc:sldMk cId="0" sldId="261"/>
            <ac:spMk id="7" creationId="{00000000-0000-0000-0000-000000000000}"/>
          </ac:spMkLst>
        </pc:spChg>
        <pc:spChg chg="mod">
          <ac:chgData name="Marc Alexander" userId="70df41f1-7007-4f79-96ee-63a10c4e863f" providerId="ADAL" clId="{E7BF4305-F43D-A348-9537-0F861E4272AC}" dt="2025-03-23T20:21:10.769" v="1714"/>
          <ac:spMkLst>
            <pc:docMk/>
            <pc:sldMk cId="0" sldId="261"/>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9"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10"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13"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14" creationId="{00000000-0000-0000-0000-000000000000}"/>
          </ac:spMkLst>
        </pc:spChg>
        <pc:spChg chg="mod">
          <ac:chgData name="Marc Alexander" userId="70df41f1-7007-4f79-96ee-63a10c4e863f" providerId="ADAL" clId="{E7BF4305-F43D-A348-9537-0F861E4272AC}" dt="2025-03-23T20:41:19.619" v="3527" actId="20577"/>
          <ac:spMkLst>
            <pc:docMk/>
            <pc:sldMk cId="0" sldId="261"/>
            <ac:spMk id="15" creationId="{00000000-0000-0000-0000-000000000000}"/>
          </ac:spMkLst>
        </pc:spChg>
        <pc:spChg chg="mod">
          <ac:chgData name="Marc Alexander" userId="70df41f1-7007-4f79-96ee-63a10c4e863f" providerId="ADAL" clId="{E7BF4305-F43D-A348-9537-0F861E4272AC}" dt="2025-03-23T20:40:34.870" v="3497" actId="790"/>
          <ac:spMkLst>
            <pc:docMk/>
            <pc:sldMk cId="0" sldId="261"/>
            <ac:spMk id="17" creationId="{00000000-0000-0000-0000-000000000000}"/>
          </ac:spMkLst>
        </pc:spChg>
        <pc:spChg chg="mod">
          <ac:chgData name="Marc Alexander" userId="70df41f1-7007-4f79-96ee-63a10c4e863f" providerId="ADAL" clId="{E7BF4305-F43D-A348-9537-0F861E4272AC}" dt="2025-03-23T20:21:10.769" v="1714"/>
          <ac:spMkLst>
            <pc:docMk/>
            <pc:sldMk cId="0" sldId="261"/>
            <ac:spMk id="18" creationId="{00000000-0000-0000-0000-000000000000}"/>
          </ac:spMkLst>
        </pc:spChg>
        <pc:spChg chg="mod">
          <ac:chgData name="Marc Alexander" userId="70df41f1-7007-4f79-96ee-63a10c4e863f" providerId="ADAL" clId="{E7BF4305-F43D-A348-9537-0F861E4272AC}" dt="2025-03-23T20:41:35.575" v="3555" actId="20577"/>
          <ac:spMkLst>
            <pc:docMk/>
            <pc:sldMk cId="0" sldId="261"/>
            <ac:spMk id="19" creationId="{00000000-0000-0000-0000-000000000000}"/>
          </ac:spMkLst>
        </pc:spChg>
        <pc:extLst>
          <p:ext xmlns:p="http://schemas.openxmlformats.org/presentationml/2006/main" uri="{D6D511B9-2390-475A-947B-AFAB55BFBCF1}">
            <pc226:cmChg xmlns:pc226="http://schemas.microsoft.com/office/powerpoint/2022/06/main/command" chg="mod">
              <pc226:chgData name="Marc Alexander" userId="70df41f1-7007-4f79-96ee-63a10c4e863f" providerId="ADAL" clId="{E7BF4305-F43D-A348-9537-0F861E4272AC}" dt="2025-03-21T14:45:24.156" v="352" actId="20577"/>
              <pc2:cmMkLst xmlns:pc2="http://schemas.microsoft.com/office/powerpoint/2019/9/main/command">
                <pc:docMk/>
                <pc:sldMk cId="0" sldId="261"/>
                <pc2:cmMk id="{32F7F459-C0DC-4F45-AD47-394FFD310D29}"/>
              </pc2:cmMkLst>
            </pc226:cmChg>
            <pc226:cmChg xmlns:pc226="http://schemas.microsoft.com/office/powerpoint/2022/06/main/command" chg="mod">
              <pc226:chgData name="Marc Alexander" userId="70df41f1-7007-4f79-96ee-63a10c4e863f" providerId="ADAL" clId="{E7BF4305-F43D-A348-9537-0F861E4272AC}" dt="2025-03-23T20:41:19.619" v="3527" actId="20577"/>
              <pc2:cmMkLst xmlns:pc2="http://schemas.microsoft.com/office/powerpoint/2019/9/main/command">
                <pc:docMk/>
                <pc:sldMk cId="0" sldId="261"/>
                <pc2:cmMk id="{05A6FEF8-4E21-4E20-A3A3-9AB21DC80D63}"/>
              </pc2:cmMkLst>
            </pc226:cmChg>
          </p:ext>
        </pc:extLst>
      </pc:sldChg>
      <pc:sldChg chg="addSp delSp modSp mod modCm">
        <pc:chgData name="Marc Alexander" userId="70df41f1-7007-4f79-96ee-63a10c4e863f" providerId="ADAL" clId="{E7BF4305-F43D-A348-9537-0F861E4272AC}" dt="2025-03-23T20:41:51.553" v="3559"/>
        <pc:sldMkLst>
          <pc:docMk/>
          <pc:sldMk cId="0" sldId="262"/>
        </pc:sldMkLst>
        <pc:spChg chg="mod">
          <ac:chgData name="Marc Alexander" userId="70df41f1-7007-4f79-96ee-63a10c4e863f" providerId="ADAL" clId="{E7BF4305-F43D-A348-9537-0F861E4272AC}" dt="2025-03-23T20:40:34.870" v="3497" actId="790"/>
          <ac:spMkLst>
            <pc:docMk/>
            <pc:sldMk cId="0" sldId="262"/>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4" creationId="{00000000-0000-0000-0000-000000000000}"/>
          </ac:spMkLst>
        </pc:spChg>
        <pc:spChg chg="mod">
          <ac:chgData name="Marc Alexander" userId="70df41f1-7007-4f79-96ee-63a10c4e863f" providerId="ADAL" clId="{E7BF4305-F43D-A348-9537-0F861E4272AC}" dt="2025-03-23T20:21:17.108" v="1715"/>
          <ac:spMkLst>
            <pc:docMk/>
            <pc:sldMk cId="0" sldId="262"/>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11" creationId="{00000000-0000-0000-0000-000000000000}"/>
          </ac:spMkLst>
        </pc:spChg>
        <pc:spChg chg="mod">
          <ac:chgData name="Marc Alexander" userId="70df41f1-7007-4f79-96ee-63a10c4e863f" providerId="ADAL" clId="{E7BF4305-F43D-A348-9537-0F861E4272AC}" dt="2025-03-23T20:41:46.694" v="3556" actId="20577"/>
          <ac:spMkLst>
            <pc:docMk/>
            <pc:sldMk cId="0" sldId="262"/>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13" creationId="{00000000-0000-0000-0000-000000000000}"/>
          </ac:spMkLst>
        </pc:spChg>
        <pc:spChg chg="mod">
          <ac:chgData name="Marc Alexander" userId="70df41f1-7007-4f79-96ee-63a10c4e863f" providerId="ADAL" clId="{E7BF4305-F43D-A348-9537-0F861E4272AC}" dt="2025-03-23T20:21:17.108" v="1715"/>
          <ac:spMkLst>
            <pc:docMk/>
            <pc:sldMk cId="0" sldId="262"/>
            <ac:spMk id="16" creationId="{00000000-0000-0000-0000-000000000000}"/>
          </ac:spMkLst>
        </pc:spChg>
        <pc:spChg chg="mod">
          <ac:chgData name="Marc Alexander" userId="70df41f1-7007-4f79-96ee-63a10c4e863f" providerId="ADAL" clId="{E7BF4305-F43D-A348-9537-0F861E4272AC}" dt="2025-03-23T20:21:10.769" v="1714"/>
          <ac:spMkLst>
            <pc:docMk/>
            <pc:sldMk cId="0" sldId="262"/>
            <ac:spMk id="17"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19" creationId="{00000000-0000-0000-0000-000000000000}"/>
          </ac:spMkLst>
        </pc:spChg>
        <pc:spChg chg="mod">
          <ac:chgData name="Marc Alexander" userId="70df41f1-7007-4f79-96ee-63a10c4e863f" providerId="ADAL" clId="{E7BF4305-F43D-A348-9537-0F861E4272AC}" dt="2025-03-23T20:21:17.108" v="1715"/>
          <ac:spMkLst>
            <pc:docMk/>
            <pc:sldMk cId="0" sldId="262"/>
            <ac:spMk id="21" creationId="{00000000-0000-0000-0000-000000000000}"/>
          </ac:spMkLst>
        </pc:spChg>
        <pc:spChg chg="mod">
          <ac:chgData name="Marc Alexander" userId="70df41f1-7007-4f79-96ee-63a10c4e863f" providerId="ADAL" clId="{E7BF4305-F43D-A348-9537-0F861E4272AC}" dt="2025-03-23T20:21:10.769" v="1714"/>
          <ac:spMkLst>
            <pc:docMk/>
            <pc:sldMk cId="0" sldId="262"/>
            <ac:spMk id="22"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26" creationId="{00000000-0000-0000-0000-000000000000}"/>
          </ac:spMkLst>
        </pc:spChg>
        <pc:spChg chg="mod">
          <ac:chgData name="Marc Alexander" userId="70df41f1-7007-4f79-96ee-63a10c4e863f" providerId="ADAL" clId="{E7BF4305-F43D-A348-9537-0F861E4272AC}" dt="2025-03-23T20:21:10.769" v="1714"/>
          <ac:spMkLst>
            <pc:docMk/>
            <pc:sldMk cId="0" sldId="262"/>
            <ac:spMk id="27"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28" creationId="{00000000-0000-0000-0000-000000000000}"/>
          </ac:spMkLst>
        </pc:spChg>
        <pc:spChg chg="mod">
          <ac:chgData name="Marc Alexander" userId="70df41f1-7007-4f79-96ee-63a10c4e863f" providerId="ADAL" clId="{E7BF4305-F43D-A348-9537-0F861E4272AC}" dt="2025-03-23T20:21:17.108" v="1715"/>
          <ac:spMkLst>
            <pc:docMk/>
            <pc:sldMk cId="0" sldId="262"/>
            <ac:spMk id="31" creationId="{00000000-0000-0000-0000-000000000000}"/>
          </ac:spMkLst>
        </pc:spChg>
        <pc:spChg chg="mod">
          <ac:chgData name="Marc Alexander" userId="70df41f1-7007-4f79-96ee-63a10c4e863f" providerId="ADAL" clId="{E7BF4305-F43D-A348-9537-0F861E4272AC}" dt="2025-03-23T20:40:34.870" v="3497" actId="790"/>
          <ac:spMkLst>
            <pc:docMk/>
            <pc:sldMk cId="0" sldId="262"/>
            <ac:spMk id="32" creationId="{00000000-0000-0000-0000-000000000000}"/>
          </ac:spMkLst>
        </pc:spChg>
        <pc:extLst>
          <p:ext xmlns:p="http://schemas.openxmlformats.org/presentationml/2006/main" uri="{D6D511B9-2390-475A-947B-AFAB55BFBCF1}">
            <pc226:cmChg xmlns:pc226="http://schemas.microsoft.com/office/powerpoint/2022/06/main/command" chg="mod">
              <pc226:chgData name="Marc Alexander" userId="70df41f1-7007-4f79-96ee-63a10c4e863f" providerId="ADAL" clId="{E7BF4305-F43D-A348-9537-0F861E4272AC}" dt="2025-03-21T14:45:50.649" v="393" actId="20577"/>
              <pc2:cmMkLst xmlns:pc2="http://schemas.microsoft.com/office/powerpoint/2019/9/main/command">
                <pc:docMk/>
                <pc:sldMk cId="0" sldId="262"/>
                <pc2:cmMk id="{4D9BF40F-4CD4-471B-9688-72464838E796}"/>
              </pc2:cmMkLst>
            </pc226:cmChg>
          </p:ext>
        </pc:extLst>
      </pc:sldChg>
      <pc:sldChg chg="addSp delSp modSp mod">
        <pc:chgData name="Marc Alexander" userId="70df41f1-7007-4f79-96ee-63a10c4e863f" providerId="ADAL" clId="{E7BF4305-F43D-A348-9537-0F861E4272AC}" dt="2025-03-21T14:47:28.814" v="419" actId="1076"/>
        <pc:sldMkLst>
          <pc:docMk/>
          <pc:sldMk cId="999230039" sldId="263"/>
        </pc:sldMkLst>
        <pc:picChg chg="add mod">
          <ac:chgData name="Marc Alexander" userId="70df41f1-7007-4f79-96ee-63a10c4e863f" providerId="ADAL" clId="{E7BF4305-F43D-A348-9537-0F861E4272AC}" dt="2025-03-21T14:47:28.814" v="419" actId="1076"/>
          <ac:picMkLst>
            <pc:docMk/>
            <pc:sldMk cId="999230039" sldId="263"/>
            <ac:picMk id="3" creationId="{564B6E3F-B983-25F0-51E7-456CB44B7A00}"/>
          </ac:picMkLst>
        </pc:picChg>
      </pc:sldChg>
      <pc:sldChg chg="modSp mod">
        <pc:chgData name="Marc Alexander" userId="70df41f1-7007-4f79-96ee-63a10c4e863f" providerId="ADAL" clId="{E7BF4305-F43D-A348-9537-0F861E4272AC}" dt="2025-03-23T20:40:34.870" v="3497" actId="790"/>
        <pc:sldMkLst>
          <pc:docMk/>
          <pc:sldMk cId="4241207631" sldId="267"/>
        </pc:sldMkLst>
        <pc:spChg chg="mod">
          <ac:chgData name="Marc Alexander" userId="70df41f1-7007-4f79-96ee-63a10c4e863f" providerId="ADAL" clId="{E7BF4305-F43D-A348-9537-0F861E4272AC}" dt="2025-03-23T20:40:34.870" v="3497" actId="790"/>
          <ac:spMkLst>
            <pc:docMk/>
            <pc:sldMk cId="4241207631" sldId="267"/>
            <ac:spMk id="2" creationId="{C58ACDB4-9509-9045-2270-140F6EA88E63}"/>
          </ac:spMkLst>
        </pc:spChg>
        <pc:spChg chg="mod">
          <ac:chgData name="Marc Alexander" userId="70df41f1-7007-4f79-96ee-63a10c4e863f" providerId="ADAL" clId="{E7BF4305-F43D-A348-9537-0F861E4272AC}" dt="2025-03-23T20:40:34.870" v="3497" actId="790"/>
          <ac:spMkLst>
            <pc:docMk/>
            <pc:sldMk cId="4241207631" sldId="267"/>
            <ac:spMk id="18" creationId="{B161FF9F-DA54-7052-6CCF-1210A847131A}"/>
          </ac:spMkLst>
        </pc:spChg>
      </pc:sldChg>
      <pc:sldChg chg="modSp mod">
        <pc:chgData name="Marc Alexander" userId="70df41f1-7007-4f79-96ee-63a10c4e863f" providerId="ADAL" clId="{E7BF4305-F43D-A348-9537-0F861E4272AC}" dt="2025-03-23T20:40:34.870" v="3497" actId="790"/>
        <pc:sldMkLst>
          <pc:docMk/>
          <pc:sldMk cId="0" sldId="268"/>
        </pc:sldMkLst>
        <pc:spChg chg="mod">
          <ac:chgData name="Marc Alexander" userId="70df41f1-7007-4f79-96ee-63a10c4e863f" providerId="ADAL" clId="{E7BF4305-F43D-A348-9537-0F861E4272AC}" dt="2025-03-23T20:40:34.870" v="3497" actId="790"/>
          <ac:spMkLst>
            <pc:docMk/>
            <pc:sldMk cId="0" sldId="268"/>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68"/>
            <ac:spMk id="4" creationId="{00000000-0000-0000-0000-000000000000}"/>
          </ac:spMkLst>
        </pc:spChg>
        <pc:spChg chg="mod">
          <ac:chgData name="Marc Alexander" userId="70df41f1-7007-4f79-96ee-63a10c4e863f" providerId="ADAL" clId="{E7BF4305-F43D-A348-9537-0F861E4272AC}" dt="2025-03-23T20:40:34.870" v="3497" actId="790"/>
          <ac:spMkLst>
            <pc:docMk/>
            <pc:sldMk cId="0" sldId="268"/>
            <ac:spMk id="5" creationId="{00000000-0000-0000-0000-000000000000}"/>
          </ac:spMkLst>
        </pc:spChg>
        <pc:spChg chg="mod">
          <ac:chgData name="Marc Alexander" userId="70df41f1-7007-4f79-96ee-63a10c4e863f" providerId="ADAL" clId="{E7BF4305-F43D-A348-9537-0F861E4272AC}" dt="2025-03-23T20:40:34.870" v="3497" actId="790"/>
          <ac:spMkLst>
            <pc:docMk/>
            <pc:sldMk cId="0" sldId="268"/>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68"/>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68"/>
            <ac:spMk id="9" creationId="{00000000-0000-0000-0000-000000000000}"/>
          </ac:spMkLst>
        </pc:spChg>
        <pc:spChg chg="mod">
          <ac:chgData name="Marc Alexander" userId="70df41f1-7007-4f79-96ee-63a10c4e863f" providerId="ADAL" clId="{E7BF4305-F43D-A348-9537-0F861E4272AC}" dt="2025-03-23T20:40:34.870" v="3497" actId="790"/>
          <ac:spMkLst>
            <pc:docMk/>
            <pc:sldMk cId="0" sldId="268"/>
            <ac:spMk id="10" creationId="{475B8D93-863B-C98F-11EB-B95504F3F6B8}"/>
          </ac:spMkLst>
        </pc:spChg>
        <pc:spChg chg="mod">
          <ac:chgData name="Marc Alexander" userId="70df41f1-7007-4f79-96ee-63a10c4e863f" providerId="ADAL" clId="{E7BF4305-F43D-A348-9537-0F861E4272AC}" dt="2025-03-23T20:40:34.870" v="3497" actId="790"/>
          <ac:spMkLst>
            <pc:docMk/>
            <pc:sldMk cId="0" sldId="268"/>
            <ac:spMk id="12" creationId="{2C1ADEFE-F829-590A-877F-96FE4124CD6A}"/>
          </ac:spMkLst>
        </pc:spChg>
      </pc:sldChg>
      <pc:sldChg chg="delSp modSp mod">
        <pc:chgData name="Marc Alexander" userId="70df41f1-7007-4f79-96ee-63a10c4e863f" providerId="ADAL" clId="{E7BF4305-F43D-A348-9537-0F861E4272AC}" dt="2025-03-23T20:40:34.870" v="3497" actId="790"/>
        <pc:sldMkLst>
          <pc:docMk/>
          <pc:sldMk cId="0" sldId="269"/>
        </pc:sldMkLst>
        <pc:spChg chg="mod">
          <ac:chgData name="Marc Alexander" userId="70df41f1-7007-4f79-96ee-63a10c4e863f" providerId="ADAL" clId="{E7BF4305-F43D-A348-9537-0F861E4272AC}" dt="2025-03-23T20:40:34.870" v="3497" actId="790"/>
          <ac:spMkLst>
            <pc:docMk/>
            <pc:sldMk cId="0" sldId="269"/>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4"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9"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69"/>
            <ac:spMk id="13" creationId="{00000000-0000-0000-0000-000000000000}"/>
          </ac:spMkLst>
        </pc:spChg>
      </pc:sldChg>
      <pc:sldChg chg="modSp mod">
        <pc:chgData name="Marc Alexander" userId="70df41f1-7007-4f79-96ee-63a10c4e863f" providerId="ADAL" clId="{E7BF4305-F43D-A348-9537-0F861E4272AC}" dt="2025-03-23T20:40:34.870" v="3497" actId="790"/>
        <pc:sldMkLst>
          <pc:docMk/>
          <pc:sldMk cId="0" sldId="270"/>
        </pc:sldMkLst>
        <pc:spChg chg="mod">
          <ac:chgData name="Marc Alexander" userId="70df41f1-7007-4f79-96ee-63a10c4e863f" providerId="ADAL" clId="{E7BF4305-F43D-A348-9537-0F861E4272AC}" dt="2025-03-23T20:40:34.870" v="3497" actId="790"/>
          <ac:spMkLst>
            <pc:docMk/>
            <pc:sldMk cId="0" sldId="270"/>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3" creationId="{00000000-0000-0000-0000-000000000000}"/>
          </ac:spMkLst>
        </pc:spChg>
        <pc:spChg chg="mod">
          <ac:chgData name="Marc Alexander" userId="70df41f1-7007-4f79-96ee-63a10c4e863f" providerId="ADAL" clId="{E7BF4305-F43D-A348-9537-0F861E4272AC}" dt="2025-03-23T20:21:10.769" v="1714"/>
          <ac:spMkLst>
            <pc:docMk/>
            <pc:sldMk cId="0" sldId="270"/>
            <ac:spMk id="4"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15"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16"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19" creationId="{00000000-0000-0000-0000-000000000000}"/>
          </ac:spMkLst>
        </pc:spChg>
        <pc:spChg chg="mod">
          <ac:chgData name="Marc Alexander" userId="70df41f1-7007-4f79-96ee-63a10c4e863f" providerId="ADAL" clId="{E7BF4305-F43D-A348-9537-0F861E4272AC}" dt="2025-03-23T20:40:34.870" v="3497" actId="790"/>
          <ac:spMkLst>
            <pc:docMk/>
            <pc:sldMk cId="0" sldId="270"/>
            <ac:spMk id="20" creationId="{00000000-0000-0000-0000-000000000000}"/>
          </ac:spMkLst>
        </pc:spChg>
      </pc:sldChg>
      <pc:sldChg chg="modSp mod">
        <pc:chgData name="Marc Alexander" userId="70df41f1-7007-4f79-96ee-63a10c4e863f" providerId="ADAL" clId="{E7BF4305-F43D-A348-9537-0F861E4272AC}" dt="2025-03-23T20:40:34.870" v="3497" actId="790"/>
        <pc:sldMkLst>
          <pc:docMk/>
          <pc:sldMk cId="0" sldId="271"/>
        </pc:sldMkLst>
        <pc:spChg chg="mod">
          <ac:chgData name="Marc Alexander" userId="70df41f1-7007-4f79-96ee-63a10c4e863f" providerId="ADAL" clId="{E7BF4305-F43D-A348-9537-0F861E4272AC}" dt="2025-03-23T20:40:34.870" v="3497" actId="790"/>
          <ac:spMkLst>
            <pc:docMk/>
            <pc:sldMk cId="0" sldId="271"/>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5"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9"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14"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15" creationId="{00000000-0000-0000-0000-000000000000}"/>
          </ac:spMkLst>
        </pc:spChg>
        <pc:spChg chg="mod">
          <ac:chgData name="Marc Alexander" userId="70df41f1-7007-4f79-96ee-63a10c4e863f" providerId="ADAL" clId="{E7BF4305-F43D-A348-9537-0F861E4272AC}" dt="2025-03-23T20:40:34.870" v="3497" actId="790"/>
          <ac:spMkLst>
            <pc:docMk/>
            <pc:sldMk cId="0" sldId="271"/>
            <ac:spMk id="16" creationId="{00000000-0000-0000-0000-000000000000}"/>
          </ac:spMkLst>
        </pc:spChg>
      </pc:sldChg>
      <pc:sldChg chg="modSp mod">
        <pc:chgData name="Marc Alexander" userId="70df41f1-7007-4f79-96ee-63a10c4e863f" providerId="ADAL" clId="{E7BF4305-F43D-A348-9537-0F861E4272AC}" dt="2025-03-23T20:40:34.870" v="3497" actId="790"/>
        <pc:sldMkLst>
          <pc:docMk/>
          <pc:sldMk cId="0" sldId="272"/>
        </pc:sldMkLst>
        <pc:spChg chg="mod">
          <ac:chgData name="Marc Alexander" userId="70df41f1-7007-4f79-96ee-63a10c4e863f" providerId="ADAL" clId="{E7BF4305-F43D-A348-9537-0F861E4272AC}" dt="2025-03-23T20:40:34.870" v="3497" actId="790"/>
          <ac:spMkLst>
            <pc:docMk/>
            <pc:sldMk cId="0" sldId="272"/>
            <ac:spMk id="2" creationId="{00000000-0000-0000-0000-000000000000}"/>
          </ac:spMkLst>
        </pc:spChg>
        <pc:spChg chg="mod">
          <ac:chgData name="Marc Alexander" userId="70df41f1-7007-4f79-96ee-63a10c4e863f" providerId="ADAL" clId="{E7BF4305-F43D-A348-9537-0F861E4272AC}" dt="2025-03-23T20:21:17.108" v="1715"/>
          <ac:spMkLst>
            <pc:docMk/>
            <pc:sldMk cId="0" sldId="272"/>
            <ac:spMk id="5" creationId="{00000000-0000-0000-0000-000000000000}"/>
          </ac:spMkLst>
        </pc:spChg>
        <pc:spChg chg="mod">
          <ac:chgData name="Marc Alexander" userId="70df41f1-7007-4f79-96ee-63a10c4e863f" providerId="ADAL" clId="{E7BF4305-F43D-A348-9537-0F861E4272AC}" dt="2025-03-23T20:21:10.769" v="1714"/>
          <ac:spMkLst>
            <pc:docMk/>
            <pc:sldMk cId="0" sldId="272"/>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10"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15"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16"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17"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18" creationId="{00000000-0000-0000-0000-000000000000}"/>
          </ac:spMkLst>
        </pc:spChg>
        <pc:spChg chg="mod">
          <ac:chgData name="Marc Alexander" userId="70df41f1-7007-4f79-96ee-63a10c4e863f" providerId="ADAL" clId="{E7BF4305-F43D-A348-9537-0F861E4272AC}" dt="2025-03-23T20:40:34.870" v="3497" actId="790"/>
          <ac:spMkLst>
            <pc:docMk/>
            <pc:sldMk cId="0" sldId="272"/>
            <ac:spMk id="19" creationId="{00000000-0000-0000-0000-000000000000}"/>
          </ac:spMkLst>
        </pc:spChg>
      </pc:sldChg>
      <pc:sldChg chg="modSp mod">
        <pc:chgData name="Marc Alexander" userId="70df41f1-7007-4f79-96ee-63a10c4e863f" providerId="ADAL" clId="{E7BF4305-F43D-A348-9537-0F861E4272AC}" dt="2025-03-23T20:40:34.870" v="3497" actId="790"/>
        <pc:sldMkLst>
          <pc:docMk/>
          <pc:sldMk cId="0" sldId="274"/>
        </pc:sldMkLst>
        <pc:spChg chg="mod">
          <ac:chgData name="Marc Alexander" userId="70df41f1-7007-4f79-96ee-63a10c4e863f" providerId="ADAL" clId="{E7BF4305-F43D-A348-9537-0F861E4272AC}" dt="2025-03-23T20:40:34.870" v="3497" actId="790"/>
          <ac:spMkLst>
            <pc:docMk/>
            <pc:sldMk cId="0" sldId="274"/>
            <ac:spMk id="3" creationId="{00000000-0000-0000-0000-000000000000}"/>
          </ac:spMkLst>
        </pc:spChg>
        <pc:spChg chg="mod">
          <ac:chgData name="Marc Alexander" userId="70df41f1-7007-4f79-96ee-63a10c4e863f" providerId="ADAL" clId="{E7BF4305-F43D-A348-9537-0F861E4272AC}" dt="2025-03-23T20:21:17.108" v="1715"/>
          <ac:spMkLst>
            <pc:docMk/>
            <pc:sldMk cId="0" sldId="274"/>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10"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14"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15"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16" creationId="{00000000-0000-0000-0000-000000000000}"/>
          </ac:spMkLst>
        </pc:spChg>
        <pc:spChg chg="mod">
          <ac:chgData name="Marc Alexander" userId="70df41f1-7007-4f79-96ee-63a10c4e863f" providerId="ADAL" clId="{E7BF4305-F43D-A348-9537-0F861E4272AC}" dt="2025-03-23T20:40:34.870" v="3497" actId="790"/>
          <ac:spMkLst>
            <pc:docMk/>
            <pc:sldMk cId="0" sldId="274"/>
            <ac:spMk id="18" creationId="{00000000-0000-0000-0000-000000000000}"/>
          </ac:spMkLst>
        </pc:spChg>
        <pc:spChg chg="mod">
          <ac:chgData name="Marc Alexander" userId="70df41f1-7007-4f79-96ee-63a10c4e863f" providerId="ADAL" clId="{E7BF4305-F43D-A348-9537-0F861E4272AC}" dt="2025-03-23T20:21:10.769" v="1714"/>
          <ac:spMkLst>
            <pc:docMk/>
            <pc:sldMk cId="0" sldId="274"/>
            <ac:spMk id="19" creationId="{00000000-0000-0000-0000-000000000000}"/>
          </ac:spMkLst>
        </pc:spChg>
      </pc:sldChg>
      <pc:sldChg chg="modSp mod">
        <pc:chgData name="Marc Alexander" userId="70df41f1-7007-4f79-96ee-63a10c4e863f" providerId="ADAL" clId="{E7BF4305-F43D-A348-9537-0F861E4272AC}" dt="2025-03-23T20:40:34.870" v="3497" actId="790"/>
        <pc:sldMkLst>
          <pc:docMk/>
          <pc:sldMk cId="0" sldId="277"/>
        </pc:sldMkLst>
        <pc:spChg chg="mod">
          <ac:chgData name="Marc Alexander" userId="70df41f1-7007-4f79-96ee-63a10c4e863f" providerId="ADAL" clId="{E7BF4305-F43D-A348-9537-0F861E4272AC}" dt="2025-03-23T20:40:34.870" v="3497" actId="790"/>
          <ac:spMkLst>
            <pc:docMk/>
            <pc:sldMk cId="0" sldId="277"/>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5"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9"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14"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15" creationId="{00000000-0000-0000-0000-000000000000}"/>
          </ac:spMkLst>
        </pc:spChg>
        <pc:spChg chg="mod">
          <ac:chgData name="Marc Alexander" userId="70df41f1-7007-4f79-96ee-63a10c4e863f" providerId="ADAL" clId="{E7BF4305-F43D-A348-9537-0F861E4272AC}" dt="2025-03-23T20:40:34.870" v="3497" actId="790"/>
          <ac:spMkLst>
            <pc:docMk/>
            <pc:sldMk cId="0" sldId="277"/>
            <ac:spMk id="16" creationId="{25DC2BBF-0B46-BB1E-11A4-9B40E8F1B59A}"/>
          </ac:spMkLst>
        </pc:spChg>
      </pc:sldChg>
      <pc:sldChg chg="modSp mod">
        <pc:chgData name="Marc Alexander" userId="70df41f1-7007-4f79-96ee-63a10c4e863f" providerId="ADAL" clId="{E7BF4305-F43D-A348-9537-0F861E4272AC}" dt="2025-03-23T20:40:34.870" v="3497" actId="790"/>
        <pc:sldMkLst>
          <pc:docMk/>
          <pc:sldMk cId="0" sldId="278"/>
        </pc:sldMkLst>
        <pc:spChg chg="mod">
          <ac:chgData name="Marc Alexander" userId="70df41f1-7007-4f79-96ee-63a10c4e863f" providerId="ADAL" clId="{E7BF4305-F43D-A348-9537-0F861E4272AC}" dt="2025-03-23T20:40:34.870" v="3497" actId="790"/>
          <ac:spMkLst>
            <pc:docMk/>
            <pc:sldMk cId="0" sldId="278"/>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78"/>
            <ac:spMk id="4" creationId="{00000000-0000-0000-0000-000000000000}"/>
          </ac:spMkLst>
        </pc:spChg>
        <pc:spChg chg="mod">
          <ac:chgData name="Marc Alexander" userId="70df41f1-7007-4f79-96ee-63a10c4e863f" providerId="ADAL" clId="{E7BF4305-F43D-A348-9537-0F861E4272AC}" dt="2025-03-23T20:40:34.870" v="3497" actId="790"/>
          <ac:spMkLst>
            <pc:docMk/>
            <pc:sldMk cId="0" sldId="278"/>
            <ac:spMk id="5" creationId="{00000000-0000-0000-0000-000000000000}"/>
          </ac:spMkLst>
        </pc:spChg>
        <pc:spChg chg="mod">
          <ac:chgData name="Marc Alexander" userId="70df41f1-7007-4f79-96ee-63a10c4e863f" providerId="ADAL" clId="{E7BF4305-F43D-A348-9537-0F861E4272AC}" dt="2025-03-23T20:40:34.870" v="3497" actId="790"/>
          <ac:spMkLst>
            <pc:docMk/>
            <pc:sldMk cId="0" sldId="278"/>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78"/>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78"/>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78"/>
            <ac:spMk id="9" creationId="{00000000-0000-0000-0000-000000000000}"/>
          </ac:spMkLst>
        </pc:spChg>
        <pc:spChg chg="mod">
          <ac:chgData name="Marc Alexander" userId="70df41f1-7007-4f79-96ee-63a10c4e863f" providerId="ADAL" clId="{E7BF4305-F43D-A348-9537-0F861E4272AC}" dt="2025-03-23T20:40:34.870" v="3497" actId="790"/>
          <ac:spMkLst>
            <pc:docMk/>
            <pc:sldMk cId="0" sldId="278"/>
            <ac:spMk id="10" creationId="{00000000-0000-0000-0000-000000000000}"/>
          </ac:spMkLst>
        </pc:spChg>
        <pc:spChg chg="mod">
          <ac:chgData name="Marc Alexander" userId="70df41f1-7007-4f79-96ee-63a10c4e863f" providerId="ADAL" clId="{E7BF4305-F43D-A348-9537-0F861E4272AC}" dt="2025-03-23T20:40:34.870" v="3497" actId="790"/>
          <ac:spMkLst>
            <pc:docMk/>
            <pc:sldMk cId="0" sldId="278"/>
            <ac:spMk id="18" creationId="{962730D9-F909-0264-6288-A39373C42CC8}"/>
          </ac:spMkLst>
        </pc:spChg>
      </pc:sldChg>
      <pc:sldChg chg="modSp mod">
        <pc:chgData name="Marc Alexander" userId="70df41f1-7007-4f79-96ee-63a10c4e863f" providerId="ADAL" clId="{E7BF4305-F43D-A348-9537-0F861E4272AC}" dt="2025-03-23T20:40:34.870" v="3497" actId="790"/>
        <pc:sldMkLst>
          <pc:docMk/>
          <pc:sldMk cId="0" sldId="280"/>
        </pc:sldMkLst>
        <pc:spChg chg="mod">
          <ac:chgData name="Marc Alexander" userId="70df41f1-7007-4f79-96ee-63a10c4e863f" providerId="ADAL" clId="{E7BF4305-F43D-A348-9537-0F861E4272AC}" dt="2025-03-23T20:40:34.870" v="3497" actId="790"/>
          <ac:spMkLst>
            <pc:docMk/>
            <pc:sldMk cId="0" sldId="280"/>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3"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4" creationId="{00000000-0000-0000-0000-000000000000}"/>
          </ac:spMkLst>
        </pc:spChg>
        <pc:spChg chg="mod">
          <ac:chgData name="Marc Alexander" userId="70df41f1-7007-4f79-96ee-63a10c4e863f" providerId="ADAL" clId="{E7BF4305-F43D-A348-9537-0F861E4272AC}" dt="2025-03-23T20:21:10.769" v="1714"/>
          <ac:spMkLst>
            <pc:docMk/>
            <pc:sldMk cId="0" sldId="280"/>
            <ac:spMk id="5" creationId="{00000000-0000-0000-0000-000000000000}"/>
          </ac:spMkLst>
        </pc:spChg>
        <pc:spChg chg="mod">
          <ac:chgData name="Marc Alexander" userId="70df41f1-7007-4f79-96ee-63a10c4e863f" providerId="ADAL" clId="{E7BF4305-F43D-A348-9537-0F861E4272AC}" dt="2025-03-23T20:21:17.108" v="1715"/>
          <ac:spMkLst>
            <pc:docMk/>
            <pc:sldMk cId="0" sldId="280"/>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8" creationId="{00000000-0000-0000-0000-000000000000}"/>
          </ac:spMkLst>
        </pc:spChg>
        <pc:spChg chg="mod">
          <ac:chgData name="Marc Alexander" userId="70df41f1-7007-4f79-96ee-63a10c4e863f" providerId="ADAL" clId="{E7BF4305-F43D-A348-9537-0F861E4272AC}" dt="2025-03-23T20:21:17.108" v="1715"/>
          <ac:spMkLst>
            <pc:docMk/>
            <pc:sldMk cId="0" sldId="280"/>
            <ac:spMk id="10"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13"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14"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15" creationId="{00000000-0000-0000-0000-000000000000}"/>
          </ac:spMkLst>
        </pc:spChg>
        <pc:spChg chg="mod">
          <ac:chgData name="Marc Alexander" userId="70df41f1-7007-4f79-96ee-63a10c4e863f" providerId="ADAL" clId="{E7BF4305-F43D-A348-9537-0F861E4272AC}" dt="2025-03-23T20:21:17.108" v="1715"/>
          <ac:spMkLst>
            <pc:docMk/>
            <pc:sldMk cId="0" sldId="280"/>
            <ac:spMk id="16" creationId="{00000000-0000-0000-0000-000000000000}"/>
          </ac:spMkLst>
        </pc:spChg>
        <pc:spChg chg="mod">
          <ac:chgData name="Marc Alexander" userId="70df41f1-7007-4f79-96ee-63a10c4e863f" providerId="ADAL" clId="{E7BF4305-F43D-A348-9537-0F861E4272AC}" dt="2025-03-23T20:40:34.870" v="3497" actId="790"/>
          <ac:spMkLst>
            <pc:docMk/>
            <pc:sldMk cId="0" sldId="280"/>
            <ac:spMk id="17" creationId="{00000000-0000-0000-0000-000000000000}"/>
          </ac:spMkLst>
        </pc:spChg>
      </pc:sldChg>
      <pc:sldChg chg="modSp mod">
        <pc:chgData name="Marc Alexander" userId="70df41f1-7007-4f79-96ee-63a10c4e863f" providerId="ADAL" clId="{E7BF4305-F43D-A348-9537-0F861E4272AC}" dt="2025-03-23T20:40:34.870" v="3497" actId="790"/>
        <pc:sldMkLst>
          <pc:docMk/>
          <pc:sldMk cId="2530737080" sldId="281"/>
        </pc:sldMkLst>
        <pc:spChg chg="mod">
          <ac:chgData name="Marc Alexander" userId="70df41f1-7007-4f79-96ee-63a10c4e863f" providerId="ADAL" clId="{E7BF4305-F43D-A348-9537-0F861E4272AC}" dt="2025-03-23T20:40:34.870" v="3497" actId="790"/>
          <ac:spMkLst>
            <pc:docMk/>
            <pc:sldMk cId="2530737080" sldId="281"/>
            <ac:spMk id="2" creationId="{632F5F92-8B2F-1D00-0649-2B2926AF7BDE}"/>
          </ac:spMkLst>
        </pc:spChg>
        <pc:spChg chg="mod">
          <ac:chgData name="Marc Alexander" userId="70df41f1-7007-4f79-96ee-63a10c4e863f" providerId="ADAL" clId="{E7BF4305-F43D-A348-9537-0F861E4272AC}" dt="2025-03-23T20:40:34.870" v="3497" actId="790"/>
          <ac:spMkLst>
            <pc:docMk/>
            <pc:sldMk cId="2530737080" sldId="281"/>
            <ac:spMk id="3" creationId="{398B26F0-AA75-4950-D361-7EBB07A96372}"/>
          </ac:spMkLst>
        </pc:spChg>
      </pc:sldChg>
      <pc:sldChg chg="modSp add mod">
        <pc:chgData name="Marc Alexander" userId="70df41f1-7007-4f79-96ee-63a10c4e863f" providerId="ADAL" clId="{E7BF4305-F43D-A348-9537-0F861E4272AC}" dt="2025-03-23T20:40:34.870" v="3497" actId="790"/>
        <pc:sldMkLst>
          <pc:docMk/>
          <pc:sldMk cId="3209697141" sldId="282"/>
        </pc:sldMkLst>
        <pc:spChg chg="mod">
          <ac:chgData name="Marc Alexander" userId="70df41f1-7007-4f79-96ee-63a10c4e863f" providerId="ADAL" clId="{E7BF4305-F43D-A348-9537-0F861E4272AC}" dt="2025-03-23T20:40:34.870" v="3497" actId="790"/>
          <ac:spMkLst>
            <pc:docMk/>
            <pc:sldMk cId="3209697141" sldId="282"/>
            <ac:spMk id="3" creationId="{68277A0D-E52A-D78E-7E79-7D21A335583F}"/>
          </ac:spMkLst>
        </pc:spChg>
        <pc:spChg chg="mod">
          <ac:chgData name="Marc Alexander" userId="70df41f1-7007-4f79-96ee-63a10c4e863f" providerId="ADAL" clId="{E7BF4305-F43D-A348-9537-0F861E4272AC}" dt="2025-03-23T20:40:34.870" v="3497" actId="790"/>
          <ac:spMkLst>
            <pc:docMk/>
            <pc:sldMk cId="3209697141" sldId="282"/>
            <ac:spMk id="4" creationId="{F9891C2F-4D9F-0F5A-7DE4-848129813108}"/>
          </ac:spMkLst>
        </pc:spChg>
      </pc:sldChg>
      <pc:sldChg chg="modSp add mod">
        <pc:chgData name="Marc Alexander" userId="70df41f1-7007-4f79-96ee-63a10c4e863f" providerId="ADAL" clId="{E7BF4305-F43D-A348-9537-0F861E4272AC}" dt="2025-03-24T18:41:17.287" v="3705" actId="20577"/>
        <pc:sldMkLst>
          <pc:docMk/>
          <pc:sldMk cId="0" sldId="283"/>
        </pc:sldMkLst>
        <pc:spChg chg="mod">
          <ac:chgData name="Marc Alexander" userId="70df41f1-7007-4f79-96ee-63a10c4e863f" providerId="ADAL" clId="{E7BF4305-F43D-A348-9537-0F861E4272AC}" dt="2025-03-23T20:40:34.870" v="3497" actId="790"/>
          <ac:spMkLst>
            <pc:docMk/>
            <pc:sldMk cId="0" sldId="283"/>
            <ac:spMk id="2" creationId="{00000000-0000-0000-0000-000000000000}"/>
          </ac:spMkLst>
        </pc:spChg>
        <pc:spChg chg="mod">
          <ac:chgData name="Marc Alexander" userId="70df41f1-7007-4f79-96ee-63a10c4e863f" providerId="ADAL" clId="{E7BF4305-F43D-A348-9537-0F861E4272AC}" dt="2025-03-23T20:21:17.108" v="1715"/>
          <ac:spMkLst>
            <pc:docMk/>
            <pc:sldMk cId="0" sldId="283"/>
            <ac:spMk id="5" creationId="{00000000-0000-0000-0000-000000000000}"/>
          </ac:spMkLst>
        </pc:spChg>
        <pc:spChg chg="mod">
          <ac:chgData name="Marc Alexander" userId="70df41f1-7007-4f79-96ee-63a10c4e863f" providerId="ADAL" clId="{E7BF4305-F43D-A348-9537-0F861E4272AC}" dt="2025-03-23T20:40:34.870" v="3497" actId="790"/>
          <ac:spMkLst>
            <pc:docMk/>
            <pc:sldMk cId="0" sldId="283"/>
            <ac:spMk id="6" creationId="{00000000-0000-0000-0000-000000000000}"/>
          </ac:spMkLst>
        </pc:spChg>
        <pc:spChg chg="mod">
          <ac:chgData name="Marc Alexander" userId="70df41f1-7007-4f79-96ee-63a10c4e863f" providerId="ADAL" clId="{E7BF4305-F43D-A348-9537-0F861E4272AC}" dt="2025-03-23T20:40:34.870" v="3497" actId="790"/>
          <ac:spMkLst>
            <pc:docMk/>
            <pc:sldMk cId="0" sldId="283"/>
            <ac:spMk id="7" creationId="{00000000-0000-0000-0000-000000000000}"/>
          </ac:spMkLst>
        </pc:spChg>
        <pc:spChg chg="mod">
          <ac:chgData name="Marc Alexander" userId="70df41f1-7007-4f79-96ee-63a10c4e863f" providerId="ADAL" clId="{E7BF4305-F43D-A348-9537-0F861E4272AC}" dt="2025-03-23T20:40:34.870" v="3497" actId="790"/>
          <ac:spMkLst>
            <pc:docMk/>
            <pc:sldMk cId="0" sldId="283"/>
            <ac:spMk id="8" creationId="{00000000-0000-0000-0000-000000000000}"/>
          </ac:spMkLst>
        </pc:spChg>
        <pc:spChg chg="mod">
          <ac:chgData name="Marc Alexander" userId="70df41f1-7007-4f79-96ee-63a10c4e863f" providerId="ADAL" clId="{E7BF4305-F43D-A348-9537-0F861E4272AC}" dt="2025-03-23T20:40:34.870" v="3497" actId="790"/>
          <ac:spMkLst>
            <pc:docMk/>
            <pc:sldMk cId="0" sldId="283"/>
            <ac:spMk id="10" creationId="{00000000-0000-0000-0000-000000000000}"/>
          </ac:spMkLst>
        </pc:spChg>
        <pc:spChg chg="mod">
          <ac:chgData name="Marc Alexander" userId="70df41f1-7007-4f79-96ee-63a10c4e863f" providerId="ADAL" clId="{E7BF4305-F43D-A348-9537-0F861E4272AC}" dt="2025-03-23T20:40:34.870" v="3497" actId="790"/>
          <ac:spMkLst>
            <pc:docMk/>
            <pc:sldMk cId="0" sldId="283"/>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83"/>
            <ac:spMk id="13" creationId="{00000000-0000-0000-0000-000000000000}"/>
          </ac:spMkLst>
        </pc:spChg>
        <pc:spChg chg="mod">
          <ac:chgData name="Marc Alexander" userId="70df41f1-7007-4f79-96ee-63a10c4e863f" providerId="ADAL" clId="{E7BF4305-F43D-A348-9537-0F861E4272AC}" dt="2025-03-23T20:40:34.870" v="3497" actId="790"/>
          <ac:spMkLst>
            <pc:docMk/>
            <pc:sldMk cId="0" sldId="283"/>
            <ac:spMk id="15" creationId="{00000000-0000-0000-0000-000000000000}"/>
          </ac:spMkLst>
        </pc:spChg>
        <pc:spChg chg="mod">
          <ac:chgData name="Marc Alexander" userId="70df41f1-7007-4f79-96ee-63a10c4e863f" providerId="ADAL" clId="{E7BF4305-F43D-A348-9537-0F861E4272AC}" dt="2025-03-23T20:21:10.769" v="1714"/>
          <ac:spMkLst>
            <pc:docMk/>
            <pc:sldMk cId="0" sldId="283"/>
            <ac:spMk id="16" creationId="{00000000-0000-0000-0000-000000000000}"/>
          </ac:spMkLst>
        </pc:spChg>
        <pc:spChg chg="mod">
          <ac:chgData name="Marc Alexander" userId="70df41f1-7007-4f79-96ee-63a10c4e863f" providerId="ADAL" clId="{E7BF4305-F43D-A348-9537-0F861E4272AC}" dt="2025-03-24T18:41:17.287" v="3705" actId="20577"/>
          <ac:spMkLst>
            <pc:docMk/>
            <pc:sldMk cId="0" sldId="283"/>
            <ac:spMk id="17" creationId="{00000000-0000-0000-0000-000000000000}"/>
          </ac:spMkLst>
        </pc:spChg>
        <pc:spChg chg="mod">
          <ac:chgData name="Marc Alexander" userId="70df41f1-7007-4f79-96ee-63a10c4e863f" providerId="ADAL" clId="{E7BF4305-F43D-A348-9537-0F861E4272AC}" dt="2025-03-23T20:40:34.870" v="3497" actId="790"/>
          <ac:spMkLst>
            <pc:docMk/>
            <pc:sldMk cId="0" sldId="283"/>
            <ac:spMk id="18" creationId="{00000000-0000-0000-0000-000000000000}"/>
          </ac:spMkLst>
        </pc:spChg>
      </pc:sldChg>
      <pc:sldChg chg="modSp add mod">
        <pc:chgData name="Marc Alexander" userId="70df41f1-7007-4f79-96ee-63a10c4e863f" providerId="ADAL" clId="{E7BF4305-F43D-A348-9537-0F861E4272AC}" dt="2025-03-23T20:40:34.870" v="3497" actId="790"/>
        <pc:sldMkLst>
          <pc:docMk/>
          <pc:sldMk cId="0" sldId="284"/>
        </pc:sldMkLst>
        <pc:spChg chg="mod">
          <ac:chgData name="Marc Alexander" userId="70df41f1-7007-4f79-96ee-63a10c4e863f" providerId="ADAL" clId="{E7BF4305-F43D-A348-9537-0F861E4272AC}" dt="2025-03-23T20:40:34.870" v="3497" actId="790"/>
          <ac:spMkLst>
            <pc:docMk/>
            <pc:sldMk cId="0" sldId="284"/>
            <ac:spMk id="2"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1"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2"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3"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4"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5"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6"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7"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8" creationId="{00000000-0000-0000-0000-000000000000}"/>
          </ac:spMkLst>
        </pc:spChg>
        <pc:spChg chg="mod">
          <ac:chgData name="Marc Alexander" userId="70df41f1-7007-4f79-96ee-63a10c4e863f" providerId="ADAL" clId="{E7BF4305-F43D-A348-9537-0F861E4272AC}" dt="2025-03-23T20:40:34.870" v="3497" actId="790"/>
          <ac:spMkLst>
            <pc:docMk/>
            <pc:sldMk cId="0" sldId="284"/>
            <ac:spMk id="19" creationId="{00000000-0000-0000-0000-000000000000}"/>
          </ac:spMkLst>
        </pc:spChg>
      </pc:sldChg>
      <pc:sldChg chg="addSp delSp modSp add mod">
        <pc:chgData name="Marc Alexander" userId="70df41f1-7007-4f79-96ee-63a10c4e863f" providerId="ADAL" clId="{E7BF4305-F43D-A348-9537-0F861E4272AC}" dt="2025-03-25T11:45:12.227" v="4372" actId="1076"/>
        <pc:sldMkLst>
          <pc:docMk/>
          <pc:sldMk cId="1563618590" sldId="285"/>
        </pc:sldMkLst>
        <pc:spChg chg="add mod">
          <ac:chgData name="Marc Alexander" userId="70df41f1-7007-4f79-96ee-63a10c4e863f" providerId="ADAL" clId="{E7BF4305-F43D-A348-9537-0F861E4272AC}" dt="2025-03-25T11:45:12.227" v="4372" actId="1076"/>
          <ac:spMkLst>
            <pc:docMk/>
            <pc:sldMk cId="1563618590" sldId="285"/>
            <ac:spMk id="2" creationId="{7EC101E5-FFA8-75ED-C39A-6DAB0C80AD0B}"/>
          </ac:spMkLst>
        </pc:spChg>
        <pc:spChg chg="mod">
          <ac:chgData name="Marc Alexander" userId="70df41f1-7007-4f79-96ee-63a10c4e863f" providerId="ADAL" clId="{E7BF4305-F43D-A348-9537-0F861E4272AC}" dt="2025-03-23T20:40:34.870" v="3497" actId="790"/>
          <ac:spMkLst>
            <pc:docMk/>
            <pc:sldMk cId="1563618590" sldId="285"/>
            <ac:spMk id="3" creationId="{98C967A3-89D7-DB83-D3AE-897D858C2C6E}"/>
          </ac:spMkLst>
        </pc:spChg>
        <pc:spChg chg="del mod">
          <ac:chgData name="Marc Alexander" userId="70df41f1-7007-4f79-96ee-63a10c4e863f" providerId="ADAL" clId="{E7BF4305-F43D-A348-9537-0F861E4272AC}" dt="2025-03-25T11:39:41.402" v="3745" actId="478"/>
          <ac:spMkLst>
            <pc:docMk/>
            <pc:sldMk cId="1563618590" sldId="285"/>
            <ac:spMk id="4" creationId="{EEF1E55F-52ED-730A-493C-477DA237390B}"/>
          </ac:spMkLst>
        </pc:spChg>
        <pc:spChg chg="del mod">
          <ac:chgData name="Marc Alexander" userId="70df41f1-7007-4f79-96ee-63a10c4e863f" providerId="ADAL" clId="{E7BF4305-F43D-A348-9537-0F861E4272AC}" dt="2025-03-25T11:39:41.402" v="3745" actId="478"/>
          <ac:spMkLst>
            <pc:docMk/>
            <pc:sldMk cId="1563618590" sldId="285"/>
            <ac:spMk id="5" creationId="{6397C397-A460-3876-6DA8-866CBB37CCC1}"/>
          </ac:spMkLst>
        </pc:spChg>
        <pc:spChg chg="del mod">
          <ac:chgData name="Marc Alexander" userId="70df41f1-7007-4f79-96ee-63a10c4e863f" providerId="ADAL" clId="{E7BF4305-F43D-A348-9537-0F861E4272AC}" dt="2025-03-25T11:39:41.402" v="3745" actId="478"/>
          <ac:spMkLst>
            <pc:docMk/>
            <pc:sldMk cId="1563618590" sldId="285"/>
            <ac:spMk id="6" creationId="{9B7E82D2-4A88-D0A9-4212-F4EDAF0219E7}"/>
          </ac:spMkLst>
        </pc:spChg>
        <pc:spChg chg="del mod">
          <ac:chgData name="Marc Alexander" userId="70df41f1-7007-4f79-96ee-63a10c4e863f" providerId="ADAL" clId="{E7BF4305-F43D-A348-9537-0F861E4272AC}" dt="2025-03-25T11:39:41.402" v="3745" actId="478"/>
          <ac:spMkLst>
            <pc:docMk/>
            <pc:sldMk cId="1563618590" sldId="285"/>
            <ac:spMk id="7" creationId="{D1551927-C65D-6B90-AAFF-3D957B75F681}"/>
          </ac:spMkLst>
        </pc:spChg>
        <pc:spChg chg="del mod">
          <ac:chgData name="Marc Alexander" userId="70df41f1-7007-4f79-96ee-63a10c4e863f" providerId="ADAL" clId="{E7BF4305-F43D-A348-9537-0F861E4272AC}" dt="2025-03-25T11:39:41.402" v="3745" actId="478"/>
          <ac:spMkLst>
            <pc:docMk/>
            <pc:sldMk cId="1563618590" sldId="285"/>
            <ac:spMk id="8" creationId="{113F75D4-10DD-50C1-A18E-67E25BA00796}"/>
          </ac:spMkLst>
        </pc:spChg>
        <pc:spChg chg="del mod">
          <ac:chgData name="Marc Alexander" userId="70df41f1-7007-4f79-96ee-63a10c4e863f" providerId="ADAL" clId="{E7BF4305-F43D-A348-9537-0F861E4272AC}" dt="2025-03-25T11:39:41.402" v="3745" actId="478"/>
          <ac:spMkLst>
            <pc:docMk/>
            <pc:sldMk cId="1563618590" sldId="285"/>
            <ac:spMk id="9" creationId="{E6A51793-178D-D9C5-5244-96086C40D7AC}"/>
          </ac:spMkLst>
        </pc:spChg>
        <pc:spChg chg="del mod">
          <ac:chgData name="Marc Alexander" userId="70df41f1-7007-4f79-96ee-63a10c4e863f" providerId="ADAL" clId="{E7BF4305-F43D-A348-9537-0F861E4272AC}" dt="2025-03-25T11:39:41.402" v="3745" actId="478"/>
          <ac:spMkLst>
            <pc:docMk/>
            <pc:sldMk cId="1563618590" sldId="285"/>
            <ac:spMk id="10" creationId="{F7FF11B7-52C6-77B1-2779-B242523BC425}"/>
          </ac:spMkLst>
        </pc:spChg>
        <pc:spChg chg="del mod">
          <ac:chgData name="Marc Alexander" userId="70df41f1-7007-4f79-96ee-63a10c4e863f" providerId="ADAL" clId="{E7BF4305-F43D-A348-9537-0F861E4272AC}" dt="2025-03-25T11:39:41.402" v="3745" actId="478"/>
          <ac:spMkLst>
            <pc:docMk/>
            <pc:sldMk cId="1563618590" sldId="285"/>
            <ac:spMk id="18" creationId="{FFB582DD-BCD1-7C85-9F49-821985A7DF22}"/>
          </ac:spMkLst>
        </pc:spChg>
      </pc:sldChg>
    </pc:docChg>
  </pc:docChgLst>
  <pc:docChgLst>
    <pc:chgData name="Andrew Struan" userId="S::andrew.struan@glasgow.ac.uk::e3043fea-6a51-4c47-9924-ea408bc9670b" providerId="AD" clId="Web-{2959D97F-5DD8-DE0E-883C-DA67C3242C88}"/>
    <pc:docChg chg="mod">
      <pc:chgData name="Andrew Struan" userId="S::andrew.struan@glasgow.ac.uk::e3043fea-6a51-4c47-9924-ea408bc9670b" providerId="AD" clId="Web-{2959D97F-5DD8-DE0E-883C-DA67C3242C88}" dt="2025-03-24T09:21:10.006" v="0"/>
      <pc:docMkLst>
        <pc:docMk/>
      </pc:docMkLst>
    </pc:docChg>
  </pc:docChgLst>
  <pc:docChgLst>
    <pc:chgData name="Andrew Struan" userId="e3043fea-6a51-4c47-9924-ea408bc9670b" providerId="ADAL" clId="{CB964BF0-32A8-0146-B4D8-780F6376E8CB}"/>
    <pc:docChg chg="undo custSel addSld delSld modSld sldOrd">
      <pc:chgData name="Andrew Struan" userId="e3043fea-6a51-4c47-9924-ea408bc9670b" providerId="ADAL" clId="{CB964BF0-32A8-0146-B4D8-780F6376E8CB}" dt="2025-03-23T17:22:15.092" v="1331" actId="1076"/>
      <pc:docMkLst>
        <pc:docMk/>
      </pc:docMkLst>
      <pc:sldChg chg="addSp delSp modSp mod ord modCm">
        <pc:chgData name="Andrew Struan" userId="e3043fea-6a51-4c47-9924-ea408bc9670b" providerId="ADAL" clId="{CB964BF0-32A8-0146-B4D8-780F6376E8CB}" dt="2025-03-23T17:05:49.262" v="278" actId="20577"/>
        <pc:sldMkLst>
          <pc:docMk/>
          <pc:sldMk cId="0" sldId="260"/>
        </pc:sldMkLst>
        <pc:spChg chg="mod">
          <ac:chgData name="Andrew Struan" userId="e3043fea-6a51-4c47-9924-ea408bc9670b" providerId="ADAL" clId="{CB964BF0-32A8-0146-B4D8-780F6376E8CB}" dt="2025-03-23T17:00:04.161" v="33" actId="2711"/>
          <ac:spMkLst>
            <pc:docMk/>
            <pc:sldMk cId="0" sldId="260"/>
            <ac:spMk id="2" creationId="{00000000-0000-0000-0000-000000000000}"/>
          </ac:spMkLst>
        </pc:spChg>
        <pc:spChg chg="mod">
          <ac:chgData name="Andrew Struan" userId="e3043fea-6a51-4c47-9924-ea408bc9670b" providerId="ADAL" clId="{CB964BF0-32A8-0146-B4D8-780F6376E8CB}" dt="2025-03-23T17:05:49.262" v="278" actId="20577"/>
          <ac:spMkLst>
            <pc:docMk/>
            <pc:sldMk cId="0" sldId="260"/>
            <ac:spMk id="3" creationId="{00000000-0000-0000-0000-000000000000}"/>
          </ac:spMkLst>
        </pc:spChg>
        <pc:spChg chg="add del mod">
          <ac:chgData name="Andrew Struan" userId="e3043fea-6a51-4c47-9924-ea408bc9670b" providerId="ADAL" clId="{CB964BF0-32A8-0146-B4D8-780F6376E8CB}" dt="2025-03-23T17:01:24.241" v="39"/>
          <ac:spMkLst>
            <pc:docMk/>
            <pc:sldMk cId="0" sldId="260"/>
            <ac:spMk id="4" creationId="{7A71D50D-A85E-7A5B-03A8-5B46F675673F}"/>
          </ac:spMkLst>
        </pc:spChg>
        <pc:spChg chg="add mod">
          <ac:chgData name="Andrew Struan" userId="e3043fea-6a51-4c47-9924-ea408bc9670b" providerId="ADAL" clId="{CB964BF0-32A8-0146-B4D8-780F6376E8CB}" dt="2025-03-23T17:01:47.778" v="74" actId="1076"/>
          <ac:spMkLst>
            <pc:docMk/>
            <pc:sldMk cId="0" sldId="260"/>
            <ac:spMk id="6" creationId="{A89A489A-27D2-12B7-4677-AB8F880AC42E}"/>
          </ac:spMkLst>
        </pc:spChg>
        <pc:extLst>
          <p:ext xmlns:p="http://schemas.openxmlformats.org/presentationml/2006/main" uri="{D6D511B9-2390-475A-947B-AFAB55BFBCF1}">
            <pc226:cmChg xmlns:pc226="http://schemas.microsoft.com/office/powerpoint/2022/06/main/command" chg="mod">
              <pc226:chgData name="Andrew Struan" userId="e3043fea-6a51-4c47-9924-ea408bc9670b" providerId="ADAL" clId="{CB964BF0-32A8-0146-B4D8-780F6376E8CB}" dt="2025-03-23T17:05:49.262" v="278" actId="20577"/>
              <pc2:cmMkLst xmlns:pc2="http://schemas.microsoft.com/office/powerpoint/2019/9/main/command">
                <pc:docMk/>
                <pc:sldMk cId="0" sldId="260"/>
                <pc2:cmMk id="{3A425456-DBE4-4366-BA25-707309DEF972}"/>
              </pc2:cmMkLst>
            </pc226:cmChg>
            <pc226:cmChg xmlns:pc226="http://schemas.microsoft.com/office/powerpoint/2022/06/main/command" chg="mod">
              <pc226:chgData name="Andrew Struan" userId="e3043fea-6a51-4c47-9924-ea408bc9670b" providerId="ADAL" clId="{CB964BF0-32A8-0146-B4D8-780F6376E8CB}" dt="2025-03-23T17:05:49.262" v="278" actId="20577"/>
              <pc2:cmMkLst xmlns:pc2="http://schemas.microsoft.com/office/powerpoint/2019/9/main/command">
                <pc:docMk/>
                <pc:sldMk cId="0" sldId="260"/>
                <pc2:cmMk id="{6C7540A1-7B13-4440-AD29-E642457B12AE}"/>
              </pc2:cmMkLst>
            </pc226:cmChg>
          </p:ext>
        </pc:extLst>
      </pc:sldChg>
      <pc:sldChg chg="addSp delSp modSp add mod">
        <pc:chgData name="Andrew Struan" userId="e3043fea-6a51-4c47-9924-ea408bc9670b" providerId="ADAL" clId="{CB964BF0-32A8-0146-B4D8-780F6376E8CB}" dt="2025-03-23T17:04:45.885" v="265" actId="20577"/>
        <pc:sldMkLst>
          <pc:docMk/>
          <pc:sldMk cId="0" sldId="268"/>
        </pc:sldMkLst>
        <pc:spChg chg="mod">
          <ac:chgData name="Andrew Struan" userId="e3043fea-6a51-4c47-9924-ea408bc9670b" providerId="ADAL" clId="{CB964BF0-32A8-0146-B4D8-780F6376E8CB}" dt="2025-03-23T17:04:19.220" v="179" actId="1076"/>
          <ac:spMkLst>
            <pc:docMk/>
            <pc:sldMk cId="0" sldId="268"/>
            <ac:spMk id="3" creationId="{00000000-0000-0000-0000-000000000000}"/>
          </ac:spMkLst>
        </pc:spChg>
        <pc:spChg chg="mod">
          <ac:chgData name="Andrew Struan" userId="e3043fea-6a51-4c47-9924-ea408bc9670b" providerId="ADAL" clId="{CB964BF0-32A8-0146-B4D8-780F6376E8CB}" dt="2025-03-23T16:59:24.038" v="27" actId="2711"/>
          <ac:spMkLst>
            <pc:docMk/>
            <pc:sldMk cId="0" sldId="268"/>
            <ac:spMk id="4" creationId="{00000000-0000-0000-0000-000000000000}"/>
          </ac:spMkLst>
        </pc:spChg>
        <pc:spChg chg="mod">
          <ac:chgData name="Andrew Struan" userId="e3043fea-6a51-4c47-9924-ea408bc9670b" providerId="ADAL" clId="{CB964BF0-32A8-0146-B4D8-780F6376E8CB}" dt="2025-03-23T16:59:24.038" v="27" actId="2711"/>
          <ac:spMkLst>
            <pc:docMk/>
            <pc:sldMk cId="0" sldId="268"/>
            <ac:spMk id="5" creationId="{00000000-0000-0000-0000-000000000000}"/>
          </ac:spMkLst>
        </pc:spChg>
        <pc:spChg chg="mod">
          <ac:chgData name="Andrew Struan" userId="e3043fea-6a51-4c47-9924-ea408bc9670b" providerId="ADAL" clId="{CB964BF0-32A8-0146-B4D8-780F6376E8CB}" dt="2025-03-23T16:59:24.038" v="27" actId="2711"/>
          <ac:spMkLst>
            <pc:docMk/>
            <pc:sldMk cId="0" sldId="268"/>
            <ac:spMk id="6" creationId="{00000000-0000-0000-0000-000000000000}"/>
          </ac:spMkLst>
        </pc:spChg>
        <pc:spChg chg="mod">
          <ac:chgData name="Andrew Struan" userId="e3043fea-6a51-4c47-9924-ea408bc9670b" providerId="ADAL" clId="{CB964BF0-32A8-0146-B4D8-780F6376E8CB}" dt="2025-03-23T16:59:24.038" v="27" actId="2711"/>
          <ac:spMkLst>
            <pc:docMk/>
            <pc:sldMk cId="0" sldId="268"/>
            <ac:spMk id="7" creationId="{00000000-0000-0000-0000-000000000000}"/>
          </ac:spMkLst>
        </pc:spChg>
        <pc:spChg chg="del mod">
          <ac:chgData name="Andrew Struan" userId="e3043fea-6a51-4c47-9924-ea408bc9670b" providerId="ADAL" clId="{CB964BF0-32A8-0146-B4D8-780F6376E8CB}" dt="2025-03-23T17:03:03.974" v="75" actId="478"/>
          <ac:spMkLst>
            <pc:docMk/>
            <pc:sldMk cId="0" sldId="268"/>
            <ac:spMk id="8" creationId="{00000000-0000-0000-0000-000000000000}"/>
          </ac:spMkLst>
        </pc:spChg>
        <pc:spChg chg="mod">
          <ac:chgData name="Andrew Struan" userId="e3043fea-6a51-4c47-9924-ea408bc9670b" providerId="ADAL" clId="{CB964BF0-32A8-0146-B4D8-780F6376E8CB}" dt="2025-03-23T17:04:36.680" v="231" actId="20577"/>
          <ac:spMkLst>
            <pc:docMk/>
            <pc:sldMk cId="0" sldId="268"/>
            <ac:spMk id="9" creationId="{00000000-0000-0000-0000-000000000000}"/>
          </ac:spMkLst>
        </pc:spChg>
        <pc:spChg chg="add mod">
          <ac:chgData name="Andrew Struan" userId="e3043fea-6a51-4c47-9924-ea408bc9670b" providerId="ADAL" clId="{CB964BF0-32A8-0146-B4D8-780F6376E8CB}" dt="2025-03-23T17:03:57.749" v="178" actId="1076"/>
          <ac:spMkLst>
            <pc:docMk/>
            <pc:sldMk cId="0" sldId="268"/>
            <ac:spMk id="10" creationId="{475B8D93-863B-C98F-11EB-B95504F3F6B8}"/>
          </ac:spMkLst>
        </pc:spChg>
        <pc:spChg chg="add del mod">
          <ac:chgData name="Andrew Struan" userId="e3043fea-6a51-4c47-9924-ea408bc9670b" providerId="ADAL" clId="{CB964BF0-32A8-0146-B4D8-780F6376E8CB}" dt="2025-03-23T17:04:37.251" v="233"/>
          <ac:spMkLst>
            <pc:docMk/>
            <pc:sldMk cId="0" sldId="268"/>
            <ac:spMk id="11" creationId="{E62CE025-7C02-1885-DE00-C70B0300F7AC}"/>
          </ac:spMkLst>
        </pc:spChg>
        <pc:spChg chg="add mod">
          <ac:chgData name="Andrew Struan" userId="e3043fea-6a51-4c47-9924-ea408bc9670b" providerId="ADAL" clId="{CB964BF0-32A8-0146-B4D8-780F6376E8CB}" dt="2025-03-23T17:04:45.885" v="265" actId="20577"/>
          <ac:spMkLst>
            <pc:docMk/>
            <pc:sldMk cId="0" sldId="268"/>
            <ac:spMk id="12" creationId="{2C1ADEFE-F829-590A-877F-96FE4124CD6A}"/>
          </ac:spMkLst>
        </pc:spChg>
      </pc:sldChg>
      <pc:sldChg chg="modSp add mod">
        <pc:chgData name="Andrew Struan" userId="e3043fea-6a51-4c47-9924-ea408bc9670b" providerId="ADAL" clId="{CB964BF0-32A8-0146-B4D8-780F6376E8CB}" dt="2025-03-23T16:59:36.603" v="29" actId="2711"/>
        <pc:sldMkLst>
          <pc:docMk/>
          <pc:sldMk cId="0" sldId="269"/>
        </pc:sldMkLst>
        <pc:spChg chg="mod">
          <ac:chgData name="Andrew Struan" userId="e3043fea-6a51-4c47-9924-ea408bc9670b" providerId="ADAL" clId="{CB964BF0-32A8-0146-B4D8-780F6376E8CB}" dt="2025-03-23T16:59:36.603" v="29" actId="2711"/>
          <ac:spMkLst>
            <pc:docMk/>
            <pc:sldMk cId="0" sldId="269"/>
            <ac:spMk id="2"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4"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5"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6"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7"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8"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9"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10"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11" creationId="{00000000-0000-0000-0000-000000000000}"/>
          </ac:spMkLst>
        </pc:spChg>
        <pc:spChg chg="mod">
          <ac:chgData name="Andrew Struan" userId="e3043fea-6a51-4c47-9924-ea408bc9670b" providerId="ADAL" clId="{CB964BF0-32A8-0146-B4D8-780F6376E8CB}" dt="2025-03-23T16:59:36.603" v="29" actId="2711"/>
          <ac:spMkLst>
            <pc:docMk/>
            <pc:sldMk cId="0" sldId="269"/>
            <ac:spMk id="13" creationId="{00000000-0000-0000-0000-000000000000}"/>
          </ac:spMkLst>
        </pc:spChg>
      </pc:sldChg>
      <pc:sldChg chg="modSp add mod">
        <pc:chgData name="Andrew Struan" userId="e3043fea-6a51-4c47-9924-ea408bc9670b" providerId="ADAL" clId="{CB964BF0-32A8-0146-B4D8-780F6376E8CB}" dt="2025-03-23T16:59:43.452" v="30" actId="2711"/>
        <pc:sldMkLst>
          <pc:docMk/>
          <pc:sldMk cId="0" sldId="270"/>
        </pc:sldMkLst>
        <pc:spChg chg="mod">
          <ac:chgData name="Andrew Struan" userId="e3043fea-6a51-4c47-9924-ea408bc9670b" providerId="ADAL" clId="{CB964BF0-32A8-0146-B4D8-780F6376E8CB}" dt="2025-03-23T16:59:43.452" v="30" actId="2711"/>
          <ac:spMkLst>
            <pc:docMk/>
            <pc:sldMk cId="0" sldId="270"/>
            <ac:spMk id="2"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3"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4"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7"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8"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11"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12"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16"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19" creationId="{00000000-0000-0000-0000-000000000000}"/>
          </ac:spMkLst>
        </pc:spChg>
        <pc:spChg chg="mod">
          <ac:chgData name="Andrew Struan" userId="e3043fea-6a51-4c47-9924-ea408bc9670b" providerId="ADAL" clId="{CB964BF0-32A8-0146-B4D8-780F6376E8CB}" dt="2025-03-23T16:59:43.452" v="30" actId="2711"/>
          <ac:spMkLst>
            <pc:docMk/>
            <pc:sldMk cId="0" sldId="270"/>
            <ac:spMk id="20" creationId="{00000000-0000-0000-0000-000000000000}"/>
          </ac:spMkLst>
        </pc:spChg>
      </pc:sldChg>
      <pc:sldChg chg="modSp add mod">
        <pc:chgData name="Andrew Struan" userId="e3043fea-6a51-4c47-9924-ea408bc9670b" providerId="ADAL" clId="{CB964BF0-32A8-0146-B4D8-780F6376E8CB}" dt="2025-03-23T16:59:50.445" v="31" actId="2711"/>
        <pc:sldMkLst>
          <pc:docMk/>
          <pc:sldMk cId="0" sldId="271"/>
        </pc:sldMkLst>
        <pc:spChg chg="mod">
          <ac:chgData name="Andrew Struan" userId="e3043fea-6a51-4c47-9924-ea408bc9670b" providerId="ADAL" clId="{CB964BF0-32A8-0146-B4D8-780F6376E8CB}" dt="2025-03-23T16:59:50.445" v="31" actId="2711"/>
          <ac:spMkLst>
            <pc:docMk/>
            <pc:sldMk cId="0" sldId="271"/>
            <ac:spMk id="3"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5"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6"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8"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9"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11"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12"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14"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15" creationId="{00000000-0000-0000-0000-000000000000}"/>
          </ac:spMkLst>
        </pc:spChg>
        <pc:spChg chg="mod">
          <ac:chgData name="Andrew Struan" userId="e3043fea-6a51-4c47-9924-ea408bc9670b" providerId="ADAL" clId="{CB964BF0-32A8-0146-B4D8-780F6376E8CB}" dt="2025-03-23T16:59:50.445" v="31" actId="2711"/>
          <ac:spMkLst>
            <pc:docMk/>
            <pc:sldMk cId="0" sldId="271"/>
            <ac:spMk id="16" creationId="{00000000-0000-0000-0000-000000000000}"/>
          </ac:spMkLst>
        </pc:spChg>
      </pc:sldChg>
      <pc:sldChg chg="modSp add mod">
        <pc:chgData name="Andrew Struan" userId="e3043fea-6a51-4c47-9924-ea408bc9670b" providerId="ADAL" clId="{CB964BF0-32A8-0146-B4D8-780F6376E8CB}" dt="2025-03-23T16:59:57.058" v="32" actId="2711"/>
        <pc:sldMkLst>
          <pc:docMk/>
          <pc:sldMk cId="0" sldId="272"/>
        </pc:sldMkLst>
        <pc:spChg chg="mod">
          <ac:chgData name="Andrew Struan" userId="e3043fea-6a51-4c47-9924-ea408bc9670b" providerId="ADAL" clId="{CB964BF0-32A8-0146-B4D8-780F6376E8CB}" dt="2025-03-23T16:59:57.058" v="32" actId="2711"/>
          <ac:spMkLst>
            <pc:docMk/>
            <pc:sldMk cId="0" sldId="272"/>
            <ac:spMk id="5"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6"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7"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10"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12"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15"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16"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17"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18" creationId="{00000000-0000-0000-0000-000000000000}"/>
          </ac:spMkLst>
        </pc:spChg>
        <pc:spChg chg="mod">
          <ac:chgData name="Andrew Struan" userId="e3043fea-6a51-4c47-9924-ea408bc9670b" providerId="ADAL" clId="{CB964BF0-32A8-0146-B4D8-780F6376E8CB}" dt="2025-03-23T16:59:57.058" v="32" actId="2711"/>
          <ac:spMkLst>
            <pc:docMk/>
            <pc:sldMk cId="0" sldId="272"/>
            <ac:spMk id="19" creationId="{00000000-0000-0000-0000-000000000000}"/>
          </ac:spMkLst>
        </pc:spChg>
      </pc:sldChg>
      <pc:sldChg chg="add">
        <pc:chgData name="Andrew Struan" userId="e3043fea-6a51-4c47-9924-ea408bc9670b" providerId="ADAL" clId="{CB964BF0-32A8-0146-B4D8-780F6376E8CB}" dt="2025-03-23T16:55:03.458" v="0"/>
        <pc:sldMkLst>
          <pc:docMk/>
          <pc:sldMk cId="0" sldId="274"/>
        </pc:sldMkLst>
      </pc:sldChg>
      <pc:sldChg chg="addSp modSp add mod">
        <pc:chgData name="Andrew Struan" userId="e3043fea-6a51-4c47-9924-ea408bc9670b" providerId="ADAL" clId="{CB964BF0-32A8-0146-B4D8-780F6376E8CB}" dt="2025-03-23T17:22:15.092" v="1331" actId="1076"/>
        <pc:sldMkLst>
          <pc:docMk/>
          <pc:sldMk cId="0" sldId="277"/>
        </pc:sldMkLst>
        <pc:spChg chg="add mod">
          <ac:chgData name="Andrew Struan" userId="e3043fea-6a51-4c47-9924-ea408bc9670b" providerId="ADAL" clId="{CB964BF0-32A8-0146-B4D8-780F6376E8CB}" dt="2025-03-23T17:22:15.092" v="1331" actId="1076"/>
          <ac:spMkLst>
            <pc:docMk/>
            <pc:sldMk cId="0" sldId="277"/>
            <ac:spMk id="16" creationId="{25DC2BBF-0B46-BB1E-11A4-9B40E8F1B59A}"/>
          </ac:spMkLst>
        </pc:spChg>
      </pc:sldChg>
      <pc:sldChg chg="addSp delSp modSp add mod">
        <pc:chgData name="Andrew Struan" userId="e3043fea-6a51-4c47-9924-ea408bc9670b" providerId="ADAL" clId="{CB964BF0-32A8-0146-B4D8-780F6376E8CB}" dt="2025-03-23T17:18:01.392" v="816" actId="20577"/>
        <pc:sldMkLst>
          <pc:docMk/>
          <pc:sldMk cId="0" sldId="278"/>
        </pc:sldMkLst>
        <pc:spChg chg="mod">
          <ac:chgData name="Andrew Struan" userId="e3043fea-6a51-4c47-9924-ea408bc9670b" providerId="ADAL" clId="{CB964BF0-32A8-0146-B4D8-780F6376E8CB}" dt="2025-03-23T17:11:29.344" v="456" actId="1076"/>
          <ac:spMkLst>
            <pc:docMk/>
            <pc:sldMk cId="0" sldId="278"/>
            <ac:spMk id="3" creationId="{00000000-0000-0000-0000-000000000000}"/>
          </ac:spMkLst>
        </pc:spChg>
        <pc:spChg chg="mod">
          <ac:chgData name="Andrew Struan" userId="e3043fea-6a51-4c47-9924-ea408bc9670b" providerId="ADAL" clId="{CB964BF0-32A8-0146-B4D8-780F6376E8CB}" dt="2025-03-23T17:12:02.685" v="461" actId="14100"/>
          <ac:spMkLst>
            <pc:docMk/>
            <pc:sldMk cId="0" sldId="278"/>
            <ac:spMk id="4" creationId="{00000000-0000-0000-0000-000000000000}"/>
          </ac:spMkLst>
        </pc:spChg>
        <pc:spChg chg="mod">
          <ac:chgData name="Andrew Struan" userId="e3043fea-6a51-4c47-9924-ea408bc9670b" providerId="ADAL" clId="{CB964BF0-32A8-0146-B4D8-780F6376E8CB}" dt="2025-03-23T17:11:39.381" v="457" actId="1076"/>
          <ac:spMkLst>
            <pc:docMk/>
            <pc:sldMk cId="0" sldId="278"/>
            <ac:spMk id="5" creationId="{00000000-0000-0000-0000-000000000000}"/>
          </ac:spMkLst>
        </pc:spChg>
        <pc:spChg chg="mod">
          <ac:chgData name="Andrew Struan" userId="e3043fea-6a51-4c47-9924-ea408bc9670b" providerId="ADAL" clId="{CB964BF0-32A8-0146-B4D8-780F6376E8CB}" dt="2025-03-23T17:12:12.096" v="463" actId="20577"/>
          <ac:spMkLst>
            <pc:docMk/>
            <pc:sldMk cId="0" sldId="278"/>
            <ac:spMk id="6" creationId="{00000000-0000-0000-0000-000000000000}"/>
          </ac:spMkLst>
        </pc:spChg>
        <pc:spChg chg="mod">
          <ac:chgData name="Andrew Struan" userId="e3043fea-6a51-4c47-9924-ea408bc9670b" providerId="ADAL" clId="{CB964BF0-32A8-0146-B4D8-780F6376E8CB}" dt="2025-03-23T17:15:49.355" v="624" actId="1076"/>
          <ac:spMkLst>
            <pc:docMk/>
            <pc:sldMk cId="0" sldId="278"/>
            <ac:spMk id="7" creationId="{00000000-0000-0000-0000-000000000000}"/>
          </ac:spMkLst>
        </pc:spChg>
        <pc:spChg chg="mod">
          <ac:chgData name="Andrew Struan" userId="e3043fea-6a51-4c47-9924-ea408bc9670b" providerId="ADAL" clId="{CB964BF0-32A8-0146-B4D8-780F6376E8CB}" dt="2025-03-23T17:15:54.352" v="626" actId="1076"/>
          <ac:spMkLst>
            <pc:docMk/>
            <pc:sldMk cId="0" sldId="278"/>
            <ac:spMk id="8" creationId="{00000000-0000-0000-0000-000000000000}"/>
          </ac:spMkLst>
        </pc:spChg>
        <pc:spChg chg="mod">
          <ac:chgData name="Andrew Struan" userId="e3043fea-6a51-4c47-9924-ea408bc9670b" providerId="ADAL" clId="{CB964BF0-32A8-0146-B4D8-780F6376E8CB}" dt="2025-03-23T17:15:57.441" v="627" actId="1076"/>
          <ac:spMkLst>
            <pc:docMk/>
            <pc:sldMk cId="0" sldId="278"/>
            <ac:spMk id="9" creationId="{00000000-0000-0000-0000-000000000000}"/>
          </ac:spMkLst>
        </pc:spChg>
        <pc:spChg chg="mod">
          <ac:chgData name="Andrew Struan" userId="e3043fea-6a51-4c47-9924-ea408bc9670b" providerId="ADAL" clId="{CB964BF0-32A8-0146-B4D8-780F6376E8CB}" dt="2025-03-23T17:16:14.815" v="628" actId="1076"/>
          <ac:spMkLst>
            <pc:docMk/>
            <pc:sldMk cId="0" sldId="278"/>
            <ac:spMk id="10" creationId="{00000000-0000-0000-0000-000000000000}"/>
          </ac:spMkLst>
        </pc:spChg>
        <pc:spChg chg="del mod">
          <ac:chgData name="Andrew Struan" userId="e3043fea-6a51-4c47-9924-ea408bc9670b" providerId="ADAL" clId="{CB964BF0-32A8-0146-B4D8-780F6376E8CB}" dt="2025-03-23T17:10:20.723" v="445" actId="478"/>
          <ac:spMkLst>
            <pc:docMk/>
            <pc:sldMk cId="0" sldId="278"/>
            <ac:spMk id="11" creationId="{00000000-0000-0000-0000-000000000000}"/>
          </ac:spMkLst>
        </pc:spChg>
        <pc:spChg chg="del mod">
          <ac:chgData name="Andrew Struan" userId="e3043fea-6a51-4c47-9924-ea408bc9670b" providerId="ADAL" clId="{CB964BF0-32A8-0146-B4D8-780F6376E8CB}" dt="2025-03-23T17:14:07.142" v="481" actId="478"/>
          <ac:spMkLst>
            <pc:docMk/>
            <pc:sldMk cId="0" sldId="278"/>
            <ac:spMk id="12" creationId="{00000000-0000-0000-0000-000000000000}"/>
          </ac:spMkLst>
        </pc:spChg>
        <pc:spChg chg="del mod">
          <ac:chgData name="Andrew Struan" userId="e3043fea-6a51-4c47-9924-ea408bc9670b" providerId="ADAL" clId="{CB964BF0-32A8-0146-B4D8-780F6376E8CB}" dt="2025-03-23T17:10:11.466" v="444" actId="478"/>
          <ac:spMkLst>
            <pc:docMk/>
            <pc:sldMk cId="0" sldId="278"/>
            <ac:spMk id="13" creationId="{00000000-0000-0000-0000-000000000000}"/>
          </ac:spMkLst>
        </pc:spChg>
        <pc:spChg chg="del mod">
          <ac:chgData name="Andrew Struan" userId="e3043fea-6a51-4c47-9924-ea408bc9670b" providerId="ADAL" clId="{CB964BF0-32A8-0146-B4D8-780F6376E8CB}" dt="2025-03-23T17:15:42.299" v="622" actId="478"/>
          <ac:spMkLst>
            <pc:docMk/>
            <pc:sldMk cId="0" sldId="278"/>
            <ac:spMk id="14" creationId="{00000000-0000-0000-0000-000000000000}"/>
          </ac:spMkLst>
        </pc:spChg>
        <pc:spChg chg="del mod">
          <ac:chgData name="Andrew Struan" userId="e3043fea-6a51-4c47-9924-ea408bc9670b" providerId="ADAL" clId="{CB964BF0-32A8-0146-B4D8-780F6376E8CB}" dt="2025-03-23T17:15:43.950" v="623" actId="478"/>
          <ac:spMkLst>
            <pc:docMk/>
            <pc:sldMk cId="0" sldId="278"/>
            <ac:spMk id="15" creationId="{00000000-0000-0000-0000-000000000000}"/>
          </ac:spMkLst>
        </pc:spChg>
        <pc:spChg chg="add del mod">
          <ac:chgData name="Andrew Struan" userId="e3043fea-6a51-4c47-9924-ea408bc9670b" providerId="ADAL" clId="{CB964BF0-32A8-0146-B4D8-780F6376E8CB}" dt="2025-03-23T17:09:46.070" v="438"/>
          <ac:spMkLst>
            <pc:docMk/>
            <pc:sldMk cId="0" sldId="278"/>
            <ac:spMk id="17" creationId="{04FEFC2A-CCF9-1638-FF83-AB8354DD3560}"/>
          </ac:spMkLst>
        </pc:spChg>
        <pc:spChg chg="add mod">
          <ac:chgData name="Andrew Struan" userId="e3043fea-6a51-4c47-9924-ea408bc9670b" providerId="ADAL" clId="{CB964BF0-32A8-0146-B4D8-780F6376E8CB}" dt="2025-03-23T17:18:01.392" v="816" actId="20577"/>
          <ac:spMkLst>
            <pc:docMk/>
            <pc:sldMk cId="0" sldId="278"/>
            <ac:spMk id="18" creationId="{962730D9-F909-0264-6288-A39373C42CC8}"/>
          </ac:spMkLst>
        </pc:spChg>
        <pc:picChg chg="del">
          <ac:chgData name="Andrew Struan" userId="e3043fea-6a51-4c47-9924-ea408bc9670b" providerId="ADAL" clId="{CB964BF0-32A8-0146-B4D8-780F6376E8CB}" dt="2025-03-23T17:11:18.198" v="452" actId="478"/>
          <ac:picMkLst>
            <pc:docMk/>
            <pc:sldMk cId="0" sldId="278"/>
            <ac:picMk id="2" creationId="{00000000-0000-0000-0000-000000000000}"/>
          </ac:picMkLst>
        </pc:picChg>
      </pc:sldChg>
      <pc:sldChg chg="modSp add mod">
        <pc:chgData name="Andrew Struan" userId="e3043fea-6a51-4c47-9924-ea408bc9670b" providerId="ADAL" clId="{CB964BF0-32A8-0146-B4D8-780F6376E8CB}" dt="2025-03-23T17:20:49.872" v="1226" actId="113"/>
        <pc:sldMkLst>
          <pc:docMk/>
          <pc:sldMk cId="0" sldId="280"/>
        </pc:sldMkLst>
        <pc:spChg chg="mod">
          <ac:chgData name="Andrew Struan" userId="e3043fea-6a51-4c47-9924-ea408bc9670b" providerId="ADAL" clId="{CB964BF0-32A8-0146-B4D8-780F6376E8CB}" dt="2025-03-23T17:20:15.752" v="1191" actId="20577"/>
          <ac:spMkLst>
            <pc:docMk/>
            <pc:sldMk cId="0" sldId="280"/>
            <ac:spMk id="5" creationId="{00000000-0000-0000-0000-000000000000}"/>
          </ac:spMkLst>
        </pc:spChg>
        <pc:spChg chg="mod">
          <ac:chgData name="Andrew Struan" userId="e3043fea-6a51-4c47-9924-ea408bc9670b" providerId="ADAL" clId="{CB964BF0-32A8-0146-B4D8-780F6376E8CB}" dt="2025-03-23T17:20:09.506" v="1190" actId="113"/>
          <ac:spMkLst>
            <pc:docMk/>
            <pc:sldMk cId="0" sldId="280"/>
            <ac:spMk id="8" creationId="{00000000-0000-0000-0000-000000000000}"/>
          </ac:spMkLst>
        </pc:spChg>
        <pc:spChg chg="mod">
          <ac:chgData name="Andrew Struan" userId="e3043fea-6a51-4c47-9924-ea408bc9670b" providerId="ADAL" clId="{CB964BF0-32A8-0146-B4D8-780F6376E8CB}" dt="2025-03-23T17:20:33.021" v="1204" actId="20577"/>
          <ac:spMkLst>
            <pc:docMk/>
            <pc:sldMk cId="0" sldId="280"/>
            <ac:spMk id="11" creationId="{00000000-0000-0000-0000-000000000000}"/>
          </ac:spMkLst>
        </pc:spChg>
        <pc:spChg chg="mod">
          <ac:chgData name="Andrew Struan" userId="e3043fea-6a51-4c47-9924-ea408bc9670b" providerId="ADAL" clId="{CB964BF0-32A8-0146-B4D8-780F6376E8CB}" dt="2025-03-23T17:20:42.895" v="1225" actId="20577"/>
          <ac:spMkLst>
            <pc:docMk/>
            <pc:sldMk cId="0" sldId="280"/>
            <ac:spMk id="14" creationId="{00000000-0000-0000-0000-000000000000}"/>
          </ac:spMkLst>
        </pc:spChg>
        <pc:spChg chg="mod">
          <ac:chgData name="Andrew Struan" userId="e3043fea-6a51-4c47-9924-ea408bc9670b" providerId="ADAL" clId="{CB964BF0-32A8-0146-B4D8-780F6376E8CB}" dt="2025-03-23T17:20:49.872" v="1226" actId="113"/>
          <ac:spMkLst>
            <pc:docMk/>
            <pc:sldMk cId="0" sldId="280"/>
            <ac:spMk id="17" creationId="{00000000-0000-0000-0000-000000000000}"/>
          </ac:spMkLst>
        </pc:spChg>
      </pc:sldChg>
      <pc:sldChg chg="add">
        <pc:chgData name="Andrew Struan" userId="e3043fea-6a51-4c47-9924-ea408bc9670b" providerId="ADAL" clId="{CB964BF0-32A8-0146-B4D8-780F6376E8CB}" dt="2025-03-23T16:58:34.045" v="2" actId="2890"/>
        <pc:sldMkLst>
          <pc:docMk/>
          <pc:sldMk cId="2530737080" sldId="281"/>
        </pc:sldMkLst>
      </pc:sldChg>
      <pc:sldChg chg="new del">
        <pc:chgData name="Andrew Struan" userId="e3043fea-6a51-4c47-9924-ea408bc9670b" providerId="ADAL" clId="{CB964BF0-32A8-0146-B4D8-780F6376E8CB}" dt="2025-03-23T17:18:07.302" v="817" actId="2696"/>
        <pc:sldMkLst>
          <pc:docMk/>
          <pc:sldMk cId="909884059" sldId="282"/>
        </pc:sldMkLst>
      </pc:sldChg>
    </pc:docChg>
  </pc:docChgLst>
  <pc:docChgLst>
    <pc:chgData name="Ruth Cole" userId="78a7e813-80b8-4a3c-bd1e-44c2edf11343" providerId="ADAL" clId="{F1D948B8-FF24-46A1-88D0-8C715598174E}"/>
    <pc:docChg chg="modSld">
      <pc:chgData name="Ruth Cole" userId="78a7e813-80b8-4a3c-bd1e-44c2edf11343" providerId="ADAL" clId="{F1D948B8-FF24-46A1-88D0-8C715598174E}" dt="2025-03-21T07:02:50.373" v="7" actId="20577"/>
      <pc:docMkLst>
        <pc:docMk/>
      </pc:docMkLst>
      <pc:sldChg chg="modSp mod">
        <pc:chgData name="Ruth Cole" userId="78a7e813-80b8-4a3c-bd1e-44c2edf11343" providerId="ADAL" clId="{F1D948B8-FF24-46A1-88D0-8C715598174E}" dt="2025-03-21T07:02:50.373" v="7" actId="20577"/>
        <pc:sldMkLst>
          <pc:docMk/>
          <pc:sldMk cId="0" sldId="258"/>
        </pc:sldMkLst>
        <pc:spChg chg="mod">
          <ac:chgData name="Ruth Cole" userId="78a7e813-80b8-4a3c-bd1e-44c2edf11343" providerId="ADAL" clId="{F1D948B8-FF24-46A1-88D0-8C715598174E}" dt="2025-03-21T07:02:50.373" v="7" actId="20577"/>
          <ac:spMkLst>
            <pc:docMk/>
            <pc:sldMk cId="0" sldId="258"/>
            <ac:spMk id="14" creationId="{00000000-0000-0000-0000-000000000000}"/>
          </ac:spMkLst>
        </pc:spChg>
      </pc:sldChg>
    </pc:docChg>
  </pc:docChgLst>
</pc:chgInfo>
</file>

<file path=ppt/comments/modernComment_101_0.xml><?xml version="1.0" encoding="utf-8"?>
<p188:cmLst xmlns:a="http://schemas.openxmlformats.org/drawingml/2006/main" xmlns:r="http://schemas.openxmlformats.org/officeDocument/2006/relationships" xmlns:p188="http://schemas.microsoft.com/office/powerpoint/2018/8/main">
  <p188:cm id="{91475F87-09EA-48F5-BAB9-813970187674}" authorId="{077FFBE1-D9C7-660F-2388-2213C2765234}" status="resolved" created="2025-03-21T07:00:40.503" complete="100000">
    <pc:sldMkLst xmlns:pc="http://schemas.microsoft.com/office/powerpoint/2013/main/command">
      <pc:docMk/>
      <pc:sldMk cId="0" sldId="257"/>
    </pc:sldMkLst>
    <p188:txBody>
      <a:bodyPr/>
      <a:lstStyle/>
      <a:p>
        <a:r>
          <a:rPr lang="en-GB"/>
          <a:t>Worth stating that marking schedules must allow for this (as well as the marking being completed on time)?</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83A60369-E506-4DB0-909A-2E74F5613726}" authorId="{077FFBE1-D9C7-660F-2388-2213C2765234}" status="resolved" created="2025-03-21T07:01:16.627" complete="100000">
    <ac:txMkLst xmlns:ac="http://schemas.microsoft.com/office/drawing/2013/main/command">
      <pc:docMk xmlns:pc="http://schemas.microsoft.com/office/powerpoint/2013/main/command"/>
      <pc:sldMk xmlns:pc="http://schemas.microsoft.com/office/powerpoint/2013/main/command" cId="0" sldId="258"/>
      <ac:spMk id="4" creationId="{00000000-0000-0000-0000-000000000000}"/>
      <ac:txMk cp="0" len="1">
        <ac:context len="23" hash="2558748940"/>
      </ac:txMk>
    </ac:txMkLst>
    <p188:pos x="1514118" y="272177"/>
    <p188:txBody>
      <a:bodyPr/>
      <a:lstStyle/>
      <a:p>
        <a:r>
          <a:rPr lang="en-GB"/>
          <a:t>‘Assessment’? GES definitely have exams too.</a:t>
        </a:r>
      </a:p>
    </p188:txBody>
  </p188:cm>
  <p188:cm id="{81D19388-3FD6-4061-AC93-9DD13D9BB15A}" authorId="{077FFBE1-D9C7-660F-2388-2213C2765234}" status="resolved" created="2025-03-21T07:01:47.924" complete="100000">
    <ac:txMkLst xmlns:ac="http://schemas.microsoft.com/office/drawing/2013/main/command">
      <pc:docMk xmlns:pc="http://schemas.microsoft.com/office/powerpoint/2013/main/command"/>
      <pc:sldMk xmlns:pc="http://schemas.microsoft.com/office/powerpoint/2013/main/command" cId="0" sldId="258"/>
      <ac:spMk id="8" creationId="{00000000-0000-0000-0000-000000000000}"/>
      <ac:txMk cp="80" len="6">
        <ac:context len="189" hash="1138964904"/>
      </ac:txMk>
    </ac:txMkLst>
    <p188:pos x="8143518" y="271224"/>
    <p188:txBody>
      <a:bodyPr/>
      <a:lstStyle/>
      <a:p>
        <a:r>
          <a:rPr lang="en-GB"/>
          <a:t>And/or MyGrades? Not sure if they will be using that now.</a:t>
        </a:r>
      </a:p>
    </p188:txBody>
  </p188:cm>
  <p188:cm id="{AE026430-4C89-4E1D-9354-E98033270012}" authorId="{077FFBE1-D9C7-660F-2388-2213C2765234}" created="2025-03-21T07:03:02.857">
    <ac:txMkLst xmlns:ac="http://schemas.microsoft.com/office/drawing/2013/main/command">
      <pc:docMk xmlns:pc="http://schemas.microsoft.com/office/powerpoint/2013/main/command"/>
      <pc:sldMk xmlns:pc="http://schemas.microsoft.com/office/powerpoint/2013/main/command" cId="0" sldId="258"/>
      <ac:spMk id="14" creationId="{00000000-0000-0000-0000-000000000000}"/>
      <ac:txMk cp="98" len="2">
        <ac:context len="232" hash="2114899271"/>
      </ac:txMk>
    </ac:txMkLst>
    <p188:pos x="9035058" y="271701"/>
    <p188:replyLst>
      <p188:reply id="{155FBCDB-E43E-9A40-9484-55BF0060D33D}" authorId="{8D372A8D-4379-364D-D27D-D81C9E67E8C9}" created="2025-03-21T14:41:39.043">
        <p188:txBody>
          <a:bodyPr/>
          <a:lstStyle/>
          <a:p>
            <a:r>
              <a:rPr lang="en-GB"/>
              <a:t>I think course outcomes can include CW outwith MyGrades?</a:t>
            </a:r>
          </a:p>
        </p188:txBody>
      </p188:reply>
      <p188:reply id="{DB2D70AF-AA55-404D-B9AB-1375F5BC8E48}" authorId="{077FFBE1-D9C7-660F-2388-2213C2765234}" created="2025-03-21T14:55:18.632">
        <p188:txBody>
          <a:bodyPr/>
          <a:lstStyle/>
          <a:p>
            <a:r>
              <a:rPr lang="en-GB"/>
              <a:t>Sorry - not sure how I managed this but I meant to highlight the NS earlier in the sentence not the CW!</a:t>
            </a:r>
          </a:p>
        </p188:txBody>
      </p188:reply>
      <p188:reply id="{7ECA6BB1-391F-9540-A3BE-EB6DA58DB135}" authorId="{8D372A8D-4379-364D-D27D-D81C9E67E8C9}" created="2025-03-23T20:42:49.050">
        <p188:txBody>
          <a:bodyPr/>
          <a:lstStyle/>
          <a:p>
            <a:r>
              <a:rPr lang="en-GB"/>
              <a:t>Oh yes! But NS is a grade used across the university, but not universally, to indicate non-submissions long before MyGrades etc, it was that existing practice that MyGrades/GCAT borrowed</a:t>
            </a:r>
          </a:p>
        </p188:txBody>
      </p188:reply>
    </p188:replyLst>
    <p188:txBody>
      <a:bodyPr/>
      <a:lstStyle/>
      <a:p>
        <a:r>
          <a:rPr lang="en-GB"/>
          <a:t>Only if they’re using MyGrades? </a:t>
        </a:r>
      </a:p>
    </p188:txBody>
  </p188:cm>
  <p188:cm id="{5DD135DC-7DB2-40DC-8362-7A3FC0EE59B2}" authorId="{077FFBE1-D9C7-660F-2388-2213C2765234}" status="resolved" created="2025-03-21T07:03:58.317" complete="100000">
    <ac:txMkLst xmlns:ac="http://schemas.microsoft.com/office/drawing/2013/main/command">
      <pc:docMk xmlns:pc="http://schemas.microsoft.com/office/powerpoint/2013/main/command"/>
      <pc:sldMk xmlns:pc="http://schemas.microsoft.com/office/powerpoint/2013/main/command" cId="0" sldId="258"/>
      <ac:spMk id="14" creationId="{00000000-0000-0000-0000-000000000000}"/>
      <ac:txMk cp="98" len="2">
        <ac:context len="232" hash="2114899271"/>
      </ac:txMk>
    </ac:txMkLst>
    <p188:pos x="9035058" y="271701"/>
    <p188:replyLst>
      <p188:reply id="{9CEF0F4D-D254-0E44-83BC-ACCF57CF8D93}" authorId="{8D372A8D-4379-364D-D27D-D81C9E67E8C9}" created="2025-03-21T14:41:54.916">
        <p188:txBody>
          <a:bodyPr/>
          <a:lstStyle/>
          <a:p>
            <a:r>
              <a:rPr lang="en-GB"/>
              <a:t>I’m not delighted with even mentioning it as an option, but yes!</a:t>
            </a:r>
          </a:p>
        </p188:txBody>
      </p188:reply>
    </p188:replyLst>
    <p188:txBody>
      <a:bodyPr/>
      <a:lstStyle/>
      <a:p>
        <a:r>
          <a:rPr lang="en-GB"/>
          <a:t>Add ‘CR’?</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FCA53A6A-840F-4B5D-B789-0ACE6B022A5F}" authorId="{077FFBE1-D9C7-660F-2388-2213C2765234}" status="resolved" created="2025-03-21T07:07:27.340" complete="100000">
    <ac:txMkLst xmlns:ac="http://schemas.microsoft.com/office/drawing/2013/main/command">
      <pc:docMk xmlns:pc="http://schemas.microsoft.com/office/powerpoint/2013/main/command"/>
      <pc:sldMk xmlns:pc="http://schemas.microsoft.com/office/powerpoint/2013/main/command" cId="0" sldId="259"/>
      <ac:spMk id="18" creationId="{00000000-0000-0000-0000-000000000000}"/>
      <ac:txMk cp="8" len="11">
        <ac:context len="183" hash="2309512022"/>
      </ac:txMk>
    </ac:txMkLst>
    <p188:pos x="1880830" y="269915"/>
    <p188:txBody>
      <a:bodyPr/>
      <a:lstStyle/>
      <a:p>
        <a:r>
          <a:rPr lang="en-GB"/>
          <a:t>With Assessment Officer?</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5EF0FD70-F8D4-484E-BBB3-C08A2FED1AC4}" authorId="{077FFBE1-D9C7-660F-2388-2213C2765234}" status="resolved" created="2025-03-21T07:14:49.229" complete="100000">
    <ac:txMkLst xmlns:ac="http://schemas.microsoft.com/office/drawing/2013/main/command">
      <pc:docMk xmlns:pc="http://schemas.microsoft.com/office/powerpoint/2013/main/command"/>
      <pc:sldMk xmlns:pc="http://schemas.microsoft.com/office/powerpoint/2013/main/command" cId="0" sldId="261"/>
      <ac:spMk id="5" creationId="{00000000-0000-0000-0000-000000000000}"/>
      <ac:txMk cp="0" len="3">
        <ac:context len="177" hash="2406470069"/>
      </ac:txMk>
    </ac:txMkLst>
    <p188:pos x="400526" y="278487"/>
    <p188:replyLst>
      <p188:reply id="{C888C5F6-82C0-453C-B741-532764F68931}" authorId="{077FFBE1-D9C7-660F-2388-2213C2765234}" created="2025-03-21T07:29:36.007">
        <p188:txBody>
          <a:bodyPr/>
          <a:lstStyle/>
          <a:p>
            <a:r>
              <a:rPr lang="en-GB"/>
              <a:t>Ah, I see from the screenshots below that that’s part of the pre-board scrutiny - so wouldn’t need to be revisited at the board unless it was in question.</a:t>
            </a:r>
          </a:p>
        </p188:txBody>
      </p188:reply>
    </p188:replyLst>
    <p188:txBody>
      <a:bodyPr/>
      <a:lstStyle/>
      <a:p>
        <a:r>
          <a:rPr lang="en-GB"/>
          <a:t>Judgments on manifest prejudice cases too or is that normally done pre-board and just signed off if not flagged?</a:t>
        </a:r>
      </a:p>
    </p188:txBody>
  </p188:cm>
  <p188:cm id="{05A6FEF8-4E21-4E20-A3A3-9AB21DC80D63}" authorId="{077FFBE1-D9C7-660F-2388-2213C2765234}" status="resolved" created="2025-03-21T07:15:53.221" complete="100000">
    <ac:txMkLst xmlns:ac="http://schemas.microsoft.com/office/drawing/2013/main/command">
      <pc:docMk xmlns:pc="http://schemas.microsoft.com/office/powerpoint/2013/main/command"/>
      <pc:sldMk xmlns:pc="http://schemas.microsoft.com/office/powerpoint/2013/main/command" cId="0" sldId="261"/>
      <ac:spMk id="15" creationId="{00000000-0000-0000-0000-000000000000}"/>
      <ac:txMk cp="21" len="1">
        <ac:context len="148" hash="1033170320"/>
      </ac:txMk>
    </ac:txMkLst>
    <p188:pos x="1757362" y="272177"/>
    <p188:txBody>
      <a:bodyPr/>
      <a:lstStyle/>
      <a:p>
        <a:r>
          <a:rPr lang="en-GB"/>
          <a:t>What does this refer to? Don’t want anyone to misunderstand this as saying that there are still discretionary cases at classification borders</a:t>
        </a:r>
      </a:p>
    </p188:txBody>
  </p188:cm>
  <p188:cm id="{32F7F459-C0DC-4F45-AD47-394FFD310D29}" authorId="{077FFBE1-D9C7-660F-2388-2213C2765234}" status="resolved" created="2025-03-21T07:16:27.772" complete="100000">
    <ac:txMkLst xmlns:ac="http://schemas.microsoft.com/office/drawing/2013/main/command">
      <pc:docMk xmlns:pc="http://schemas.microsoft.com/office/powerpoint/2013/main/command"/>
      <pc:sldMk xmlns:pc="http://schemas.microsoft.com/office/powerpoint/2013/main/command" cId="0" sldId="261"/>
      <ac:spMk id="12" creationId="{00000000-0000-0000-0000-000000000000}"/>
      <ac:txMk cp="63" len="11">
        <ac:context len="84" hash="100366152"/>
      </ac:txMk>
    </ac:txMkLst>
    <p188:pos x="1478994" y="964644"/>
    <p188:txBody>
      <a:bodyPr/>
      <a:lstStyle/>
      <a:p>
        <a:r>
          <a:rPr lang="en-GB"/>
          <a:t>Progression or award</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4D9BF40F-4CD4-471B-9688-72464838E796}" authorId="{077FFBE1-D9C7-660F-2388-2213C2765234}" status="resolved" created="2025-03-21T07:17:24.660" complete="100000">
    <ac:txMkLst xmlns:ac="http://schemas.microsoft.com/office/drawing/2013/main/command">
      <pc:docMk xmlns:pc="http://schemas.microsoft.com/office/powerpoint/2013/main/command"/>
      <pc:sldMk xmlns:pc="http://schemas.microsoft.com/office/powerpoint/2013/main/command" cId="0" sldId="262"/>
      <ac:spMk id="12" creationId="{00000000-0000-0000-0000-000000000000}"/>
      <ac:txMk cp="131">
        <ac:context len="132" hash="706555381"/>
      </ac:txMk>
    </ac:txMkLst>
    <p188:pos x="11965305" y="279592"/>
    <p188:txBody>
      <a:bodyPr/>
      <a:lstStyle/>
      <a:p>
        <a:r>
          <a:rPr lang="en-GB"/>
          <a:t>Note for GES</a:t>
        </a:r>
      </a:p>
    </p188:txBody>
  </p188:cm>
</p188:cmLst>
</file>

<file path=ppt/comments/modernComment_107_3B8F0A57.xml><?xml version="1.0" encoding="utf-8"?>
<p188:cmLst xmlns:a="http://schemas.openxmlformats.org/drawingml/2006/main" xmlns:r="http://schemas.openxmlformats.org/officeDocument/2006/relationships" xmlns:p188="http://schemas.microsoft.com/office/powerpoint/2018/8/main">
  <p188:cm id="{9241DE40-6170-4F50-8CA0-CCD3C0EA0802}" authorId="{077FFBE1-D9C7-660F-2388-2213C2765234}" status="resolved" created="2025-03-21T07:26:14.044" complete="100000">
    <pc:sldMkLst xmlns:pc="http://schemas.microsoft.com/office/powerpoint/2013/main/command">
      <pc:docMk/>
      <pc:sldMk cId="999230039" sldId="263"/>
    </pc:sldMkLst>
    <p188:replyLst>
      <p188:reply id="{5C90C688-630B-DC42-8BD3-4EDD0CEBCDCE}" authorId="{8D372A8D-4379-364D-D27D-D81C9E67E8C9}" created="2025-03-21T14:46:40.865">
        <p188:txBody>
          <a:bodyPr/>
          <a:lstStyle/>
          <a:p>
            <a:r>
              <a:rPr lang="en-GB"/>
              <a:t>Yes, this was a part of the conversation we had before. I’ll clip that particular bit out, but they shouldn’t be reading in that much detail</a:t>
            </a:r>
          </a:p>
        </p188:txBody>
      </p188:reply>
    </p188:replyLst>
    <p188:txBody>
      <a:bodyPr/>
      <a:lstStyle/>
      <a:p>
        <a:r>
          <a:rPr lang="en-GB"/>
          <a:t>Students 75 and 83 - but if they sat the exam that’s 100% completion of the exam component surely - unless students explicitly advised that this is how it will be interpreted?  I’m not sure this is a good example to share with GES.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2783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4D99B-71A8-0E83-FDFE-61263EA0C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4301B-4E3B-9013-AF59-C75FD7A4D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DC7EC-751B-E72B-04FA-0F1E294B82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73B425-D5EE-3066-9666-448F4772747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66495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BE389-31B6-BACE-DF63-A4966603D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A2993-654E-907E-6BB9-1B7A9F1C03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BB66A-C91F-4B1E-6F9F-6E934D246A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583831-ACF2-0749-4ABC-1D15687783F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147024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2B4F-01FD-4C7D-876B-13E20A99A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879D3-EE37-7637-CA7D-D4C06627F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4970B-BE85-A2C3-D669-A2FD2369EC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C9229D-6AF9-EBE6-215C-4C83F442938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28629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64A86-8171-0816-D107-5280C0417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B40E8-E42A-2BE8-5B01-15F5290A4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FBEB2-E966-740E-E487-27954D4FC6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64F250-0FF7-79C0-34EE-713FF1D3F705}"/>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10011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extLst>
      <p:ext uri="{BB962C8B-B14F-4D97-AF65-F5344CB8AC3E}">
        <p14:creationId xmlns:p14="http://schemas.microsoft.com/office/powerpoint/2010/main" val="1349498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E"/>
          </a:solidFill>
          <a:ln/>
        </p:spPr>
      </p:sp>
    </p:spTree>
    <p:extLst>
      <p:ext uri="{BB962C8B-B14F-4D97-AF65-F5344CB8AC3E}">
        <p14:creationId xmlns:p14="http://schemas.microsoft.com/office/powerpoint/2010/main" val="2832271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gla.ac.uk/myglasgow/apg/policies/uniregs/regulations2024-25/feesandgeneral/assessmentandacademicappeals/reg16/"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11"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hyperlink" Target="https://www.gla.ac.uk/myglasgow/apg/policies/uniregs/regulations2024-25/feesandgeneral/assessmentandacademicappeals/reg16/"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8.png"/><Relationship Id="rId11" Type="http://schemas.openxmlformats.org/officeDocument/2006/relationships/image" Target="../media/image2.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18/10/relationships/comments" Target="../comments/modernComment_101_0.xml"/><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18/10/relationships/comments" Target="../comments/modernComment_102_0.xml"/><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18/10/relationships/comments" Target="../comments/modernComment_103_0.xml"/><Relationship Id="rId7"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06_0.xml"/><Relationship Id="rId7"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2.png"/><Relationship Id="rId4" Type="http://schemas.openxmlformats.org/officeDocument/2006/relationships/image" Target="../media/image46.png"/><Relationship Id="rId9" Type="http://schemas.openxmlformats.org/officeDocument/2006/relationships/image" Target="../media/image5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2.emf"/><Relationship Id="rId2" Type="http://schemas.microsoft.com/office/2018/10/relationships/comments" Target="../comments/modernComment_107_3B8F0A5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89" y="678871"/>
            <a:ext cx="8164859" cy="2126337"/>
          </a:xfrm>
          <a:prstGeom prst="rect">
            <a:avLst/>
          </a:prstGeom>
          <a:noFill/>
          <a:ln/>
        </p:spPr>
        <p:txBody>
          <a:bodyPr wrap="square" lIns="0" tIns="0" rIns="0" bIns="0" rtlCol="0" anchor="t"/>
          <a:lstStyle/>
          <a:p>
            <a:pPr marL="0" indent="0" algn="l">
              <a:lnSpc>
                <a:spcPts val="5550"/>
              </a:lnSpc>
              <a:buNone/>
            </a:pPr>
            <a:r>
              <a:rPr lang="en-GB" sz="3600" b="1" noProof="0">
                <a:solidFill>
                  <a:srgbClr val="003865"/>
                </a:solidFill>
                <a:latin typeface="Arial" panose="020B0604020202020204" pitchFamily="34" charset="0"/>
                <a:ea typeface="Inter Bold" pitchFamily="34" charset="-122"/>
                <a:cs typeface="Arial" panose="020B0604020202020204" pitchFamily="34" charset="0"/>
              </a:rPr>
              <a:t>Exam Boards, Roles and Responsibilities, and Compassionate Communications</a:t>
            </a:r>
            <a:endParaRPr lang="en-GB" sz="3600" noProof="0">
              <a:latin typeface="Arial" panose="020B0604020202020204" pitchFamily="34" charset="0"/>
              <a:cs typeface="Arial" panose="020B0604020202020204" pitchFamily="34" charset="0"/>
            </a:endParaRPr>
          </a:p>
        </p:txBody>
      </p:sp>
      <p:sp>
        <p:nvSpPr>
          <p:cNvPr id="4" name="Text 1"/>
          <p:cNvSpPr/>
          <p:nvPr/>
        </p:nvSpPr>
        <p:spPr>
          <a:xfrm>
            <a:off x="793790" y="3570565"/>
            <a:ext cx="7556421" cy="362903"/>
          </a:xfrm>
          <a:prstGeom prst="rect">
            <a:avLst/>
          </a:prstGeom>
          <a:noFill/>
          <a:ln/>
        </p:spPr>
        <p:txBody>
          <a:bodyPr wrap="none" lIns="0" tIns="0" rIns="0" bIns="0" rtlCol="0" anchor="t"/>
          <a:lstStyle/>
          <a:p>
            <a:pPr marL="342900" indent="-342900" algn="l">
              <a:lnSpc>
                <a:spcPts val="2850"/>
              </a:lnSpc>
              <a:buSzPct val="100000"/>
              <a:buChar char="•"/>
            </a:pPr>
            <a:r>
              <a:rPr lang="en-GB" sz="1750" noProof="0">
                <a:solidFill>
                  <a:srgbClr val="003865"/>
                </a:solidFill>
                <a:latin typeface="Arial" panose="020B0604020202020204" pitchFamily="34" charset="0"/>
                <a:ea typeface="Inter" pitchFamily="34" charset="-122"/>
                <a:cs typeface="Arial" panose="020B0604020202020204" pitchFamily="34" charset="0"/>
              </a:rPr>
              <a:t>Governance structure</a:t>
            </a:r>
            <a:endParaRPr lang="en-GB" sz="1750" noProof="0">
              <a:latin typeface="Arial" panose="020B0604020202020204" pitchFamily="34" charset="0"/>
              <a:cs typeface="Arial" panose="020B0604020202020204" pitchFamily="34" charset="0"/>
            </a:endParaRPr>
          </a:p>
        </p:txBody>
      </p:sp>
      <p:sp>
        <p:nvSpPr>
          <p:cNvPr id="5" name="Text 2"/>
          <p:cNvSpPr/>
          <p:nvPr/>
        </p:nvSpPr>
        <p:spPr>
          <a:xfrm>
            <a:off x="793790" y="4012763"/>
            <a:ext cx="7556421" cy="362903"/>
          </a:xfrm>
          <a:prstGeom prst="rect">
            <a:avLst/>
          </a:prstGeom>
          <a:noFill/>
          <a:ln/>
        </p:spPr>
        <p:txBody>
          <a:bodyPr wrap="none" lIns="0" tIns="0" rIns="0" bIns="0" rtlCol="0" anchor="t"/>
          <a:lstStyle/>
          <a:p>
            <a:pPr marL="342900" indent="-342900" algn="l">
              <a:lnSpc>
                <a:spcPts val="2850"/>
              </a:lnSpc>
              <a:buSzPct val="100000"/>
              <a:buChar char="•"/>
            </a:pPr>
            <a:r>
              <a:rPr lang="en-GB" sz="1750" noProof="0">
                <a:solidFill>
                  <a:srgbClr val="003865"/>
                </a:solidFill>
                <a:latin typeface="Arial" panose="020B0604020202020204" pitchFamily="34" charset="0"/>
                <a:ea typeface="Inter" pitchFamily="34" charset="-122"/>
                <a:cs typeface="Arial" panose="020B0604020202020204" pitchFamily="34" charset="0"/>
              </a:rPr>
              <a:t>Examiner appointments</a:t>
            </a:r>
            <a:endParaRPr lang="en-GB" sz="1750" noProof="0">
              <a:latin typeface="Arial" panose="020B0604020202020204" pitchFamily="34" charset="0"/>
              <a:cs typeface="Arial" panose="020B0604020202020204" pitchFamily="34" charset="0"/>
            </a:endParaRPr>
          </a:p>
        </p:txBody>
      </p:sp>
      <p:sp>
        <p:nvSpPr>
          <p:cNvPr id="6" name="Text 3"/>
          <p:cNvSpPr/>
          <p:nvPr/>
        </p:nvSpPr>
        <p:spPr>
          <a:xfrm>
            <a:off x="793790" y="4454962"/>
            <a:ext cx="7556421" cy="362903"/>
          </a:xfrm>
          <a:prstGeom prst="rect">
            <a:avLst/>
          </a:prstGeom>
          <a:noFill/>
          <a:ln/>
        </p:spPr>
        <p:txBody>
          <a:bodyPr wrap="none" lIns="0" tIns="0" rIns="0" bIns="0" rtlCol="0" anchor="t"/>
          <a:lstStyle/>
          <a:p>
            <a:pPr marL="342900" indent="-342900" algn="l">
              <a:lnSpc>
                <a:spcPts val="2850"/>
              </a:lnSpc>
              <a:buSzPct val="100000"/>
              <a:buChar char="•"/>
            </a:pPr>
            <a:r>
              <a:rPr lang="en-GB" sz="1750" noProof="0">
                <a:solidFill>
                  <a:srgbClr val="003865"/>
                </a:solidFill>
                <a:latin typeface="Arial" panose="020B0604020202020204" pitchFamily="34" charset="0"/>
                <a:ea typeface="Inter" pitchFamily="34" charset="-122"/>
                <a:cs typeface="Arial" panose="020B0604020202020204" pitchFamily="34" charset="0"/>
              </a:rPr>
              <a:t>Board of Examiners</a:t>
            </a:r>
            <a:endParaRPr lang="en-GB" sz="1750" noProof="0">
              <a:latin typeface="Arial" panose="020B0604020202020204" pitchFamily="34" charset="0"/>
              <a:cs typeface="Arial" panose="020B0604020202020204" pitchFamily="34" charset="0"/>
            </a:endParaRPr>
          </a:p>
        </p:txBody>
      </p:sp>
      <p:sp>
        <p:nvSpPr>
          <p:cNvPr id="7" name="Text 4"/>
          <p:cNvSpPr/>
          <p:nvPr/>
        </p:nvSpPr>
        <p:spPr>
          <a:xfrm>
            <a:off x="793790" y="4897160"/>
            <a:ext cx="7556421" cy="362903"/>
          </a:xfrm>
          <a:prstGeom prst="rect">
            <a:avLst/>
          </a:prstGeom>
          <a:noFill/>
          <a:ln/>
        </p:spPr>
        <p:txBody>
          <a:bodyPr wrap="none" lIns="0" tIns="0" rIns="0" bIns="0" rtlCol="0" anchor="t"/>
          <a:lstStyle/>
          <a:p>
            <a:pPr marL="342900" indent="-342900" algn="l">
              <a:lnSpc>
                <a:spcPts val="2850"/>
              </a:lnSpc>
              <a:buSzPct val="100000"/>
              <a:buChar char="•"/>
            </a:pPr>
            <a:r>
              <a:rPr lang="en-GB" sz="1750" noProof="0">
                <a:solidFill>
                  <a:srgbClr val="003865"/>
                </a:solidFill>
                <a:latin typeface="Arial" panose="020B0604020202020204" pitchFamily="34" charset="0"/>
                <a:ea typeface="Inter" pitchFamily="34" charset="-122"/>
                <a:cs typeface="Arial" panose="020B0604020202020204" pitchFamily="34" charset="0"/>
              </a:rPr>
              <a:t>Assessment Officer responsibilities</a:t>
            </a:r>
            <a:endParaRPr lang="en-GB" sz="1750" noProof="0">
              <a:latin typeface="Arial" panose="020B0604020202020204" pitchFamily="34" charset="0"/>
              <a:cs typeface="Arial" panose="020B0604020202020204" pitchFamily="34" charset="0"/>
            </a:endParaRPr>
          </a:p>
        </p:txBody>
      </p:sp>
      <p:sp>
        <p:nvSpPr>
          <p:cNvPr id="9" name="Text 6"/>
          <p:cNvSpPr/>
          <p:nvPr/>
        </p:nvSpPr>
        <p:spPr>
          <a:xfrm>
            <a:off x="793789" y="5339358"/>
            <a:ext cx="7556421" cy="362903"/>
          </a:xfrm>
          <a:prstGeom prst="rect">
            <a:avLst/>
          </a:prstGeom>
          <a:noFill/>
          <a:ln/>
        </p:spPr>
        <p:txBody>
          <a:bodyPr wrap="none" lIns="0" tIns="0" rIns="0" bIns="0" rtlCol="0" anchor="t"/>
          <a:lstStyle/>
          <a:p>
            <a:pPr marL="342900" indent="-342900" algn="l">
              <a:lnSpc>
                <a:spcPts val="2850"/>
              </a:lnSpc>
              <a:buSzPct val="100000"/>
              <a:buChar char="•"/>
            </a:pPr>
            <a:r>
              <a:rPr lang="en-GB" sz="1750" noProof="0">
                <a:solidFill>
                  <a:srgbClr val="003865"/>
                </a:solidFill>
                <a:latin typeface="Arial" panose="020B0604020202020204" pitchFamily="34" charset="0"/>
                <a:ea typeface="Inter" pitchFamily="34" charset="-122"/>
                <a:cs typeface="Arial" panose="020B0604020202020204" pitchFamily="34" charset="0"/>
              </a:rPr>
              <a:t>Recommended practice</a:t>
            </a:r>
            <a:endParaRPr lang="en-GB" sz="1750" noProof="0">
              <a:latin typeface="Arial" panose="020B0604020202020204" pitchFamily="34" charset="0"/>
              <a:cs typeface="Arial" panose="020B0604020202020204" pitchFamily="34" charset="0"/>
            </a:endParaRPr>
          </a:p>
        </p:txBody>
      </p:sp>
      <p:sp>
        <p:nvSpPr>
          <p:cNvPr id="10" name="Text 6">
            <a:extLst>
              <a:ext uri="{FF2B5EF4-FFF2-40B4-BE49-F238E27FC236}">
                <a16:creationId xmlns:a16="http://schemas.microsoft.com/office/drawing/2014/main" id="{475B8D93-863B-C98F-11EB-B95504F3F6B8}"/>
              </a:ext>
            </a:extLst>
          </p:cNvPr>
          <p:cNvSpPr/>
          <p:nvPr/>
        </p:nvSpPr>
        <p:spPr>
          <a:xfrm>
            <a:off x="244699" y="7629763"/>
            <a:ext cx="7315200" cy="362903"/>
          </a:xfrm>
          <a:prstGeom prst="rect">
            <a:avLst/>
          </a:prstGeom>
          <a:noFill/>
          <a:ln/>
        </p:spPr>
        <p:txBody>
          <a:bodyPr wrap="none" lIns="0" tIns="0" rIns="0" bIns="0" rtlCol="0" anchor="t"/>
          <a:lstStyle/>
          <a:p>
            <a:pPr algn="l">
              <a:lnSpc>
                <a:spcPts val="2850"/>
              </a:lnSpc>
              <a:buSzPct val="100000"/>
            </a:pPr>
            <a:r>
              <a:rPr lang="en-GB" sz="1750" noProof="0">
                <a:solidFill>
                  <a:srgbClr val="003865"/>
                </a:solidFill>
                <a:latin typeface="Arial" panose="020B0604020202020204" pitchFamily="34" charset="0"/>
                <a:ea typeface="Inter" pitchFamily="34" charset="-122"/>
                <a:cs typeface="Arial" panose="020B0604020202020204" pitchFamily="34" charset="0"/>
              </a:rPr>
              <a:t>Guidance, details and information all can be found in the </a:t>
            </a:r>
            <a:r>
              <a:rPr lang="en-GB" sz="1750" noProof="0">
                <a:solidFill>
                  <a:srgbClr val="003865"/>
                </a:solidFill>
                <a:latin typeface="Arial" panose="020B0604020202020204" pitchFamily="34" charset="0"/>
                <a:ea typeface="Inter" pitchFamily="34" charset="-122"/>
                <a:cs typeface="Arial" panose="020B0604020202020204" pitchFamily="34" charset="0"/>
                <a:hlinkClick r:id="rId4"/>
              </a:rPr>
              <a:t>Code of Assessment, 2024-25</a:t>
            </a:r>
            <a:endParaRPr lang="en-GB" sz="1750" noProof="0">
              <a:latin typeface="Arial" panose="020B0604020202020204" pitchFamily="34" charset="0"/>
              <a:cs typeface="Arial" panose="020B0604020202020204" pitchFamily="34" charset="0"/>
            </a:endParaRPr>
          </a:p>
        </p:txBody>
      </p:sp>
      <p:sp>
        <p:nvSpPr>
          <p:cNvPr id="12" name="Text 6">
            <a:extLst>
              <a:ext uri="{FF2B5EF4-FFF2-40B4-BE49-F238E27FC236}">
                <a16:creationId xmlns:a16="http://schemas.microsoft.com/office/drawing/2014/main" id="{2C1ADEFE-F829-590A-877F-96FE4124CD6A}"/>
              </a:ext>
            </a:extLst>
          </p:cNvPr>
          <p:cNvSpPr/>
          <p:nvPr/>
        </p:nvSpPr>
        <p:spPr>
          <a:xfrm>
            <a:off x="793788" y="5781556"/>
            <a:ext cx="7556421" cy="362903"/>
          </a:xfrm>
          <a:prstGeom prst="rect">
            <a:avLst/>
          </a:prstGeom>
          <a:noFill/>
          <a:ln/>
        </p:spPr>
        <p:txBody>
          <a:bodyPr wrap="none" lIns="0" tIns="0" rIns="0" bIns="0" rtlCol="0" anchor="t"/>
          <a:lstStyle/>
          <a:p>
            <a:pPr marL="342900" indent="-342900" algn="l">
              <a:lnSpc>
                <a:spcPts val="2850"/>
              </a:lnSpc>
              <a:buSzPct val="100000"/>
              <a:buChar char="•"/>
            </a:pPr>
            <a:r>
              <a:rPr lang="en-GB" sz="1750" noProof="0">
                <a:solidFill>
                  <a:srgbClr val="003865"/>
                </a:solidFill>
                <a:latin typeface="Arial" panose="020B0604020202020204" pitchFamily="34" charset="0"/>
                <a:ea typeface="Inter" pitchFamily="34" charset="-122"/>
                <a:cs typeface="Arial" panose="020B0604020202020204" pitchFamily="34" charset="0"/>
              </a:rPr>
              <a:t>Compassionate communications</a:t>
            </a:r>
            <a:endParaRPr lang="en-GB" sz="1750" noProof="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3183" y="552450"/>
            <a:ext cx="12433816" cy="1255633"/>
          </a:xfrm>
          <a:prstGeom prst="rect">
            <a:avLst/>
          </a:prstGeom>
          <a:noFill/>
          <a:ln/>
        </p:spPr>
        <p:txBody>
          <a:bodyPr wrap="square" lIns="0" tIns="0" rIns="0" bIns="0" rtlCol="0" anchor="t"/>
          <a:lstStyle/>
          <a:p>
            <a:pPr marL="0" indent="0" algn="l">
              <a:lnSpc>
                <a:spcPts val="4900"/>
              </a:lnSpc>
              <a:buNone/>
            </a:pPr>
            <a:r>
              <a:rPr lang="en-GB" sz="3950" b="1" noProof="0">
                <a:solidFill>
                  <a:srgbClr val="003865"/>
                </a:solidFill>
                <a:latin typeface="Arial" panose="020B0604020202020204" pitchFamily="34" charset="0"/>
                <a:ea typeface="Inter Bold" pitchFamily="34" charset="-122"/>
                <a:cs typeface="Arial" panose="020B0604020202020204" pitchFamily="34" charset="0"/>
              </a:rPr>
              <a:t>Governance Structure and Examiner Appointments</a:t>
            </a:r>
            <a:endParaRPr lang="en-GB" sz="3950" noProof="0">
              <a:latin typeface="Arial" panose="020B0604020202020204" pitchFamily="34" charset="0"/>
              <a:cs typeface="Arial" panose="020B0604020202020204" pitchFamily="34" charset="0"/>
            </a:endParaRPr>
          </a:p>
        </p:txBody>
      </p:sp>
      <p:sp>
        <p:nvSpPr>
          <p:cNvPr id="3" name="Text 1"/>
          <p:cNvSpPr/>
          <p:nvPr/>
        </p:nvSpPr>
        <p:spPr>
          <a:xfrm>
            <a:off x="703183" y="2310289"/>
            <a:ext cx="3817382" cy="627698"/>
          </a:xfrm>
          <a:prstGeom prst="rect">
            <a:avLst/>
          </a:prstGeom>
          <a:noFill/>
          <a:ln/>
        </p:spPr>
        <p:txBody>
          <a:bodyPr wrap="square" lIns="0" tIns="0" rIns="0" bIns="0" rtlCol="0" anchor="t"/>
          <a:lstStyle/>
          <a:p>
            <a:pPr marL="0" indent="0" algn="l">
              <a:lnSpc>
                <a:spcPts val="2450"/>
              </a:lnSpc>
              <a:buNone/>
            </a:pPr>
            <a:r>
              <a:rPr lang="en-GB" sz="1950" b="1" noProof="0">
                <a:solidFill>
                  <a:srgbClr val="003865"/>
                </a:solidFill>
                <a:latin typeface="Arial" panose="020B0604020202020204" pitchFamily="34" charset="0"/>
                <a:ea typeface="Inter Bold" pitchFamily="34" charset="-122"/>
                <a:cs typeface="Arial" panose="020B0604020202020204" pitchFamily="34" charset="0"/>
              </a:rPr>
              <a:t>Head of School Responsibilities</a:t>
            </a:r>
            <a:endParaRPr lang="en-GB" sz="1950" noProof="0">
              <a:latin typeface="Arial" panose="020B0604020202020204" pitchFamily="34" charset="0"/>
              <a:cs typeface="Arial" panose="020B0604020202020204" pitchFamily="34" charset="0"/>
            </a:endParaRPr>
          </a:p>
        </p:txBody>
      </p:sp>
      <p:sp>
        <p:nvSpPr>
          <p:cNvPr id="4" name="Text 2"/>
          <p:cNvSpPr/>
          <p:nvPr/>
        </p:nvSpPr>
        <p:spPr>
          <a:xfrm>
            <a:off x="703183" y="3138845"/>
            <a:ext cx="3817382" cy="2570798"/>
          </a:xfrm>
          <a:prstGeom prst="rect">
            <a:avLst/>
          </a:prstGeom>
          <a:noFill/>
          <a:ln/>
        </p:spPr>
        <p:txBody>
          <a:bodyPr wrap="square" lIns="0" tIns="0" rIns="0" bIns="0" rtlCol="0" anchor="t"/>
          <a:lstStyle/>
          <a:p>
            <a:pPr marL="0" indent="0" algn="l">
              <a:lnSpc>
                <a:spcPts val="2500"/>
              </a:lnSpc>
              <a:buNone/>
            </a:pPr>
            <a:r>
              <a:rPr lang="en-GB" sz="1550" noProof="0">
                <a:solidFill>
                  <a:srgbClr val="003865"/>
                </a:solidFill>
                <a:latin typeface="Arial" panose="020B0604020202020204" pitchFamily="34" charset="0"/>
                <a:ea typeface="Inter" pitchFamily="34" charset="-122"/>
                <a:cs typeface="Arial" panose="020B0604020202020204" pitchFamily="34" charset="0"/>
              </a:rPr>
              <a:t>The Head of School bears ultimate responsibility for managing the assessment scheme of all degrees in their school. This encompasses oversight of examiner appointments, assessment procedures, and quality assurance mechanisms.</a:t>
            </a:r>
          </a:p>
          <a:p>
            <a:pPr marL="0" indent="0" algn="l">
              <a:lnSpc>
                <a:spcPts val="2500"/>
              </a:lnSpc>
              <a:buNone/>
            </a:pPr>
            <a:endParaRPr lang="en-GB" sz="1550" noProof="0">
              <a:solidFill>
                <a:srgbClr val="003865"/>
              </a:solidFill>
              <a:latin typeface="Arial" panose="020B0604020202020204" pitchFamily="34" charset="0"/>
              <a:ea typeface="Inter" pitchFamily="34" charset="-122"/>
              <a:cs typeface="Arial" panose="020B0604020202020204" pitchFamily="34" charset="0"/>
            </a:endParaRPr>
          </a:p>
          <a:p>
            <a:pPr>
              <a:lnSpc>
                <a:spcPts val="2500"/>
              </a:lnSpc>
            </a:pPr>
            <a:r>
              <a:rPr lang="en-GB" sz="1550" noProof="0">
                <a:solidFill>
                  <a:srgbClr val="003865"/>
                </a:solidFill>
                <a:latin typeface="Arial" panose="020B0604020202020204" pitchFamily="34" charset="0"/>
                <a:ea typeface="Inter" pitchFamily="34" charset="-122"/>
                <a:cs typeface="Arial" panose="020B0604020202020204" pitchFamily="34" charset="0"/>
              </a:rPr>
              <a:t>They must ensure appropriate training is provided to all Internal Examiners, including those who are not permanent academic staff of the University.</a:t>
            </a:r>
            <a:endParaRPr lang="en-GB" sz="1550" noProof="0">
              <a:latin typeface="Arial" panose="020B0604020202020204" pitchFamily="34" charset="0"/>
              <a:cs typeface="Arial" panose="020B0604020202020204" pitchFamily="34" charset="0"/>
            </a:endParaRPr>
          </a:p>
          <a:p>
            <a:pPr marL="0" indent="0" algn="l">
              <a:lnSpc>
                <a:spcPts val="2500"/>
              </a:lnSpc>
              <a:buNone/>
            </a:pPr>
            <a:endParaRPr lang="en-GB" sz="1550" noProof="0">
              <a:latin typeface="Arial" panose="020B0604020202020204" pitchFamily="34" charset="0"/>
              <a:cs typeface="Arial" panose="020B0604020202020204" pitchFamily="34" charset="0"/>
            </a:endParaRPr>
          </a:p>
        </p:txBody>
      </p:sp>
      <p:sp>
        <p:nvSpPr>
          <p:cNvPr id="6" name="Text 4"/>
          <p:cNvSpPr/>
          <p:nvPr/>
        </p:nvSpPr>
        <p:spPr>
          <a:xfrm>
            <a:off x="5018246" y="2310289"/>
            <a:ext cx="2511385" cy="313849"/>
          </a:xfrm>
          <a:prstGeom prst="rect">
            <a:avLst/>
          </a:prstGeom>
          <a:noFill/>
          <a:ln/>
        </p:spPr>
        <p:txBody>
          <a:bodyPr wrap="none" lIns="0" tIns="0" rIns="0" bIns="0" rtlCol="0" anchor="t"/>
          <a:lstStyle/>
          <a:p>
            <a:pPr marL="0" indent="0" algn="l">
              <a:lnSpc>
                <a:spcPts val="2450"/>
              </a:lnSpc>
              <a:buNone/>
            </a:pPr>
            <a:r>
              <a:rPr lang="en-GB" sz="1950" b="1" noProof="0">
                <a:solidFill>
                  <a:srgbClr val="003865"/>
                </a:solidFill>
                <a:latin typeface="Arial" panose="020B0604020202020204" pitchFamily="34" charset="0"/>
                <a:ea typeface="Inter Bold" pitchFamily="34" charset="-122"/>
                <a:cs typeface="Arial" panose="020B0604020202020204" pitchFamily="34" charset="0"/>
              </a:rPr>
              <a:t>Internal Examiners</a:t>
            </a:r>
            <a:endParaRPr lang="en-GB" sz="1950" noProof="0">
              <a:latin typeface="Arial" panose="020B0604020202020204" pitchFamily="34" charset="0"/>
              <a:cs typeface="Arial" panose="020B0604020202020204" pitchFamily="34" charset="0"/>
            </a:endParaRPr>
          </a:p>
        </p:txBody>
      </p:sp>
      <p:sp>
        <p:nvSpPr>
          <p:cNvPr id="7" name="Text 5"/>
          <p:cNvSpPr/>
          <p:nvPr/>
        </p:nvSpPr>
        <p:spPr>
          <a:xfrm>
            <a:off x="5018246" y="2824996"/>
            <a:ext cx="3817382" cy="642699"/>
          </a:xfrm>
          <a:prstGeom prst="rect">
            <a:avLst/>
          </a:prstGeom>
          <a:noFill/>
          <a:ln/>
        </p:spPr>
        <p:txBody>
          <a:bodyPr wrap="square" lIns="0" tIns="0" rIns="0" bIns="0" rtlCol="0" anchor="t"/>
          <a:lstStyle/>
          <a:p>
            <a:pPr marL="342900" indent="-342900" algn="l">
              <a:lnSpc>
                <a:spcPts val="2500"/>
              </a:lnSpc>
              <a:buSzPct val="100000"/>
              <a:buChar char="•"/>
            </a:pPr>
            <a:r>
              <a:rPr lang="en-GB" sz="1550" noProof="0">
                <a:solidFill>
                  <a:srgbClr val="003865"/>
                </a:solidFill>
                <a:latin typeface="Arial" panose="020B0604020202020204" pitchFamily="34" charset="0"/>
                <a:ea typeface="Inter" pitchFamily="34" charset="-122"/>
                <a:cs typeface="Arial" panose="020B0604020202020204" pitchFamily="34" charset="0"/>
              </a:rPr>
              <a:t>All academic staff teaching on the programme</a:t>
            </a:r>
            <a:endParaRPr lang="en-GB" sz="1550" noProof="0">
              <a:latin typeface="Arial" panose="020B0604020202020204" pitchFamily="34" charset="0"/>
              <a:cs typeface="Arial" panose="020B0604020202020204" pitchFamily="34" charset="0"/>
            </a:endParaRPr>
          </a:p>
        </p:txBody>
      </p:sp>
      <p:sp>
        <p:nvSpPr>
          <p:cNvPr id="8" name="Text 6"/>
          <p:cNvSpPr/>
          <p:nvPr/>
        </p:nvSpPr>
        <p:spPr>
          <a:xfrm>
            <a:off x="5018246" y="3537942"/>
            <a:ext cx="3817382" cy="642699"/>
          </a:xfrm>
          <a:prstGeom prst="rect">
            <a:avLst/>
          </a:prstGeom>
          <a:noFill/>
          <a:ln/>
        </p:spPr>
        <p:txBody>
          <a:bodyPr wrap="square" lIns="0" tIns="0" rIns="0" bIns="0" rtlCol="0" anchor="t"/>
          <a:lstStyle/>
          <a:p>
            <a:pPr marL="342900" indent="-342900" algn="l">
              <a:lnSpc>
                <a:spcPts val="2500"/>
              </a:lnSpc>
              <a:buSzPct val="100000"/>
              <a:buChar char="•"/>
            </a:pPr>
            <a:r>
              <a:rPr lang="en-GB" sz="1550" noProof="0">
                <a:solidFill>
                  <a:srgbClr val="003865"/>
                </a:solidFill>
                <a:latin typeface="Arial" panose="020B0604020202020204" pitchFamily="34" charset="0"/>
                <a:ea typeface="Inter" pitchFamily="34" charset="-122"/>
                <a:cs typeface="Arial" panose="020B0604020202020204" pitchFamily="34" charset="0"/>
              </a:rPr>
              <a:t>Additional academic staff appointed by the Head of School</a:t>
            </a:r>
            <a:endParaRPr lang="en-GB" sz="1550" noProof="0">
              <a:latin typeface="Arial" panose="020B0604020202020204" pitchFamily="34" charset="0"/>
              <a:cs typeface="Arial" panose="020B0604020202020204" pitchFamily="34" charset="0"/>
            </a:endParaRPr>
          </a:p>
        </p:txBody>
      </p:sp>
      <p:sp>
        <p:nvSpPr>
          <p:cNvPr id="9" name="Text 7"/>
          <p:cNvSpPr/>
          <p:nvPr/>
        </p:nvSpPr>
        <p:spPr>
          <a:xfrm>
            <a:off x="5018246" y="4250888"/>
            <a:ext cx="3817382" cy="1285399"/>
          </a:xfrm>
          <a:prstGeom prst="rect">
            <a:avLst/>
          </a:prstGeom>
          <a:noFill/>
          <a:ln/>
        </p:spPr>
        <p:txBody>
          <a:bodyPr wrap="square" lIns="0" tIns="0" rIns="0" bIns="0" rtlCol="0" anchor="t"/>
          <a:lstStyle/>
          <a:p>
            <a:pPr marL="342900" indent="-342900" algn="l">
              <a:lnSpc>
                <a:spcPts val="2500"/>
              </a:lnSpc>
              <a:buSzPct val="100000"/>
              <a:buChar char="•"/>
            </a:pPr>
            <a:r>
              <a:rPr lang="en-GB" sz="1550" noProof="0">
                <a:solidFill>
                  <a:srgbClr val="003865"/>
                </a:solidFill>
                <a:latin typeface="Arial" panose="020B0604020202020204" pitchFamily="34" charset="0"/>
                <a:ea typeface="Inter" pitchFamily="34" charset="-122"/>
                <a:cs typeface="Arial" panose="020B0604020202020204" pitchFamily="34" charset="0"/>
              </a:rPr>
              <a:t>Honorary Lecturers, Research Fellows Category A, and Graduate Teaching Assistants (subject to approval)</a:t>
            </a:r>
          </a:p>
          <a:p>
            <a:pPr marL="342900" indent="-342900">
              <a:lnSpc>
                <a:spcPts val="2500"/>
              </a:lnSpc>
              <a:buSzPct val="100000"/>
              <a:buFontTx/>
              <a:buChar char="•"/>
            </a:pPr>
            <a:r>
              <a:rPr lang="en-GB" sz="1550" noProof="0">
                <a:solidFill>
                  <a:srgbClr val="003865"/>
                </a:solidFill>
                <a:latin typeface="Arial" panose="020B0604020202020204" pitchFamily="34" charset="0"/>
                <a:ea typeface="Inter" pitchFamily="34" charset="-122"/>
                <a:cs typeface="Arial" panose="020B0604020202020204" pitchFamily="34" charset="0"/>
              </a:rPr>
              <a:t>Staff from Associated Institutions (subject to approval by Education Policy &amp; Strategy Committee)</a:t>
            </a:r>
            <a:endParaRPr lang="en-GB" sz="1550" noProof="0">
              <a:latin typeface="Arial" panose="020B0604020202020204" pitchFamily="34" charset="0"/>
              <a:cs typeface="Arial" panose="020B0604020202020204" pitchFamily="34" charset="0"/>
            </a:endParaRPr>
          </a:p>
        </p:txBody>
      </p:sp>
      <p:sp>
        <p:nvSpPr>
          <p:cNvPr id="11" name="Text 9"/>
          <p:cNvSpPr/>
          <p:nvPr/>
        </p:nvSpPr>
        <p:spPr>
          <a:xfrm>
            <a:off x="9333309" y="2310289"/>
            <a:ext cx="2511385" cy="313849"/>
          </a:xfrm>
          <a:prstGeom prst="rect">
            <a:avLst/>
          </a:prstGeom>
          <a:noFill/>
          <a:ln/>
        </p:spPr>
        <p:txBody>
          <a:bodyPr wrap="none" lIns="0" tIns="0" rIns="0" bIns="0" rtlCol="0" anchor="t"/>
          <a:lstStyle/>
          <a:p>
            <a:pPr marL="0" indent="0" algn="l">
              <a:lnSpc>
                <a:spcPts val="2450"/>
              </a:lnSpc>
              <a:buNone/>
            </a:pPr>
            <a:r>
              <a:rPr lang="en-GB" sz="1950" b="1" noProof="0">
                <a:solidFill>
                  <a:srgbClr val="003865"/>
                </a:solidFill>
                <a:latin typeface="Arial" panose="020B0604020202020204" pitchFamily="34" charset="0"/>
                <a:ea typeface="Inter Bold" pitchFamily="34" charset="-122"/>
                <a:cs typeface="Arial" panose="020B0604020202020204" pitchFamily="34" charset="0"/>
              </a:rPr>
              <a:t>External Examiners</a:t>
            </a:r>
            <a:endParaRPr lang="en-GB" sz="1950" noProof="0">
              <a:latin typeface="Arial" panose="020B0604020202020204" pitchFamily="34" charset="0"/>
              <a:cs typeface="Arial" panose="020B0604020202020204" pitchFamily="34" charset="0"/>
            </a:endParaRPr>
          </a:p>
        </p:txBody>
      </p:sp>
      <p:sp>
        <p:nvSpPr>
          <p:cNvPr id="12" name="Text 10"/>
          <p:cNvSpPr/>
          <p:nvPr/>
        </p:nvSpPr>
        <p:spPr>
          <a:xfrm>
            <a:off x="9333309" y="2824996"/>
            <a:ext cx="3817382" cy="1285399"/>
          </a:xfrm>
          <a:prstGeom prst="rect">
            <a:avLst/>
          </a:prstGeom>
          <a:noFill/>
          <a:ln/>
        </p:spPr>
        <p:txBody>
          <a:bodyPr wrap="square" lIns="0" tIns="0" rIns="0" bIns="0" rtlCol="0" anchor="t"/>
          <a:lstStyle/>
          <a:p>
            <a:pPr marL="0" indent="0" algn="l">
              <a:lnSpc>
                <a:spcPts val="2500"/>
              </a:lnSpc>
              <a:buNone/>
            </a:pPr>
            <a:r>
              <a:rPr lang="en-GB" sz="1550" noProof="0">
                <a:solidFill>
                  <a:srgbClr val="003865"/>
                </a:solidFill>
                <a:latin typeface="Arial" panose="020B0604020202020204" pitchFamily="34" charset="0"/>
                <a:ea typeface="Inter" pitchFamily="34" charset="-122"/>
                <a:cs typeface="Arial" panose="020B0604020202020204" pitchFamily="34" charset="0"/>
              </a:rPr>
              <a:t>At least one External Examiner shall be appointed by Court based on recommendations from the Head of School. </a:t>
            </a:r>
            <a:endParaRPr lang="en-GB" sz="1550" noProof="0">
              <a:latin typeface="Arial" panose="020B0604020202020204" pitchFamily="34" charset="0"/>
              <a:cs typeface="Arial" panose="020B0604020202020204" pitchFamily="34" charset="0"/>
            </a:endParaRPr>
          </a:p>
        </p:txBody>
      </p:sp>
      <p:sp>
        <p:nvSpPr>
          <p:cNvPr id="13" name="Text 11"/>
          <p:cNvSpPr/>
          <p:nvPr/>
        </p:nvSpPr>
        <p:spPr>
          <a:xfrm>
            <a:off x="9333309" y="4291132"/>
            <a:ext cx="3817382" cy="1285399"/>
          </a:xfrm>
          <a:prstGeom prst="rect">
            <a:avLst/>
          </a:prstGeom>
          <a:noFill/>
          <a:ln/>
        </p:spPr>
        <p:txBody>
          <a:bodyPr wrap="square" lIns="0" tIns="0" rIns="0" bIns="0" rtlCol="0" anchor="t"/>
          <a:lstStyle/>
          <a:p>
            <a:pPr marL="0" indent="0" algn="l">
              <a:lnSpc>
                <a:spcPts val="2500"/>
              </a:lnSpc>
              <a:buNone/>
            </a:pPr>
            <a:r>
              <a:rPr lang="en-GB" sz="1550" noProof="0">
                <a:solidFill>
                  <a:srgbClr val="003865"/>
                </a:solidFill>
                <a:latin typeface="Arial" panose="020B0604020202020204" pitchFamily="34" charset="0"/>
                <a:ea typeface="Inter" pitchFamily="34" charset="-122"/>
                <a:cs typeface="Arial" panose="020B0604020202020204" pitchFamily="34" charset="0"/>
              </a:rPr>
              <a:t>External Examiners provide crucial independent oversight of the assessment process, maintaining standards and ensuring fairness.</a:t>
            </a:r>
            <a:endParaRPr lang="en-GB" sz="1550" noProof="0">
              <a:latin typeface="Arial" panose="020B0604020202020204" pitchFamily="34" charset="0"/>
              <a:cs typeface="Arial" panose="020B0604020202020204" pitchFamily="34" charset="0"/>
            </a:endParaRPr>
          </a:p>
        </p:txBody>
      </p:sp>
      <p:pic>
        <p:nvPicPr>
          <p:cNvPr id="14" name="Image 0" descr="preencoded.png"/>
          <p:cNvPicPr>
            <a:picLocks noChangeAspect="1"/>
          </p:cNvPicPr>
          <p:nvPr/>
        </p:nvPicPr>
        <p:blipFill>
          <a:blip r:embed="rId3"/>
          <a:stretch>
            <a:fillRect/>
          </a:stretch>
        </p:blipFill>
        <p:spPr>
          <a:xfrm>
            <a:off x="13365480" y="228600"/>
            <a:ext cx="1036320" cy="4533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4964" y="522446"/>
            <a:ext cx="10693598" cy="593646"/>
          </a:xfrm>
          <a:prstGeom prst="rect">
            <a:avLst/>
          </a:prstGeom>
          <a:noFill/>
          <a:ln/>
        </p:spPr>
        <p:txBody>
          <a:bodyPr wrap="none" lIns="0" tIns="0" rIns="0" bIns="0" rtlCol="0" anchor="t"/>
          <a:lstStyle/>
          <a:p>
            <a:pPr marL="0" indent="0" algn="l">
              <a:lnSpc>
                <a:spcPts val="4650"/>
              </a:lnSpc>
              <a:buNone/>
            </a:pPr>
            <a:r>
              <a:rPr lang="en-GB" sz="3700" b="1" noProof="0">
                <a:solidFill>
                  <a:srgbClr val="003865"/>
                </a:solidFill>
                <a:latin typeface="Arial" panose="020B0604020202020204" pitchFamily="34" charset="0"/>
                <a:ea typeface="Inter Bold" pitchFamily="34" charset="-122"/>
                <a:cs typeface="Arial" panose="020B0604020202020204" pitchFamily="34" charset="0"/>
              </a:rPr>
              <a:t>Board of Examiners Composition and Function</a:t>
            </a:r>
            <a:endParaRPr lang="en-GB" sz="3700" noProof="0">
              <a:latin typeface="Arial" panose="020B0604020202020204" pitchFamily="34" charset="0"/>
              <a:cs typeface="Arial" panose="020B0604020202020204" pitchFamily="34" charset="0"/>
            </a:endParaRPr>
          </a:p>
        </p:txBody>
      </p:sp>
      <p:sp>
        <p:nvSpPr>
          <p:cNvPr id="3" name="Text 1"/>
          <p:cNvSpPr/>
          <p:nvPr/>
        </p:nvSpPr>
        <p:spPr>
          <a:xfrm>
            <a:off x="2058591" y="2006679"/>
            <a:ext cx="2374821" cy="296823"/>
          </a:xfrm>
          <a:prstGeom prst="rect">
            <a:avLst/>
          </a:prstGeom>
          <a:noFill/>
          <a:ln/>
        </p:spPr>
        <p:txBody>
          <a:bodyPr wrap="none" lIns="0" tIns="0" rIns="0" bIns="0" rtlCol="0" anchor="t"/>
          <a:lstStyle/>
          <a:p>
            <a:pPr marL="0" indent="0" algn="r">
              <a:lnSpc>
                <a:spcPts val="230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Board Membership</a:t>
            </a:r>
            <a:endParaRPr lang="en-GB" sz="1850" noProof="0">
              <a:latin typeface="Arial" panose="020B0604020202020204" pitchFamily="34" charset="0"/>
              <a:cs typeface="Arial" panose="020B0604020202020204" pitchFamily="34" charset="0"/>
            </a:endParaRPr>
          </a:p>
        </p:txBody>
      </p:sp>
      <p:sp>
        <p:nvSpPr>
          <p:cNvPr id="4" name="Text 2"/>
          <p:cNvSpPr/>
          <p:nvPr/>
        </p:nvSpPr>
        <p:spPr>
          <a:xfrm>
            <a:off x="664964" y="2417445"/>
            <a:ext cx="3768447" cy="607933"/>
          </a:xfrm>
          <a:prstGeom prst="rect">
            <a:avLst/>
          </a:prstGeom>
          <a:noFill/>
          <a:ln/>
        </p:spPr>
        <p:txBody>
          <a:bodyPr wrap="square" lIns="0" tIns="0" rIns="0" bIns="0" rtlCol="0" anchor="t"/>
          <a:lstStyle/>
          <a:p>
            <a:pPr marL="0" indent="0" algn="r">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Internal and External Examiners plus Assessment Officers</a:t>
            </a:r>
          </a:p>
          <a:p>
            <a:pPr marL="0" indent="0" algn="r">
              <a:lnSpc>
                <a:spcPts val="2350"/>
              </a:lnSpc>
              <a:buNone/>
            </a:pPr>
            <a:r>
              <a:rPr lang="en-GB" sz="1450" noProof="0">
                <a:solidFill>
                  <a:srgbClr val="003865"/>
                </a:solidFill>
                <a:latin typeface="Arial" panose="020B0604020202020204" pitchFamily="34" charset="0"/>
                <a:cs typeface="Arial" panose="020B0604020202020204" pitchFamily="34" charset="0"/>
              </a:rPr>
              <a:t>(EE’s functions can be discharged by email but should be present for at least one board per year)</a:t>
            </a:r>
            <a:endParaRPr lang="en-GB" sz="1450" noProof="0">
              <a:latin typeface="Arial" panose="020B0604020202020204" pitchFamily="34" charset="0"/>
              <a:cs typeface="Arial" panose="020B0604020202020204" pitchFamily="34" charset="0"/>
            </a:endParaRPr>
          </a:p>
        </p:txBody>
      </p:sp>
      <p:pic>
        <p:nvPicPr>
          <p:cNvPr id="5" name="Image 0" descr="preencoded.png"/>
          <p:cNvPicPr>
            <a:picLocks noChangeAspect="1"/>
          </p:cNvPicPr>
          <p:nvPr/>
        </p:nvPicPr>
        <p:blipFill>
          <a:blip r:embed="rId3"/>
          <a:stretch>
            <a:fillRect/>
          </a:stretch>
        </p:blipFill>
        <p:spPr>
          <a:xfrm>
            <a:off x="4718328" y="1496020"/>
            <a:ext cx="4365188" cy="4365188"/>
          </a:xfrm>
          <a:prstGeom prst="rect">
            <a:avLst/>
          </a:prstGeom>
        </p:spPr>
      </p:pic>
      <p:pic>
        <p:nvPicPr>
          <p:cNvPr id="6" name="Image 1" descr="preencoded.png"/>
          <p:cNvPicPr>
            <a:picLocks noChangeAspect="1"/>
          </p:cNvPicPr>
          <p:nvPr/>
        </p:nvPicPr>
        <p:blipFill>
          <a:blip r:embed="rId4"/>
          <a:stretch>
            <a:fillRect/>
          </a:stretch>
        </p:blipFill>
        <p:spPr>
          <a:xfrm>
            <a:off x="5880318" y="2250817"/>
            <a:ext cx="284202" cy="355283"/>
          </a:xfrm>
          <a:prstGeom prst="rect">
            <a:avLst/>
          </a:prstGeom>
        </p:spPr>
      </p:pic>
      <p:sp>
        <p:nvSpPr>
          <p:cNvPr id="7" name="Text 3"/>
          <p:cNvSpPr/>
          <p:nvPr/>
        </p:nvSpPr>
        <p:spPr>
          <a:xfrm>
            <a:off x="9368433" y="2006679"/>
            <a:ext cx="2374821" cy="296823"/>
          </a:xfrm>
          <a:prstGeom prst="rect">
            <a:avLst/>
          </a:prstGeom>
          <a:noFill/>
          <a:ln/>
        </p:spPr>
        <p:txBody>
          <a:bodyPr wrap="none" lIns="0" tIns="0" rIns="0" bIns="0" rtlCol="0" anchor="t"/>
          <a:lstStyle/>
          <a:p>
            <a:pPr marL="0" indent="0" algn="l">
              <a:lnSpc>
                <a:spcPts val="2300"/>
              </a:lnSpc>
              <a:buNone/>
            </a:pPr>
            <a:r>
              <a:rPr lang="en-GB" sz="1850" b="1" noProof="0" err="1">
                <a:solidFill>
                  <a:srgbClr val="003865"/>
                </a:solidFill>
                <a:latin typeface="Arial" panose="020B0604020202020204" pitchFamily="34" charset="0"/>
                <a:ea typeface="Inter Bold" pitchFamily="34" charset="-122"/>
                <a:cs typeface="Arial" panose="020B0604020202020204" pitchFamily="34" charset="0"/>
              </a:rPr>
              <a:t>Convenership</a:t>
            </a:r>
            <a:endParaRPr lang="en-GB" sz="1850" noProof="0">
              <a:latin typeface="Arial" panose="020B0604020202020204" pitchFamily="34" charset="0"/>
              <a:cs typeface="Arial" panose="020B0604020202020204" pitchFamily="34" charset="0"/>
            </a:endParaRPr>
          </a:p>
        </p:txBody>
      </p:sp>
      <p:sp>
        <p:nvSpPr>
          <p:cNvPr id="8" name="Text 4"/>
          <p:cNvSpPr/>
          <p:nvPr/>
        </p:nvSpPr>
        <p:spPr>
          <a:xfrm>
            <a:off x="9368433" y="2417445"/>
            <a:ext cx="3768566" cy="607933"/>
          </a:xfrm>
          <a:prstGeom prst="rect">
            <a:avLst/>
          </a:prstGeom>
          <a:noFill/>
          <a:ln/>
        </p:spPr>
        <p:txBody>
          <a:bodyPr wrap="squar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Head of School (or Nominee) acts as convenor for all proceedings</a:t>
            </a:r>
            <a:endParaRPr lang="en-GB" sz="1450" noProof="0">
              <a:latin typeface="Arial" panose="020B0604020202020204" pitchFamily="34" charset="0"/>
              <a:cs typeface="Arial" panose="020B0604020202020204" pitchFamily="34" charset="0"/>
            </a:endParaRPr>
          </a:p>
        </p:txBody>
      </p:sp>
      <p:pic>
        <p:nvPicPr>
          <p:cNvPr id="9" name="Image 2" descr="preencoded.png"/>
          <p:cNvPicPr>
            <a:picLocks noChangeAspect="1"/>
          </p:cNvPicPr>
          <p:nvPr/>
        </p:nvPicPr>
        <p:blipFill>
          <a:blip r:embed="rId5"/>
          <a:stretch>
            <a:fillRect/>
          </a:stretch>
        </p:blipFill>
        <p:spPr>
          <a:xfrm>
            <a:off x="4718328" y="1496020"/>
            <a:ext cx="4365188" cy="4365188"/>
          </a:xfrm>
          <a:prstGeom prst="rect">
            <a:avLst/>
          </a:prstGeom>
        </p:spPr>
      </p:pic>
      <p:pic>
        <p:nvPicPr>
          <p:cNvPr id="10" name="Image 3" descr="preencoded.png"/>
          <p:cNvPicPr>
            <a:picLocks noChangeAspect="1"/>
          </p:cNvPicPr>
          <p:nvPr/>
        </p:nvPicPr>
        <p:blipFill>
          <a:blip r:embed="rId6"/>
          <a:stretch>
            <a:fillRect/>
          </a:stretch>
        </p:blipFill>
        <p:spPr>
          <a:xfrm>
            <a:off x="8008799" y="2622411"/>
            <a:ext cx="284202" cy="355283"/>
          </a:xfrm>
          <a:prstGeom prst="rect">
            <a:avLst/>
          </a:prstGeom>
        </p:spPr>
      </p:pic>
      <p:sp>
        <p:nvSpPr>
          <p:cNvPr id="11" name="Text 5"/>
          <p:cNvSpPr/>
          <p:nvPr/>
        </p:nvSpPr>
        <p:spPr>
          <a:xfrm>
            <a:off x="9368433" y="4331732"/>
            <a:ext cx="2374821" cy="296823"/>
          </a:xfrm>
          <a:prstGeom prst="rect">
            <a:avLst/>
          </a:prstGeom>
          <a:noFill/>
          <a:ln/>
        </p:spPr>
        <p:txBody>
          <a:bodyPr wrap="none" lIns="0" tIns="0" rIns="0" bIns="0" rtlCol="0" anchor="t"/>
          <a:lstStyle/>
          <a:p>
            <a:pPr marL="0" indent="0" algn="l">
              <a:lnSpc>
                <a:spcPts val="230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Primary Function</a:t>
            </a:r>
            <a:endParaRPr lang="en-GB" sz="1850" noProof="0">
              <a:latin typeface="Arial" panose="020B0604020202020204" pitchFamily="34" charset="0"/>
              <a:cs typeface="Arial" panose="020B0604020202020204" pitchFamily="34" charset="0"/>
            </a:endParaRPr>
          </a:p>
        </p:txBody>
      </p:sp>
      <p:sp>
        <p:nvSpPr>
          <p:cNvPr id="12" name="Text 6"/>
          <p:cNvSpPr/>
          <p:nvPr/>
        </p:nvSpPr>
        <p:spPr>
          <a:xfrm>
            <a:off x="9368433" y="4742498"/>
            <a:ext cx="3768566" cy="607933"/>
          </a:xfrm>
          <a:prstGeom prst="rect">
            <a:avLst/>
          </a:prstGeom>
          <a:noFill/>
          <a:ln/>
        </p:spPr>
        <p:txBody>
          <a:bodyPr wrap="squar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Determination of assessment results through collective review</a:t>
            </a:r>
            <a:endParaRPr lang="en-GB" sz="1450" b="1" noProof="0">
              <a:latin typeface="Arial" panose="020B0604020202020204" pitchFamily="34" charset="0"/>
              <a:cs typeface="Arial" panose="020B0604020202020204" pitchFamily="34" charset="0"/>
            </a:endParaRPr>
          </a:p>
        </p:txBody>
      </p:sp>
      <p:pic>
        <p:nvPicPr>
          <p:cNvPr id="13" name="Image 4" descr="preencoded.png"/>
          <p:cNvPicPr>
            <a:picLocks noChangeAspect="1"/>
          </p:cNvPicPr>
          <p:nvPr/>
        </p:nvPicPr>
        <p:blipFill>
          <a:blip r:embed="rId7"/>
          <a:stretch>
            <a:fillRect/>
          </a:stretch>
        </p:blipFill>
        <p:spPr>
          <a:xfrm>
            <a:off x="4718328" y="1496020"/>
            <a:ext cx="4365188" cy="4365188"/>
          </a:xfrm>
          <a:prstGeom prst="rect">
            <a:avLst/>
          </a:prstGeom>
        </p:spPr>
      </p:pic>
      <p:pic>
        <p:nvPicPr>
          <p:cNvPr id="14" name="Image 5" descr="preencoded.png"/>
          <p:cNvPicPr>
            <a:picLocks noChangeAspect="1"/>
          </p:cNvPicPr>
          <p:nvPr/>
        </p:nvPicPr>
        <p:blipFill>
          <a:blip r:embed="rId8"/>
          <a:stretch>
            <a:fillRect/>
          </a:stretch>
        </p:blipFill>
        <p:spPr>
          <a:xfrm>
            <a:off x="7637205" y="4750891"/>
            <a:ext cx="284202" cy="355283"/>
          </a:xfrm>
          <a:prstGeom prst="rect">
            <a:avLst/>
          </a:prstGeom>
        </p:spPr>
      </p:pic>
      <p:sp>
        <p:nvSpPr>
          <p:cNvPr id="15" name="Text 7"/>
          <p:cNvSpPr/>
          <p:nvPr/>
        </p:nvSpPr>
        <p:spPr>
          <a:xfrm>
            <a:off x="2058591" y="4331732"/>
            <a:ext cx="2374821" cy="296823"/>
          </a:xfrm>
          <a:prstGeom prst="rect">
            <a:avLst/>
          </a:prstGeom>
          <a:noFill/>
          <a:ln/>
        </p:spPr>
        <p:txBody>
          <a:bodyPr wrap="none" lIns="0" tIns="0" rIns="0" bIns="0" rtlCol="0" anchor="t"/>
          <a:lstStyle/>
          <a:p>
            <a:pPr marL="0" indent="0" algn="r">
              <a:lnSpc>
                <a:spcPts val="230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Quality Assurance</a:t>
            </a:r>
            <a:endParaRPr lang="en-GB" sz="1850" noProof="0">
              <a:latin typeface="Arial" panose="020B0604020202020204" pitchFamily="34" charset="0"/>
              <a:cs typeface="Arial" panose="020B0604020202020204" pitchFamily="34" charset="0"/>
            </a:endParaRPr>
          </a:p>
        </p:txBody>
      </p:sp>
      <p:sp>
        <p:nvSpPr>
          <p:cNvPr id="16" name="Text 8"/>
          <p:cNvSpPr/>
          <p:nvPr/>
        </p:nvSpPr>
        <p:spPr>
          <a:xfrm>
            <a:off x="664964" y="4742498"/>
            <a:ext cx="3768447" cy="607933"/>
          </a:xfrm>
          <a:prstGeom prst="rect">
            <a:avLst/>
          </a:prstGeom>
          <a:noFill/>
          <a:ln/>
        </p:spPr>
        <p:txBody>
          <a:bodyPr wrap="square" lIns="0" tIns="0" rIns="0" bIns="0" rtlCol="0" anchor="t"/>
          <a:lstStyle/>
          <a:p>
            <a:pPr marL="0" indent="0" algn="r">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Authentication of results before </a:t>
            </a:r>
            <a:br>
              <a:rPr lang="en-GB" sz="1450" noProof="0">
                <a:solidFill>
                  <a:srgbClr val="003865"/>
                </a:solidFill>
                <a:latin typeface="Arial" panose="020B0604020202020204" pitchFamily="34" charset="0"/>
                <a:ea typeface="Inter" pitchFamily="34" charset="-122"/>
                <a:cs typeface="Arial" panose="020B0604020202020204" pitchFamily="34" charset="0"/>
              </a:rPr>
            </a:br>
            <a:r>
              <a:rPr lang="en-GB" sz="1450" noProof="0">
                <a:solidFill>
                  <a:srgbClr val="003865"/>
                </a:solidFill>
                <a:latin typeface="Arial" panose="020B0604020202020204" pitchFamily="34" charset="0"/>
                <a:ea typeface="Inter" pitchFamily="34" charset="-122"/>
                <a:cs typeface="Arial" panose="020B0604020202020204" pitchFamily="34" charset="0"/>
              </a:rPr>
              <a:t>submission to Registry</a:t>
            </a:r>
            <a:endParaRPr lang="en-GB" sz="1450" noProof="0">
              <a:latin typeface="Arial" panose="020B0604020202020204" pitchFamily="34" charset="0"/>
              <a:cs typeface="Arial" panose="020B0604020202020204" pitchFamily="34" charset="0"/>
            </a:endParaRPr>
          </a:p>
        </p:txBody>
      </p:sp>
      <p:pic>
        <p:nvPicPr>
          <p:cNvPr id="17" name="Image 6" descr="preencoded.png"/>
          <p:cNvPicPr>
            <a:picLocks noChangeAspect="1"/>
          </p:cNvPicPr>
          <p:nvPr/>
        </p:nvPicPr>
        <p:blipFill>
          <a:blip r:embed="rId9"/>
          <a:stretch>
            <a:fillRect/>
          </a:stretch>
        </p:blipFill>
        <p:spPr>
          <a:xfrm>
            <a:off x="4718328" y="1496020"/>
            <a:ext cx="4365188" cy="4365188"/>
          </a:xfrm>
          <a:prstGeom prst="rect">
            <a:avLst/>
          </a:prstGeom>
        </p:spPr>
      </p:pic>
      <p:pic>
        <p:nvPicPr>
          <p:cNvPr id="18" name="Image 7" descr="preencoded.png"/>
          <p:cNvPicPr>
            <a:picLocks noChangeAspect="1"/>
          </p:cNvPicPr>
          <p:nvPr/>
        </p:nvPicPr>
        <p:blipFill>
          <a:blip r:embed="rId10"/>
          <a:stretch>
            <a:fillRect/>
          </a:stretch>
        </p:blipFill>
        <p:spPr>
          <a:xfrm>
            <a:off x="5508724" y="4379297"/>
            <a:ext cx="284202" cy="355283"/>
          </a:xfrm>
          <a:prstGeom prst="rect">
            <a:avLst/>
          </a:prstGeom>
        </p:spPr>
      </p:pic>
      <p:sp>
        <p:nvSpPr>
          <p:cNvPr id="19" name="Text 9"/>
          <p:cNvSpPr/>
          <p:nvPr/>
        </p:nvSpPr>
        <p:spPr>
          <a:xfrm>
            <a:off x="664964" y="6074926"/>
            <a:ext cx="12472035" cy="911900"/>
          </a:xfrm>
          <a:prstGeom prst="rect">
            <a:avLst/>
          </a:prstGeom>
          <a:noFill/>
          <a:ln/>
        </p:spPr>
        <p:txBody>
          <a:bodyPr wrap="squar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The Board of Examiners serves as the authoritative body for determining assessment outcomes. It provides a forum where both internal academic perspective and external independent oversight converge to ensure academic standards are maintained. The Head of School's </a:t>
            </a:r>
            <a:r>
              <a:rPr lang="en-GB" sz="1450" noProof="0" err="1">
                <a:solidFill>
                  <a:srgbClr val="003865"/>
                </a:solidFill>
                <a:latin typeface="Arial" panose="020B0604020202020204" pitchFamily="34" charset="0"/>
                <a:ea typeface="Inter" pitchFamily="34" charset="-122"/>
                <a:cs typeface="Arial" panose="020B0604020202020204" pitchFamily="34" charset="0"/>
              </a:rPr>
              <a:t>convenership</a:t>
            </a:r>
            <a:r>
              <a:rPr lang="en-GB" sz="1450" noProof="0">
                <a:solidFill>
                  <a:srgbClr val="003865"/>
                </a:solidFill>
                <a:latin typeface="Arial" panose="020B0604020202020204" pitchFamily="34" charset="0"/>
                <a:ea typeface="Inter" pitchFamily="34" charset="-122"/>
                <a:cs typeface="Arial" panose="020B0604020202020204" pitchFamily="34" charset="0"/>
              </a:rPr>
              <a:t> ensures appropriate institutional authority is exercised in the assessment process.</a:t>
            </a:r>
            <a:endParaRPr lang="en-GB" sz="1450" noProof="0">
              <a:latin typeface="Arial" panose="020B0604020202020204" pitchFamily="34" charset="0"/>
              <a:cs typeface="Arial" panose="020B0604020202020204" pitchFamily="34" charset="0"/>
            </a:endParaRPr>
          </a:p>
        </p:txBody>
      </p:sp>
      <p:sp>
        <p:nvSpPr>
          <p:cNvPr id="20" name="Text 10"/>
          <p:cNvSpPr/>
          <p:nvPr/>
        </p:nvSpPr>
        <p:spPr>
          <a:xfrm>
            <a:off x="664964" y="7200543"/>
            <a:ext cx="12472035" cy="607933"/>
          </a:xfrm>
          <a:prstGeom prst="rect">
            <a:avLst/>
          </a:prstGeom>
          <a:noFill/>
          <a:ln/>
        </p:spPr>
        <p:txBody>
          <a:bodyPr wrap="squar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External Examiners must be provided with all necessary assessment materials and, where practicable, opportunities to attend oral examinations and presentations to facilitate their crucial role in the quality assurance process.</a:t>
            </a:r>
            <a:endParaRPr lang="en-GB" sz="1450" noProof="0">
              <a:latin typeface="Arial" panose="020B0604020202020204" pitchFamily="34" charset="0"/>
              <a:cs typeface="Arial" panose="020B0604020202020204" pitchFamily="34" charset="0"/>
            </a:endParaRPr>
          </a:p>
        </p:txBody>
      </p:sp>
      <p:pic>
        <p:nvPicPr>
          <p:cNvPr id="21" name="Image 8" descr="preencoded.png"/>
          <p:cNvPicPr>
            <a:picLocks noChangeAspect="1"/>
          </p:cNvPicPr>
          <p:nvPr/>
        </p:nvPicPr>
        <p:blipFill>
          <a:blip r:embed="rId11"/>
          <a:stretch>
            <a:fillRect/>
          </a:stretch>
        </p:blipFill>
        <p:spPr>
          <a:xfrm>
            <a:off x="13365480" y="228600"/>
            <a:ext cx="1036320" cy="4533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91741" y="713542"/>
            <a:ext cx="7469267" cy="528280"/>
          </a:xfrm>
          <a:prstGeom prst="rect">
            <a:avLst/>
          </a:prstGeom>
          <a:noFill/>
          <a:ln/>
        </p:spPr>
        <p:txBody>
          <a:bodyPr wrap="none" lIns="0" tIns="0" rIns="0" bIns="0" rtlCol="0" anchor="t"/>
          <a:lstStyle/>
          <a:p>
            <a:pPr marL="0" indent="0" algn="l">
              <a:lnSpc>
                <a:spcPts val="4150"/>
              </a:lnSpc>
              <a:buNone/>
            </a:pPr>
            <a:r>
              <a:rPr lang="en-GB" sz="3300" b="1" noProof="0">
                <a:solidFill>
                  <a:srgbClr val="003865"/>
                </a:solidFill>
                <a:latin typeface="Arial" panose="020B0604020202020204" pitchFamily="34" charset="0"/>
                <a:ea typeface="Inter Bold" pitchFamily="34" charset="-122"/>
                <a:cs typeface="Arial" panose="020B0604020202020204" pitchFamily="34" charset="0"/>
              </a:rPr>
              <a:t>Assessment Officer Responsibilities</a:t>
            </a:r>
            <a:endParaRPr lang="en-GB" sz="3300" noProof="0">
              <a:latin typeface="Arial" panose="020B0604020202020204" pitchFamily="34" charset="0"/>
              <a:cs typeface="Arial" panose="020B0604020202020204" pitchFamily="34" charset="0"/>
            </a:endParaRPr>
          </a:p>
        </p:txBody>
      </p:sp>
      <p:pic>
        <p:nvPicPr>
          <p:cNvPr id="4" name="Image 1" descr="preencoded.png"/>
          <p:cNvPicPr>
            <a:picLocks noChangeAspect="1"/>
          </p:cNvPicPr>
          <p:nvPr/>
        </p:nvPicPr>
        <p:blipFill>
          <a:blip r:embed="rId4"/>
          <a:stretch>
            <a:fillRect/>
          </a:stretch>
        </p:blipFill>
        <p:spPr>
          <a:xfrm>
            <a:off x="591741" y="1495425"/>
            <a:ext cx="845344" cy="1244679"/>
          </a:xfrm>
          <a:prstGeom prst="rect">
            <a:avLst/>
          </a:prstGeom>
        </p:spPr>
      </p:pic>
      <p:sp>
        <p:nvSpPr>
          <p:cNvPr id="5" name="Text 1"/>
          <p:cNvSpPr/>
          <p:nvPr/>
        </p:nvSpPr>
        <p:spPr>
          <a:xfrm>
            <a:off x="1690688" y="1664494"/>
            <a:ext cx="2994898" cy="264081"/>
          </a:xfrm>
          <a:prstGeom prst="rect">
            <a:avLst/>
          </a:prstGeom>
          <a:noFill/>
          <a:ln/>
        </p:spPr>
        <p:txBody>
          <a:bodyPr wrap="none" lIns="0" tIns="0" rIns="0" bIns="0" rtlCol="0" anchor="t"/>
          <a:lstStyle/>
          <a:p>
            <a:pPr marL="0" indent="0" algn="l">
              <a:lnSpc>
                <a:spcPts val="2050"/>
              </a:lnSpc>
              <a:buNone/>
            </a:pPr>
            <a:r>
              <a:rPr lang="en-GB" sz="1650" b="1" noProof="0">
                <a:solidFill>
                  <a:srgbClr val="003865"/>
                </a:solidFill>
                <a:latin typeface="Arial" panose="020B0604020202020204" pitchFamily="34" charset="0"/>
                <a:ea typeface="Inter Bold" pitchFamily="34" charset="-122"/>
                <a:cs typeface="Arial" panose="020B0604020202020204" pitchFamily="34" charset="0"/>
              </a:rPr>
              <a:t>Documentation Management</a:t>
            </a:r>
            <a:endParaRPr lang="en-GB" sz="1650" noProof="0">
              <a:latin typeface="Arial" panose="020B0604020202020204" pitchFamily="34" charset="0"/>
              <a:cs typeface="Arial" panose="020B0604020202020204" pitchFamily="34" charset="0"/>
            </a:endParaRPr>
          </a:p>
        </p:txBody>
      </p:sp>
      <p:sp>
        <p:nvSpPr>
          <p:cNvPr id="6" name="Text 2"/>
          <p:cNvSpPr/>
          <p:nvPr/>
        </p:nvSpPr>
        <p:spPr>
          <a:xfrm>
            <a:off x="1690688" y="2030016"/>
            <a:ext cx="6861572" cy="541020"/>
          </a:xfrm>
          <a:prstGeom prst="rect">
            <a:avLst/>
          </a:prstGeom>
          <a:noFill/>
          <a:ln/>
        </p:spPr>
        <p:txBody>
          <a:bodyPr wrap="square" lIns="0" tIns="0" rIns="0" bIns="0" rtlCol="0" anchor="t"/>
          <a:lstStyle/>
          <a:p>
            <a:pPr marL="0" indent="0" algn="l">
              <a:lnSpc>
                <a:spcPts val="2100"/>
              </a:lnSpc>
              <a:buNone/>
            </a:pPr>
            <a:r>
              <a:rPr lang="en-GB" sz="1300" noProof="0">
                <a:solidFill>
                  <a:srgbClr val="003865"/>
                </a:solidFill>
                <a:latin typeface="Arial" panose="020B0604020202020204" pitchFamily="34" charset="0"/>
                <a:ea typeface="Inter" pitchFamily="34" charset="-122"/>
                <a:cs typeface="Arial" panose="020B0604020202020204" pitchFamily="34" charset="0"/>
              </a:rPr>
              <a:t>Ensure course documentation accurately describes assessment schemes and procedures</a:t>
            </a:r>
            <a:endParaRPr lang="en-GB" sz="1300" noProof="0">
              <a:latin typeface="Arial" panose="020B0604020202020204" pitchFamily="34" charset="0"/>
              <a:cs typeface="Arial" panose="020B0604020202020204" pitchFamily="34" charset="0"/>
            </a:endParaRPr>
          </a:p>
        </p:txBody>
      </p:sp>
      <p:pic>
        <p:nvPicPr>
          <p:cNvPr id="7" name="Image 2" descr="preencoded.png"/>
          <p:cNvPicPr>
            <a:picLocks noChangeAspect="1"/>
          </p:cNvPicPr>
          <p:nvPr/>
        </p:nvPicPr>
        <p:blipFill>
          <a:blip r:embed="rId5"/>
          <a:stretch>
            <a:fillRect/>
          </a:stretch>
        </p:blipFill>
        <p:spPr>
          <a:xfrm>
            <a:off x="591741" y="2740104"/>
            <a:ext cx="845344" cy="1244679"/>
          </a:xfrm>
          <a:prstGeom prst="rect">
            <a:avLst/>
          </a:prstGeom>
        </p:spPr>
      </p:pic>
      <p:sp>
        <p:nvSpPr>
          <p:cNvPr id="8" name="Text 3"/>
          <p:cNvSpPr/>
          <p:nvPr/>
        </p:nvSpPr>
        <p:spPr>
          <a:xfrm>
            <a:off x="1690688" y="2909173"/>
            <a:ext cx="2113478" cy="264081"/>
          </a:xfrm>
          <a:prstGeom prst="rect">
            <a:avLst/>
          </a:prstGeom>
          <a:noFill/>
          <a:ln/>
        </p:spPr>
        <p:txBody>
          <a:bodyPr wrap="none" lIns="0" tIns="0" rIns="0" bIns="0" rtlCol="0" anchor="t"/>
          <a:lstStyle/>
          <a:p>
            <a:pPr marL="0" indent="0" algn="l">
              <a:lnSpc>
                <a:spcPts val="2050"/>
              </a:lnSpc>
              <a:buNone/>
            </a:pPr>
            <a:r>
              <a:rPr lang="en-GB" sz="1650" b="1" noProof="0">
                <a:solidFill>
                  <a:srgbClr val="003865"/>
                </a:solidFill>
                <a:latin typeface="Arial" panose="020B0604020202020204" pitchFamily="34" charset="0"/>
                <a:ea typeface="Inter Bold" pitchFamily="34" charset="-122"/>
                <a:cs typeface="Arial" panose="020B0604020202020204" pitchFamily="34" charset="0"/>
              </a:rPr>
              <a:t>Security Protocols</a:t>
            </a:r>
            <a:endParaRPr lang="en-GB" sz="1650" noProof="0">
              <a:latin typeface="Arial" panose="020B0604020202020204" pitchFamily="34" charset="0"/>
              <a:cs typeface="Arial" panose="020B0604020202020204" pitchFamily="34" charset="0"/>
            </a:endParaRPr>
          </a:p>
        </p:txBody>
      </p:sp>
      <p:sp>
        <p:nvSpPr>
          <p:cNvPr id="9" name="Text 4"/>
          <p:cNvSpPr/>
          <p:nvPr/>
        </p:nvSpPr>
        <p:spPr>
          <a:xfrm>
            <a:off x="1690688" y="3274695"/>
            <a:ext cx="6861572" cy="541020"/>
          </a:xfrm>
          <a:prstGeom prst="rect">
            <a:avLst/>
          </a:prstGeom>
          <a:noFill/>
          <a:ln/>
        </p:spPr>
        <p:txBody>
          <a:bodyPr wrap="square" lIns="0" tIns="0" rIns="0" bIns="0" rtlCol="0" anchor="t"/>
          <a:lstStyle/>
          <a:p>
            <a:pPr marL="0" indent="0" algn="l">
              <a:lnSpc>
                <a:spcPts val="2100"/>
              </a:lnSpc>
              <a:buNone/>
            </a:pPr>
            <a:r>
              <a:rPr lang="en-GB" sz="1300" noProof="0">
                <a:solidFill>
                  <a:srgbClr val="003865"/>
                </a:solidFill>
                <a:latin typeface="Arial" panose="020B0604020202020204" pitchFamily="34" charset="0"/>
                <a:ea typeface="Inter" pitchFamily="34" charset="-122"/>
                <a:cs typeface="Arial" panose="020B0604020202020204" pitchFamily="34" charset="0"/>
              </a:rPr>
              <a:t>Maintain security of examination papers, assessed work, and records throughout the assessment period</a:t>
            </a:r>
            <a:endParaRPr lang="en-GB" sz="1300" noProof="0">
              <a:latin typeface="Arial" panose="020B0604020202020204" pitchFamily="34" charset="0"/>
              <a:cs typeface="Arial" panose="020B0604020202020204" pitchFamily="34" charset="0"/>
            </a:endParaRPr>
          </a:p>
        </p:txBody>
      </p:sp>
      <p:pic>
        <p:nvPicPr>
          <p:cNvPr id="10" name="Image 3" descr="preencoded.png"/>
          <p:cNvPicPr>
            <a:picLocks noChangeAspect="1"/>
          </p:cNvPicPr>
          <p:nvPr/>
        </p:nvPicPr>
        <p:blipFill>
          <a:blip r:embed="rId6"/>
          <a:stretch>
            <a:fillRect/>
          </a:stretch>
        </p:blipFill>
        <p:spPr>
          <a:xfrm>
            <a:off x="591741" y="3984784"/>
            <a:ext cx="845344" cy="1014413"/>
          </a:xfrm>
          <a:prstGeom prst="rect">
            <a:avLst/>
          </a:prstGeom>
        </p:spPr>
      </p:pic>
      <p:sp>
        <p:nvSpPr>
          <p:cNvPr id="11" name="Text 5"/>
          <p:cNvSpPr/>
          <p:nvPr/>
        </p:nvSpPr>
        <p:spPr>
          <a:xfrm>
            <a:off x="1690688" y="4153853"/>
            <a:ext cx="2895719" cy="264081"/>
          </a:xfrm>
          <a:prstGeom prst="rect">
            <a:avLst/>
          </a:prstGeom>
          <a:noFill/>
          <a:ln/>
        </p:spPr>
        <p:txBody>
          <a:bodyPr wrap="none" lIns="0" tIns="0" rIns="0" bIns="0" rtlCol="0" anchor="t"/>
          <a:lstStyle/>
          <a:p>
            <a:pPr marL="0" indent="0" algn="l">
              <a:lnSpc>
                <a:spcPts val="2050"/>
              </a:lnSpc>
              <a:buNone/>
            </a:pPr>
            <a:r>
              <a:rPr lang="en-GB" sz="1650" b="1" noProof="0">
                <a:solidFill>
                  <a:srgbClr val="003865"/>
                </a:solidFill>
                <a:latin typeface="Arial" panose="020B0604020202020204" pitchFamily="34" charset="0"/>
                <a:ea typeface="Inter Bold" pitchFamily="34" charset="-122"/>
                <a:cs typeface="Arial" panose="020B0604020202020204" pitchFamily="34" charset="0"/>
              </a:rPr>
              <a:t>Administrative Coordination</a:t>
            </a:r>
            <a:endParaRPr lang="en-GB" sz="1650" noProof="0">
              <a:latin typeface="Arial" panose="020B0604020202020204" pitchFamily="34" charset="0"/>
              <a:cs typeface="Arial" panose="020B0604020202020204" pitchFamily="34" charset="0"/>
            </a:endParaRPr>
          </a:p>
        </p:txBody>
      </p:sp>
      <p:sp>
        <p:nvSpPr>
          <p:cNvPr id="12" name="Text 6"/>
          <p:cNvSpPr/>
          <p:nvPr/>
        </p:nvSpPr>
        <p:spPr>
          <a:xfrm>
            <a:off x="1690688" y="4519374"/>
            <a:ext cx="6861572" cy="270510"/>
          </a:xfrm>
          <a:prstGeom prst="rect">
            <a:avLst/>
          </a:prstGeom>
          <a:noFill/>
          <a:ln/>
        </p:spPr>
        <p:txBody>
          <a:bodyPr wrap="none" lIns="0" tIns="0" rIns="0" bIns="0" rtlCol="0" anchor="t"/>
          <a:lstStyle/>
          <a:p>
            <a:pPr marL="0" indent="0" algn="l">
              <a:lnSpc>
                <a:spcPts val="2100"/>
              </a:lnSpc>
              <a:buNone/>
            </a:pPr>
            <a:r>
              <a:rPr lang="en-GB" sz="1300" noProof="0">
                <a:solidFill>
                  <a:srgbClr val="003865"/>
                </a:solidFill>
                <a:latin typeface="Arial" panose="020B0604020202020204" pitchFamily="34" charset="0"/>
                <a:ea typeface="Inter" pitchFamily="34" charset="-122"/>
                <a:cs typeface="Arial" panose="020B0604020202020204" pitchFamily="34" charset="0"/>
              </a:rPr>
              <a:t>Supervise candidate lists, submission recording, and special needs arrangements</a:t>
            </a:r>
            <a:endParaRPr lang="en-GB" sz="1300" noProof="0">
              <a:latin typeface="Arial" panose="020B0604020202020204" pitchFamily="34" charset="0"/>
              <a:cs typeface="Arial" panose="020B0604020202020204" pitchFamily="34" charset="0"/>
            </a:endParaRPr>
          </a:p>
        </p:txBody>
      </p:sp>
      <p:pic>
        <p:nvPicPr>
          <p:cNvPr id="13" name="Image 4" descr="preencoded.png"/>
          <p:cNvPicPr>
            <a:picLocks noChangeAspect="1"/>
          </p:cNvPicPr>
          <p:nvPr/>
        </p:nvPicPr>
        <p:blipFill>
          <a:blip r:embed="rId7"/>
          <a:stretch>
            <a:fillRect/>
          </a:stretch>
        </p:blipFill>
        <p:spPr>
          <a:xfrm>
            <a:off x="591741" y="4999196"/>
            <a:ext cx="845344" cy="1244679"/>
          </a:xfrm>
          <a:prstGeom prst="rect">
            <a:avLst/>
          </a:prstGeom>
        </p:spPr>
      </p:pic>
      <p:sp>
        <p:nvSpPr>
          <p:cNvPr id="14" name="Text 7"/>
          <p:cNvSpPr/>
          <p:nvPr/>
        </p:nvSpPr>
        <p:spPr>
          <a:xfrm>
            <a:off x="1690688" y="5168265"/>
            <a:ext cx="2113478" cy="264081"/>
          </a:xfrm>
          <a:prstGeom prst="rect">
            <a:avLst/>
          </a:prstGeom>
          <a:noFill/>
          <a:ln/>
        </p:spPr>
        <p:txBody>
          <a:bodyPr wrap="none" lIns="0" tIns="0" rIns="0" bIns="0" rtlCol="0" anchor="t"/>
          <a:lstStyle/>
          <a:p>
            <a:pPr marL="0" indent="0" algn="l">
              <a:lnSpc>
                <a:spcPts val="2050"/>
              </a:lnSpc>
              <a:buNone/>
            </a:pPr>
            <a:r>
              <a:rPr lang="en-GB" sz="1650" b="1" noProof="0">
                <a:solidFill>
                  <a:srgbClr val="003865"/>
                </a:solidFill>
                <a:latin typeface="Arial" panose="020B0604020202020204" pitchFamily="34" charset="0"/>
                <a:ea typeface="Inter Bold" pitchFamily="34" charset="-122"/>
                <a:cs typeface="Arial" panose="020B0604020202020204" pitchFamily="34" charset="0"/>
              </a:rPr>
              <a:t>Results Processing</a:t>
            </a:r>
            <a:endParaRPr lang="en-GB" sz="1650" noProof="0">
              <a:latin typeface="Arial" panose="020B0604020202020204" pitchFamily="34" charset="0"/>
              <a:cs typeface="Arial" panose="020B0604020202020204" pitchFamily="34" charset="0"/>
            </a:endParaRPr>
          </a:p>
        </p:txBody>
      </p:sp>
      <p:sp>
        <p:nvSpPr>
          <p:cNvPr id="15" name="Text 8"/>
          <p:cNvSpPr/>
          <p:nvPr/>
        </p:nvSpPr>
        <p:spPr>
          <a:xfrm>
            <a:off x="1690688" y="5533787"/>
            <a:ext cx="6861572" cy="541020"/>
          </a:xfrm>
          <a:prstGeom prst="rect">
            <a:avLst/>
          </a:prstGeom>
          <a:noFill/>
          <a:ln/>
        </p:spPr>
        <p:txBody>
          <a:bodyPr wrap="square" lIns="0" tIns="0" rIns="0" bIns="0" rtlCol="0" anchor="t"/>
          <a:lstStyle/>
          <a:p>
            <a:pPr marL="0" indent="0" algn="l">
              <a:lnSpc>
                <a:spcPts val="2100"/>
              </a:lnSpc>
              <a:buNone/>
            </a:pPr>
            <a:r>
              <a:rPr lang="en-GB" sz="1300" noProof="0">
                <a:solidFill>
                  <a:srgbClr val="003865"/>
                </a:solidFill>
                <a:latin typeface="Arial" panose="020B0604020202020204" pitchFamily="34" charset="0"/>
                <a:ea typeface="Inter" pitchFamily="34" charset="-122"/>
                <a:cs typeface="Arial" panose="020B0604020202020204" pitchFamily="34" charset="0"/>
              </a:rPr>
              <a:t>Collate provisional results, report to Board of Examiners, and convey authenticated results to Registry</a:t>
            </a:r>
            <a:endParaRPr lang="en-GB" sz="1300" noProof="0">
              <a:latin typeface="Arial" panose="020B0604020202020204" pitchFamily="34" charset="0"/>
              <a:cs typeface="Arial" panose="020B0604020202020204" pitchFamily="34" charset="0"/>
            </a:endParaRPr>
          </a:p>
        </p:txBody>
      </p:sp>
      <p:sp>
        <p:nvSpPr>
          <p:cNvPr id="16" name="Text 9"/>
          <p:cNvSpPr/>
          <p:nvPr/>
        </p:nvSpPr>
        <p:spPr>
          <a:xfrm>
            <a:off x="591741" y="6434018"/>
            <a:ext cx="7960519" cy="1082040"/>
          </a:xfrm>
          <a:prstGeom prst="rect">
            <a:avLst/>
          </a:prstGeom>
          <a:noFill/>
          <a:ln/>
        </p:spPr>
        <p:txBody>
          <a:bodyPr wrap="square" lIns="0" tIns="0" rIns="0" bIns="0" rtlCol="0" anchor="t"/>
          <a:lstStyle/>
          <a:p>
            <a:pPr marL="0" indent="0" algn="l">
              <a:lnSpc>
                <a:spcPts val="2100"/>
              </a:lnSpc>
              <a:buNone/>
            </a:pPr>
            <a:r>
              <a:rPr lang="en-GB" sz="1300" noProof="0">
                <a:solidFill>
                  <a:srgbClr val="003865"/>
                </a:solidFill>
                <a:latin typeface="Arial" panose="020B0604020202020204" pitchFamily="34" charset="0"/>
                <a:ea typeface="Inter" pitchFamily="34" charset="-122"/>
                <a:cs typeface="Arial" panose="020B0604020202020204" pitchFamily="34" charset="0"/>
              </a:rPr>
              <a:t>For each course, the Head of School appoints an academic or senior administrative staff member as Assessment Officer. This role serves as the operational linchpin of the assessment process, ensuring procedural integrity and administrative rigour. A single Assessment Officer may oversee multiple courses, or responsibilities may be distributed across multiple officers at School level.</a:t>
            </a:r>
            <a:endParaRPr lang="en-GB" sz="1300" noProof="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6512" y="697468"/>
            <a:ext cx="7950041" cy="595074"/>
          </a:xfrm>
          <a:prstGeom prst="rect">
            <a:avLst/>
          </a:prstGeom>
          <a:noFill/>
          <a:ln/>
        </p:spPr>
        <p:txBody>
          <a:bodyPr wrap="none" lIns="0" tIns="0" rIns="0" bIns="0" rtlCol="0" anchor="t"/>
          <a:lstStyle/>
          <a:p>
            <a:pPr marL="0" indent="0" algn="l">
              <a:lnSpc>
                <a:spcPts val="4650"/>
              </a:lnSpc>
              <a:buNone/>
            </a:pPr>
            <a:r>
              <a:rPr lang="en-GB" sz="3700" b="1" noProof="0">
                <a:solidFill>
                  <a:srgbClr val="003865"/>
                </a:solidFill>
                <a:latin typeface="Arial" panose="020B0604020202020204" pitchFamily="34" charset="0"/>
                <a:ea typeface="Inter Bold" pitchFamily="34" charset="-122"/>
                <a:cs typeface="Arial" panose="020B0604020202020204" pitchFamily="34" charset="0"/>
              </a:rPr>
              <a:t>Appeals and Procedural Oversight</a:t>
            </a:r>
            <a:endParaRPr lang="en-GB" sz="3700" noProof="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2755225" y="1673423"/>
            <a:ext cx="2057519" cy="1097399"/>
          </a:xfrm>
          <a:prstGeom prst="rect">
            <a:avLst/>
          </a:prstGeom>
        </p:spPr>
      </p:pic>
      <p:pic>
        <p:nvPicPr>
          <p:cNvPr id="4" name="Image 1" descr="preencoded.png"/>
          <p:cNvPicPr>
            <a:picLocks noChangeAspect="1"/>
          </p:cNvPicPr>
          <p:nvPr/>
        </p:nvPicPr>
        <p:blipFill>
          <a:blip r:embed="rId4"/>
          <a:stretch>
            <a:fillRect/>
          </a:stretch>
        </p:blipFill>
        <p:spPr>
          <a:xfrm>
            <a:off x="3649980" y="2190750"/>
            <a:ext cx="267772" cy="334685"/>
          </a:xfrm>
          <a:prstGeom prst="rect">
            <a:avLst/>
          </a:prstGeom>
        </p:spPr>
      </p:pic>
      <p:sp>
        <p:nvSpPr>
          <p:cNvPr id="5" name="Text 1"/>
          <p:cNvSpPr/>
          <p:nvPr/>
        </p:nvSpPr>
        <p:spPr>
          <a:xfrm>
            <a:off x="5003125" y="1863804"/>
            <a:ext cx="3746183" cy="297656"/>
          </a:xfrm>
          <a:prstGeom prst="rect">
            <a:avLst/>
          </a:prstGeom>
          <a:noFill/>
          <a:ln/>
        </p:spPr>
        <p:txBody>
          <a:bodyPr wrap="none" lIns="0" tIns="0" rIns="0" bIns="0" rtlCol="0" anchor="t"/>
          <a:lstStyle/>
          <a:p>
            <a:pPr marL="0" indent="0" algn="l">
              <a:lnSpc>
                <a:spcPts val="230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Academic Standards Committee</a:t>
            </a:r>
            <a:endParaRPr lang="en-GB" sz="1850" noProof="0">
              <a:latin typeface="Arial" panose="020B0604020202020204" pitchFamily="34" charset="0"/>
              <a:cs typeface="Arial" panose="020B0604020202020204" pitchFamily="34" charset="0"/>
            </a:endParaRPr>
          </a:p>
        </p:txBody>
      </p:sp>
      <p:sp>
        <p:nvSpPr>
          <p:cNvPr id="6" name="Text 2"/>
          <p:cNvSpPr/>
          <p:nvPr/>
        </p:nvSpPr>
        <p:spPr>
          <a:xfrm>
            <a:off x="5003125" y="2275642"/>
            <a:ext cx="4250531" cy="304800"/>
          </a:xfrm>
          <a:prstGeom prst="rect">
            <a:avLst/>
          </a:prstGeom>
          <a:noFill/>
          <a:ln/>
        </p:spPr>
        <p:txBody>
          <a:bodyPr wrap="non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Determines questions of principle or procedure</a:t>
            </a:r>
            <a:endParaRPr lang="en-GB" sz="1450" noProof="0">
              <a:latin typeface="Arial" panose="020B0604020202020204" pitchFamily="34" charset="0"/>
              <a:cs typeface="Arial" panose="020B0604020202020204" pitchFamily="34" charset="0"/>
            </a:endParaRPr>
          </a:p>
        </p:txBody>
      </p:sp>
      <p:sp>
        <p:nvSpPr>
          <p:cNvPr id="7" name="Shape 3"/>
          <p:cNvSpPr/>
          <p:nvPr/>
        </p:nvSpPr>
        <p:spPr>
          <a:xfrm>
            <a:off x="4860250" y="2784991"/>
            <a:ext cx="8229243" cy="11430"/>
          </a:xfrm>
          <a:prstGeom prst="roundRect">
            <a:avLst>
              <a:gd name="adj" fmla="val 699849"/>
            </a:avLst>
          </a:prstGeom>
          <a:solidFill>
            <a:srgbClr val="013560"/>
          </a:solidFill>
          <a:ln/>
        </p:spPr>
        <p:txBody>
          <a:bodyPr/>
          <a:lstStyle/>
          <a:p>
            <a:endParaRPr lang="en-GB" noProof="0">
              <a:latin typeface="Arial" panose="020B0604020202020204" pitchFamily="34" charset="0"/>
              <a:cs typeface="Arial" panose="020B0604020202020204" pitchFamily="34" charset="0"/>
            </a:endParaRPr>
          </a:p>
        </p:txBody>
      </p:sp>
      <p:pic>
        <p:nvPicPr>
          <p:cNvPr id="8" name="Image 2" descr="preencoded.png"/>
          <p:cNvPicPr>
            <a:picLocks noChangeAspect="1"/>
          </p:cNvPicPr>
          <p:nvPr/>
        </p:nvPicPr>
        <p:blipFill>
          <a:blip r:embed="rId5"/>
          <a:stretch>
            <a:fillRect/>
          </a:stretch>
        </p:blipFill>
        <p:spPr>
          <a:xfrm>
            <a:off x="1726406" y="2818328"/>
            <a:ext cx="4115157" cy="1097399"/>
          </a:xfrm>
          <a:prstGeom prst="rect">
            <a:avLst/>
          </a:prstGeom>
        </p:spPr>
      </p:pic>
      <p:pic>
        <p:nvPicPr>
          <p:cNvPr id="9" name="Image 3" descr="preencoded.png"/>
          <p:cNvPicPr>
            <a:picLocks noChangeAspect="1"/>
          </p:cNvPicPr>
          <p:nvPr/>
        </p:nvPicPr>
        <p:blipFill>
          <a:blip r:embed="rId6"/>
          <a:stretch>
            <a:fillRect/>
          </a:stretch>
        </p:blipFill>
        <p:spPr>
          <a:xfrm>
            <a:off x="3650099" y="3199686"/>
            <a:ext cx="267772" cy="334685"/>
          </a:xfrm>
          <a:prstGeom prst="rect">
            <a:avLst/>
          </a:prstGeom>
        </p:spPr>
      </p:pic>
      <p:sp>
        <p:nvSpPr>
          <p:cNvPr id="10" name="Text 4"/>
          <p:cNvSpPr/>
          <p:nvPr/>
        </p:nvSpPr>
        <p:spPr>
          <a:xfrm>
            <a:off x="6031944" y="3008709"/>
            <a:ext cx="2380655" cy="297656"/>
          </a:xfrm>
          <a:prstGeom prst="rect">
            <a:avLst/>
          </a:prstGeom>
          <a:noFill/>
          <a:ln/>
        </p:spPr>
        <p:txBody>
          <a:bodyPr wrap="none" lIns="0" tIns="0" rIns="0" bIns="0" rtlCol="0" anchor="t"/>
          <a:lstStyle/>
          <a:p>
            <a:pPr marL="0" indent="0" algn="l">
              <a:lnSpc>
                <a:spcPts val="230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Clerk of Senate</a:t>
            </a:r>
            <a:endParaRPr lang="en-GB" sz="1850" noProof="0">
              <a:latin typeface="Arial" panose="020B0604020202020204" pitchFamily="34" charset="0"/>
              <a:cs typeface="Arial" panose="020B0604020202020204" pitchFamily="34" charset="0"/>
            </a:endParaRPr>
          </a:p>
        </p:txBody>
      </p:sp>
      <p:sp>
        <p:nvSpPr>
          <p:cNvPr id="11" name="Text 5"/>
          <p:cNvSpPr/>
          <p:nvPr/>
        </p:nvSpPr>
        <p:spPr>
          <a:xfrm>
            <a:off x="6031944" y="3420547"/>
            <a:ext cx="5009912" cy="304800"/>
          </a:xfrm>
          <a:prstGeom prst="rect">
            <a:avLst/>
          </a:prstGeom>
          <a:noFill/>
          <a:ln/>
        </p:spPr>
        <p:txBody>
          <a:bodyPr wrap="non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Authority on individual cases of incomplete assessment</a:t>
            </a:r>
            <a:endParaRPr lang="en-GB" sz="1450" noProof="0">
              <a:latin typeface="Arial" panose="020B0604020202020204" pitchFamily="34" charset="0"/>
              <a:cs typeface="Arial" panose="020B0604020202020204" pitchFamily="34" charset="0"/>
            </a:endParaRPr>
          </a:p>
        </p:txBody>
      </p:sp>
      <p:sp>
        <p:nvSpPr>
          <p:cNvPr id="12" name="Shape 6"/>
          <p:cNvSpPr/>
          <p:nvPr/>
        </p:nvSpPr>
        <p:spPr>
          <a:xfrm>
            <a:off x="5889069" y="3929896"/>
            <a:ext cx="7200424" cy="11430"/>
          </a:xfrm>
          <a:prstGeom prst="roundRect">
            <a:avLst>
              <a:gd name="adj" fmla="val 699849"/>
            </a:avLst>
          </a:prstGeom>
          <a:solidFill>
            <a:srgbClr val="BE4D00"/>
          </a:solidFill>
          <a:ln/>
        </p:spPr>
        <p:txBody>
          <a:bodyPr/>
          <a:lstStyle/>
          <a:p>
            <a:endParaRPr lang="en-GB" noProof="0">
              <a:latin typeface="Arial" panose="020B0604020202020204" pitchFamily="34" charset="0"/>
              <a:cs typeface="Arial" panose="020B0604020202020204" pitchFamily="34" charset="0"/>
            </a:endParaRPr>
          </a:p>
        </p:txBody>
      </p:sp>
      <p:pic>
        <p:nvPicPr>
          <p:cNvPr id="13" name="Image 4" descr="preencoded.png"/>
          <p:cNvPicPr>
            <a:picLocks noChangeAspect="1"/>
          </p:cNvPicPr>
          <p:nvPr/>
        </p:nvPicPr>
        <p:blipFill>
          <a:blip r:embed="rId7"/>
          <a:stretch>
            <a:fillRect/>
          </a:stretch>
        </p:blipFill>
        <p:spPr>
          <a:xfrm>
            <a:off x="697587" y="3963233"/>
            <a:ext cx="6172795" cy="1097399"/>
          </a:xfrm>
          <a:prstGeom prst="rect">
            <a:avLst/>
          </a:prstGeom>
        </p:spPr>
      </p:pic>
      <p:pic>
        <p:nvPicPr>
          <p:cNvPr id="14" name="Image 5" descr="preencoded.png"/>
          <p:cNvPicPr>
            <a:picLocks noChangeAspect="1"/>
          </p:cNvPicPr>
          <p:nvPr/>
        </p:nvPicPr>
        <p:blipFill>
          <a:blip r:embed="rId8"/>
          <a:stretch>
            <a:fillRect/>
          </a:stretch>
        </p:blipFill>
        <p:spPr>
          <a:xfrm>
            <a:off x="3649980" y="4344591"/>
            <a:ext cx="267772" cy="334685"/>
          </a:xfrm>
          <a:prstGeom prst="rect">
            <a:avLst/>
          </a:prstGeom>
        </p:spPr>
      </p:pic>
      <p:sp>
        <p:nvSpPr>
          <p:cNvPr id="15" name="Text 7"/>
          <p:cNvSpPr/>
          <p:nvPr/>
        </p:nvSpPr>
        <p:spPr>
          <a:xfrm>
            <a:off x="7060763" y="4153614"/>
            <a:ext cx="2380655" cy="297656"/>
          </a:xfrm>
          <a:prstGeom prst="rect">
            <a:avLst/>
          </a:prstGeom>
          <a:noFill/>
          <a:ln/>
        </p:spPr>
        <p:txBody>
          <a:bodyPr wrap="none" lIns="0" tIns="0" rIns="0" bIns="0" rtlCol="0" anchor="t"/>
          <a:lstStyle/>
          <a:p>
            <a:pPr marL="0" indent="0" algn="l">
              <a:lnSpc>
                <a:spcPts val="230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Head of College</a:t>
            </a:r>
            <a:endParaRPr lang="en-GB" sz="1850" noProof="0">
              <a:latin typeface="Arial" panose="020B0604020202020204" pitchFamily="34" charset="0"/>
              <a:cs typeface="Arial" panose="020B0604020202020204" pitchFamily="34" charset="0"/>
            </a:endParaRPr>
          </a:p>
        </p:txBody>
      </p:sp>
      <p:sp>
        <p:nvSpPr>
          <p:cNvPr id="16" name="Text 8"/>
          <p:cNvSpPr/>
          <p:nvPr/>
        </p:nvSpPr>
        <p:spPr>
          <a:xfrm>
            <a:off x="7060763" y="4565452"/>
            <a:ext cx="5476994" cy="304800"/>
          </a:xfrm>
          <a:prstGeom prst="rect">
            <a:avLst/>
          </a:prstGeom>
          <a:noFill/>
          <a:ln/>
        </p:spPr>
        <p:txBody>
          <a:bodyPr wrap="non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Ensures appeals are considered per prevailing Appeals Code</a:t>
            </a:r>
            <a:endParaRPr lang="en-GB" sz="1450" noProof="0">
              <a:latin typeface="Arial" panose="020B0604020202020204" pitchFamily="34" charset="0"/>
              <a:cs typeface="Arial" panose="020B0604020202020204" pitchFamily="34" charset="0"/>
            </a:endParaRPr>
          </a:p>
        </p:txBody>
      </p:sp>
      <p:sp>
        <p:nvSpPr>
          <p:cNvPr id="17" name="Text 9"/>
          <p:cNvSpPr/>
          <p:nvPr/>
        </p:nvSpPr>
        <p:spPr>
          <a:xfrm>
            <a:off x="666512" y="5274826"/>
            <a:ext cx="12470487" cy="609600"/>
          </a:xfrm>
          <a:prstGeom prst="rect">
            <a:avLst/>
          </a:prstGeom>
          <a:noFill/>
          <a:ln/>
        </p:spPr>
        <p:txBody>
          <a:bodyPr wrap="squar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The Head of College bears responsibility for ensuring that appeals against assessment outcomes are handled in accordance with the established Appeals Code. This provides a clear hierarchical structure for addressing student concerns about assessment decisions.</a:t>
            </a:r>
            <a:endParaRPr lang="en-GB" sz="1450" noProof="0">
              <a:latin typeface="Arial" panose="020B0604020202020204" pitchFamily="34" charset="0"/>
              <a:cs typeface="Arial" panose="020B0604020202020204" pitchFamily="34" charset="0"/>
            </a:endParaRPr>
          </a:p>
        </p:txBody>
      </p:sp>
      <p:sp>
        <p:nvSpPr>
          <p:cNvPr id="18" name="Text 10"/>
          <p:cNvSpPr/>
          <p:nvPr/>
        </p:nvSpPr>
        <p:spPr>
          <a:xfrm>
            <a:off x="666512" y="6098619"/>
            <a:ext cx="12470487" cy="609600"/>
          </a:xfrm>
          <a:prstGeom prst="rect">
            <a:avLst/>
          </a:prstGeom>
          <a:noFill/>
          <a:ln/>
        </p:spPr>
        <p:txBody>
          <a:bodyPr wrap="squar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For issues relating to incomplete assessments or considerations of Good Cause, the Academic Standards Committee determines matters of principle or procedure. </a:t>
            </a:r>
            <a:endParaRPr lang="en-GB" sz="1450" noProof="0">
              <a:latin typeface="Arial" panose="020B0604020202020204" pitchFamily="34" charset="0"/>
              <a:cs typeface="Arial" panose="020B0604020202020204" pitchFamily="34" charset="0"/>
            </a:endParaRPr>
          </a:p>
        </p:txBody>
      </p:sp>
      <p:sp>
        <p:nvSpPr>
          <p:cNvPr id="19" name="Text 11"/>
          <p:cNvSpPr/>
          <p:nvPr/>
        </p:nvSpPr>
        <p:spPr>
          <a:xfrm>
            <a:off x="666512" y="6922413"/>
            <a:ext cx="12470487" cy="609600"/>
          </a:xfrm>
          <a:prstGeom prst="rect">
            <a:avLst/>
          </a:prstGeom>
          <a:noFill/>
          <a:ln/>
        </p:spPr>
        <p:txBody>
          <a:bodyPr wrap="square" lIns="0" tIns="0" rIns="0" bIns="0" rtlCol="0" anchor="t"/>
          <a:lstStyle/>
          <a:p>
            <a:pPr marL="0" indent="0" algn="l">
              <a:lnSpc>
                <a:spcPts val="2350"/>
              </a:lnSpc>
              <a:buNone/>
            </a:pPr>
            <a:r>
              <a:rPr lang="en-GB" sz="1450" noProof="0">
                <a:solidFill>
                  <a:srgbClr val="003865"/>
                </a:solidFill>
                <a:latin typeface="Arial" panose="020B0604020202020204" pitchFamily="34" charset="0"/>
                <a:ea typeface="Inter" pitchFamily="34" charset="-122"/>
                <a:cs typeface="Arial" panose="020B0604020202020204" pitchFamily="34" charset="0"/>
              </a:rPr>
              <a:t>For individual cases, the Clerk of Senate serves as the final authority. This multi-layered approach to governance ensures that assessment procedures remain fair, transparent and consistent with University regulations.</a:t>
            </a:r>
            <a:endParaRPr lang="en-GB" sz="1450" noProof="0">
              <a:latin typeface="Arial" panose="020B0604020202020204" pitchFamily="34" charset="0"/>
              <a:cs typeface="Arial" panose="020B0604020202020204" pitchFamily="34" charset="0"/>
            </a:endParaRPr>
          </a:p>
        </p:txBody>
      </p:sp>
      <p:pic>
        <p:nvPicPr>
          <p:cNvPr id="20" name="Image 6" descr="preencoded.png"/>
          <p:cNvPicPr>
            <a:picLocks noChangeAspect="1"/>
          </p:cNvPicPr>
          <p:nvPr/>
        </p:nvPicPr>
        <p:blipFill>
          <a:blip r:embed="rId9"/>
          <a:stretch>
            <a:fillRect/>
          </a:stretch>
        </p:blipFill>
        <p:spPr>
          <a:xfrm>
            <a:off x="13365480" y="228600"/>
            <a:ext cx="1036320" cy="4533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7695" y="586721"/>
            <a:ext cx="5670590" cy="708779"/>
          </a:xfrm>
          <a:prstGeom prst="rect">
            <a:avLst/>
          </a:prstGeom>
          <a:noFill/>
          <a:ln/>
        </p:spPr>
        <p:txBody>
          <a:bodyPr wrap="none" lIns="0" tIns="0" rIns="0" bIns="0" rtlCol="0" anchor="t"/>
          <a:lstStyle/>
          <a:p>
            <a:pPr marL="0" indent="0" algn="l">
              <a:lnSpc>
                <a:spcPts val="5550"/>
              </a:lnSpc>
              <a:buNone/>
            </a:pPr>
            <a:r>
              <a:rPr lang="en-GB" sz="4450" b="1" noProof="0">
                <a:solidFill>
                  <a:srgbClr val="003865"/>
                </a:solidFill>
                <a:latin typeface="Arial" panose="020B0604020202020204" pitchFamily="34" charset="0"/>
                <a:ea typeface="Inter Bold" pitchFamily="34" charset="-122"/>
                <a:cs typeface="Arial" panose="020B0604020202020204" pitchFamily="34" charset="0"/>
              </a:rPr>
              <a:t>Assurance of Standards</a:t>
            </a:r>
            <a:endParaRPr lang="en-GB" sz="4450" noProof="0">
              <a:latin typeface="Arial" panose="020B0604020202020204" pitchFamily="34" charset="0"/>
              <a:cs typeface="Arial" panose="020B0604020202020204" pitchFamily="34" charset="0"/>
            </a:endParaRPr>
          </a:p>
        </p:txBody>
      </p:sp>
      <p:sp>
        <p:nvSpPr>
          <p:cNvPr id="3" name="Text 1"/>
          <p:cNvSpPr/>
          <p:nvPr/>
        </p:nvSpPr>
        <p:spPr>
          <a:xfrm>
            <a:off x="757695" y="3388995"/>
            <a:ext cx="13042821" cy="725805"/>
          </a:xfrm>
          <a:prstGeom prst="rect">
            <a:avLst/>
          </a:prstGeom>
          <a:noFill/>
          <a:ln/>
        </p:spPr>
        <p:txBody>
          <a:bodyPr wrap="square" lIns="0" tIns="0" rIns="0" bIns="0" rtlCol="0" anchor="t"/>
          <a:lstStyle/>
          <a:p>
            <a:pPr algn="l">
              <a:spcAft>
                <a:spcPts val="800"/>
              </a:spcAft>
            </a:pPr>
            <a:r>
              <a:rPr lang="en-GB" sz="2400" b="0" i="0" u="none" strike="noStrike" noProof="0" dirty="0">
                <a:solidFill>
                  <a:srgbClr val="343536"/>
                </a:solidFill>
                <a:effectLst/>
                <a:latin typeface="Arial" panose="020B0604020202020204" pitchFamily="34" charset="0"/>
                <a:cs typeface="Arial" panose="020B0604020202020204" pitchFamily="34" charset="0"/>
              </a:rPr>
              <a:t>‘The business of the Board of Examiners shall be </a:t>
            </a:r>
            <a:r>
              <a:rPr lang="en-GB" sz="2400" b="0" i="0" u="none" strike="noStrike" noProof="0" dirty="0" err="1">
                <a:solidFill>
                  <a:srgbClr val="343536"/>
                </a:solidFill>
                <a:effectLst/>
                <a:latin typeface="Arial" panose="020B0604020202020204" pitchFamily="34" charset="0"/>
                <a:cs typeface="Arial" panose="020B0604020202020204" pitchFamily="34" charset="0"/>
              </a:rPr>
              <a:t>minuted</a:t>
            </a:r>
            <a:r>
              <a:rPr lang="en-GB" sz="2400" b="0" i="0" u="none" strike="noStrike" noProof="0" dirty="0">
                <a:solidFill>
                  <a:srgbClr val="343536"/>
                </a:solidFill>
                <a:effectLst/>
                <a:latin typeface="Arial" panose="020B0604020202020204" pitchFamily="34" charset="0"/>
                <a:cs typeface="Arial" panose="020B0604020202020204" pitchFamily="34" charset="0"/>
              </a:rPr>
              <a:t> and particular records kept of the External Examiner's adjudications, comments and recommendations, </a:t>
            </a:r>
            <a:r>
              <a:rPr lang="en-GB" sz="2400" b="1" i="0" u="none" strike="noStrike" noProof="0" dirty="0">
                <a:solidFill>
                  <a:srgbClr val="343536"/>
                </a:solidFill>
                <a:effectLst/>
                <a:latin typeface="Arial" panose="020B0604020202020204" pitchFamily="34" charset="0"/>
                <a:cs typeface="Arial" panose="020B0604020202020204" pitchFamily="34" charset="0"/>
              </a:rPr>
              <a:t>as well as particular decisions made by the Board in respect of incomplete assessment, good cause and disciplinary matters</a:t>
            </a:r>
            <a:r>
              <a:rPr lang="en-GB" sz="2400" b="0" i="0" u="none" strike="noStrike" noProof="0" dirty="0">
                <a:solidFill>
                  <a:srgbClr val="343536"/>
                </a:solidFill>
                <a:effectLst/>
                <a:latin typeface="Arial" panose="020B0604020202020204" pitchFamily="34" charset="0"/>
                <a:cs typeface="Arial" panose="020B0604020202020204" pitchFamily="34" charset="0"/>
              </a:rPr>
              <a:t>.</a:t>
            </a:r>
          </a:p>
          <a:p>
            <a:pPr algn="l">
              <a:spcAft>
                <a:spcPts val="800"/>
              </a:spcAft>
            </a:pPr>
            <a:endParaRPr lang="en-GB" sz="2400" b="0" i="0" u="none" strike="noStrike" noProof="0" dirty="0">
              <a:solidFill>
                <a:srgbClr val="343536"/>
              </a:solidFill>
              <a:effectLst/>
              <a:latin typeface="Arial" panose="020B0604020202020204" pitchFamily="34" charset="0"/>
              <a:cs typeface="Arial" panose="020B0604020202020204" pitchFamily="34" charset="0"/>
            </a:endParaRPr>
          </a:p>
          <a:p>
            <a:pPr algn="l">
              <a:spcAft>
                <a:spcPts val="800"/>
              </a:spcAft>
            </a:pPr>
            <a:r>
              <a:rPr lang="en-GB" sz="2400" b="0" i="0" u="none" strike="noStrike" noProof="0" dirty="0">
                <a:solidFill>
                  <a:srgbClr val="343536"/>
                </a:solidFill>
                <a:effectLst/>
                <a:latin typeface="Arial" panose="020B0604020202020204" pitchFamily="34" charset="0"/>
                <a:cs typeface="Arial" panose="020B0604020202020204" pitchFamily="34" charset="0"/>
              </a:rPr>
              <a:t>Returns of results shall be completed, checked by two persons and </a:t>
            </a:r>
            <a:r>
              <a:rPr lang="en-GB" sz="2400" b="1" i="0" u="none" strike="noStrike" noProof="0" dirty="0">
                <a:solidFill>
                  <a:srgbClr val="343536"/>
                </a:solidFill>
                <a:effectLst/>
                <a:latin typeface="Arial" panose="020B0604020202020204" pitchFamily="34" charset="0"/>
                <a:cs typeface="Arial" panose="020B0604020202020204" pitchFamily="34" charset="0"/>
              </a:rPr>
              <a:t>confirmed</a:t>
            </a:r>
            <a:r>
              <a:rPr lang="en-GB" sz="2400" b="0" i="0" u="none" strike="noStrike" noProof="0" dirty="0">
                <a:solidFill>
                  <a:srgbClr val="343536"/>
                </a:solidFill>
                <a:effectLst/>
                <a:latin typeface="Arial" panose="020B0604020202020204" pitchFamily="34" charset="0"/>
                <a:cs typeface="Arial" panose="020B0604020202020204" pitchFamily="34" charset="0"/>
              </a:rPr>
              <a:t> at the meeting of the Board of Examiners.’</a:t>
            </a:r>
            <a:endParaRPr lang="en-GB" sz="2200" noProof="0" dirty="0">
              <a:solidFill>
                <a:srgbClr val="003865"/>
              </a:solidFill>
              <a:latin typeface="Arial" panose="020B0604020202020204" pitchFamily="34" charset="0"/>
              <a:ea typeface="Inter" pitchFamily="34" charset="-122"/>
              <a:cs typeface="Arial" panose="020B0604020202020204" pitchFamily="34" charset="0"/>
            </a:endParaRPr>
          </a:p>
        </p:txBody>
      </p:sp>
      <p:pic>
        <p:nvPicPr>
          <p:cNvPr id="5" name="Image 0" descr="preencoded.png"/>
          <p:cNvPicPr>
            <a:picLocks noChangeAspect="1"/>
          </p:cNvPicPr>
          <p:nvPr/>
        </p:nvPicPr>
        <p:blipFill>
          <a:blip r:embed="rId3"/>
          <a:stretch>
            <a:fillRect/>
          </a:stretch>
        </p:blipFill>
        <p:spPr>
          <a:xfrm>
            <a:off x="13365480" y="228600"/>
            <a:ext cx="1036320" cy="453390"/>
          </a:xfrm>
          <a:prstGeom prst="rect">
            <a:avLst/>
          </a:prstGeom>
        </p:spPr>
      </p:pic>
      <p:sp>
        <p:nvSpPr>
          <p:cNvPr id="6" name="Text 1">
            <a:extLst>
              <a:ext uri="{FF2B5EF4-FFF2-40B4-BE49-F238E27FC236}">
                <a16:creationId xmlns:a16="http://schemas.microsoft.com/office/drawing/2014/main" id="{A89A489A-27D2-12B7-4677-AB8F880AC42E}"/>
              </a:ext>
            </a:extLst>
          </p:cNvPr>
          <p:cNvSpPr/>
          <p:nvPr/>
        </p:nvSpPr>
        <p:spPr>
          <a:xfrm>
            <a:off x="10054096" y="7275195"/>
            <a:ext cx="4347704" cy="725805"/>
          </a:xfrm>
          <a:prstGeom prst="rect">
            <a:avLst/>
          </a:prstGeom>
          <a:noFill/>
          <a:ln/>
        </p:spPr>
        <p:txBody>
          <a:bodyPr wrap="square" lIns="0" tIns="0" rIns="0" bIns="0" rtlCol="0" anchor="t"/>
          <a:lstStyle/>
          <a:p>
            <a:pPr algn="l">
              <a:spcAft>
                <a:spcPts val="800"/>
              </a:spcAft>
            </a:pPr>
            <a:r>
              <a:rPr lang="en-GB" sz="2400" b="0" i="0" u="none" strike="noStrike" noProof="0">
                <a:solidFill>
                  <a:srgbClr val="343536"/>
                </a:solidFill>
                <a:effectLst/>
                <a:latin typeface="Arial" panose="020B0604020202020204" pitchFamily="34" charset="0"/>
                <a:cs typeface="Arial" panose="020B0604020202020204" pitchFamily="34" charset="0"/>
                <a:hlinkClick r:id="rId4"/>
              </a:rPr>
              <a:t>Code of Assessment, 2024-25</a:t>
            </a:r>
            <a:endParaRPr lang="en-GB" sz="2200" noProof="0">
              <a:solidFill>
                <a:srgbClr val="003865"/>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E1C86BDC-BCAB-0811-5EE3-58EDC9DE7387}"/>
              </a:ext>
            </a:extLst>
          </p:cNvPr>
          <p:cNvSpPr/>
          <p:nvPr/>
        </p:nvSpPr>
        <p:spPr>
          <a:xfrm>
            <a:off x="793789" y="1785530"/>
            <a:ext cx="13042821" cy="725805"/>
          </a:xfrm>
          <a:prstGeom prst="rect">
            <a:avLst/>
          </a:prstGeom>
          <a:noFill/>
          <a:ln/>
        </p:spPr>
        <p:txBody>
          <a:bodyPr wrap="square" lIns="0" tIns="0" rIns="0" bIns="0" rtlCol="0" anchor="t"/>
          <a:lstStyle/>
          <a:p>
            <a:pPr algn="l">
              <a:spcAft>
                <a:spcPts val="800"/>
              </a:spcAft>
            </a:pPr>
            <a:r>
              <a:rPr lang="en-GB" sz="2400" b="0" i="0" u="none" strike="noStrike" noProof="0" dirty="0">
                <a:solidFill>
                  <a:srgbClr val="343536"/>
                </a:solidFill>
                <a:effectLst/>
                <a:latin typeface="Arial" panose="020B0604020202020204" pitchFamily="34" charset="0"/>
                <a:cs typeface="Arial" panose="020B0604020202020204" pitchFamily="34" charset="0"/>
              </a:rPr>
              <a:t>Course outcomes not on Schedules A or B (</a:t>
            </a:r>
            <a:r>
              <a:rPr lang="en-GB" sz="2400" b="0" i="0" u="none" strike="noStrike" noProof="0" dirty="0" err="1">
                <a:solidFill>
                  <a:srgbClr val="343536"/>
                </a:solidFill>
                <a:effectLst/>
                <a:latin typeface="Arial" panose="020B0604020202020204" pitchFamily="34" charset="0"/>
                <a:cs typeface="Arial" panose="020B0604020202020204" pitchFamily="34" charset="0"/>
              </a:rPr>
              <a:t>ie</a:t>
            </a:r>
            <a:r>
              <a:rPr lang="en-GB" sz="2400" b="0" i="0" u="none" strike="noStrike" noProof="0" dirty="0">
                <a:solidFill>
                  <a:srgbClr val="343536"/>
                </a:solidFill>
                <a:effectLst/>
                <a:latin typeface="Arial" panose="020B0604020202020204" pitchFamily="34" charset="0"/>
                <a:cs typeface="Arial" panose="020B0604020202020204" pitchFamily="34" charset="0"/>
              </a:rPr>
              <a:t> not on the A1/A0-H scale) are often called “administrative grades”, though this term is not in the Code of Assessment. Common administrative grades include:</a:t>
            </a:r>
          </a:p>
          <a:p>
            <a:pPr algn="l">
              <a:spcAft>
                <a:spcPts val="800"/>
              </a:spcAft>
            </a:pPr>
            <a:endParaRPr lang="en-GB" sz="1600" noProof="0" dirty="0">
              <a:solidFill>
                <a:srgbClr val="343536"/>
              </a:solidFill>
              <a:latin typeface="Arial" panose="020B0604020202020204" pitchFamily="34" charset="0"/>
              <a:cs typeface="Arial" panose="020B0604020202020204" pitchFamily="34" charset="0"/>
            </a:endParaRPr>
          </a:p>
          <a:p>
            <a:pPr algn="l">
              <a:spcAft>
                <a:spcPts val="800"/>
              </a:spcAft>
            </a:pPr>
            <a:r>
              <a:rPr lang="en-GB" sz="2000" b="1" i="0" u="none" strike="noStrike" noProof="0" dirty="0">
                <a:solidFill>
                  <a:srgbClr val="343536"/>
                </a:solidFill>
                <a:effectLst/>
                <a:latin typeface="Arial" panose="020B0604020202020204" pitchFamily="34" charset="0"/>
                <a:cs typeface="Arial" panose="020B0604020202020204" pitchFamily="34" charset="0"/>
              </a:rPr>
              <a:t>MV </a:t>
            </a:r>
            <a:r>
              <a:rPr lang="en-GB" sz="2000" b="0" i="0" u="none" strike="noStrike" noProof="0" dirty="0">
                <a:solidFill>
                  <a:srgbClr val="343536"/>
                </a:solidFill>
                <a:effectLst/>
                <a:latin typeface="Arial" panose="020B0604020202020204" pitchFamily="34" charset="0"/>
                <a:cs typeface="Arial" panose="020B0604020202020204" pitchFamily="34" charset="0"/>
              </a:rPr>
              <a:t>– “Approved compassionate or certified medical absence”, can be a temporary or permanent grade and is used to indicate the presence of approved Good Cause. Can be remedied with reassessment.</a:t>
            </a:r>
          </a:p>
          <a:p>
            <a:pPr algn="l">
              <a:spcAft>
                <a:spcPts val="800"/>
              </a:spcAft>
            </a:pPr>
            <a:r>
              <a:rPr lang="en-GB" sz="2000" b="1" noProof="0" dirty="0">
                <a:solidFill>
                  <a:srgbClr val="343536"/>
                </a:solidFill>
                <a:latin typeface="Arial" panose="020B0604020202020204" pitchFamily="34" charset="0"/>
                <a:cs typeface="Arial" panose="020B0604020202020204" pitchFamily="34" charset="0"/>
              </a:rPr>
              <a:t>CW</a:t>
            </a:r>
            <a:r>
              <a:rPr lang="en-GB" sz="2000" noProof="0" dirty="0">
                <a:solidFill>
                  <a:srgbClr val="343536"/>
                </a:solidFill>
                <a:latin typeface="Arial" panose="020B0604020202020204" pitchFamily="34" charset="0"/>
                <a:cs typeface="Arial" panose="020B0604020202020204" pitchFamily="34" charset="0"/>
              </a:rPr>
              <a:t> – “Credit Withheld”, a temporary grade generally indicating some missing assessment. </a:t>
            </a:r>
            <a:r>
              <a:rPr lang="en-GB" sz="2000" noProof="0" dirty="0">
                <a:solidFill>
                  <a:srgbClr val="343536"/>
                </a:solidFill>
                <a:latin typeface="Arial" panose="020B0604020202020204" pitchFamily="34" charset="0"/>
                <a:ea typeface="Inter" pitchFamily="34" charset="-122"/>
                <a:cs typeface="Arial" panose="020B0604020202020204" pitchFamily="34" charset="0"/>
              </a:rPr>
              <a:t>Must not be present on a graduating transcript. CWs are “repairable” at Pre-Honours and PGT levels with reassessment, and are changed for graduating Honours students (with ≥75% of Honours assessment submitted) by grading missing elements at H/0.</a:t>
            </a:r>
            <a:endParaRPr lang="en-GB" sz="2000" noProof="0" dirty="0">
              <a:solidFill>
                <a:srgbClr val="343536"/>
              </a:solidFill>
              <a:latin typeface="Arial" panose="020B0604020202020204" pitchFamily="34" charset="0"/>
              <a:cs typeface="Arial" panose="020B0604020202020204" pitchFamily="34" charset="0"/>
            </a:endParaRPr>
          </a:p>
          <a:p>
            <a:pPr algn="l">
              <a:spcAft>
                <a:spcPts val="800"/>
              </a:spcAft>
            </a:pPr>
            <a:r>
              <a:rPr lang="en-GB" sz="2000" b="1" i="0" u="none" strike="noStrike" noProof="0" dirty="0">
                <a:solidFill>
                  <a:srgbClr val="343536"/>
                </a:solidFill>
                <a:effectLst/>
                <a:latin typeface="Arial" panose="020B0604020202020204" pitchFamily="34" charset="0"/>
                <a:cs typeface="Arial" panose="020B0604020202020204" pitchFamily="34" charset="0"/>
              </a:rPr>
              <a:t>CR </a:t>
            </a:r>
            <a:r>
              <a:rPr lang="en-GB" sz="2000" b="0" i="0" u="none" strike="noStrike" noProof="0" dirty="0">
                <a:solidFill>
                  <a:srgbClr val="343536"/>
                </a:solidFill>
                <a:effectLst/>
                <a:latin typeface="Arial" panose="020B0604020202020204" pitchFamily="34" charset="0"/>
                <a:cs typeface="Arial" panose="020B0604020202020204" pitchFamily="34" charset="0"/>
              </a:rPr>
              <a:t>– “Credit Refused”, a permanent grade awarded for a failure to comply, in the absence of Good Cause, with the published requirements of the course/programme or as a penalty for a serious breach of regulations. At Pre-Honours and PGT levels CR is awarded for not submitting ≥75% of course assessment at both the first </a:t>
            </a:r>
            <a:r>
              <a:rPr lang="en-GB" sz="2000" b="0" i="1" u="none" strike="noStrike" noProof="0" dirty="0">
                <a:solidFill>
                  <a:srgbClr val="343536"/>
                </a:solidFill>
                <a:effectLst/>
                <a:latin typeface="Arial" panose="020B0604020202020204" pitchFamily="34" charset="0"/>
                <a:cs typeface="Arial" panose="020B0604020202020204" pitchFamily="34" charset="0"/>
              </a:rPr>
              <a:t>and</a:t>
            </a:r>
            <a:r>
              <a:rPr lang="en-GB" sz="2000" b="0" i="0" u="none" strike="noStrike" noProof="0" dirty="0">
                <a:solidFill>
                  <a:srgbClr val="343536"/>
                </a:solidFill>
                <a:effectLst/>
                <a:latin typeface="Arial" panose="020B0604020202020204" pitchFamily="34" charset="0"/>
                <a:cs typeface="Arial" panose="020B0604020202020204" pitchFamily="34" charset="0"/>
              </a:rPr>
              <a:t> resit diets with no Good Cause for either, and at Honours level CR is awarded for courses where at the end of the programme the candidate has not submitted ≥75% of that course’s assessment </a:t>
            </a:r>
            <a:r>
              <a:rPr lang="en-GB" sz="2000" b="0" i="1" u="none" strike="noStrike" noProof="0" dirty="0">
                <a:solidFill>
                  <a:srgbClr val="343536"/>
                </a:solidFill>
                <a:effectLst/>
                <a:latin typeface="Arial" panose="020B0604020202020204" pitchFamily="34" charset="0"/>
                <a:cs typeface="Arial" panose="020B0604020202020204" pitchFamily="34" charset="0"/>
              </a:rPr>
              <a:t>and </a:t>
            </a:r>
            <a:r>
              <a:rPr lang="en-GB" sz="2000" b="0" i="0" u="none" strike="noStrike" noProof="0" dirty="0">
                <a:solidFill>
                  <a:srgbClr val="343536"/>
                </a:solidFill>
                <a:effectLst/>
                <a:latin typeface="Arial" panose="020B0604020202020204" pitchFamily="34" charset="0"/>
                <a:cs typeface="Arial" panose="020B0604020202020204" pitchFamily="34" charset="0"/>
              </a:rPr>
              <a:t>has not submitted ≥75% of the totality of Honours assessment. Occasionally CR can also be issued as a conduct penalty.</a:t>
            </a:r>
          </a:p>
          <a:p>
            <a:pPr algn="l">
              <a:spcAft>
                <a:spcPts val="800"/>
              </a:spcAft>
            </a:pPr>
            <a:r>
              <a:rPr lang="en-GB" sz="2000" b="1" noProof="0" dirty="0">
                <a:solidFill>
                  <a:srgbClr val="343536"/>
                </a:solidFill>
                <a:latin typeface="Arial" panose="020B0604020202020204" pitchFamily="34" charset="0"/>
                <a:ea typeface="Inter" pitchFamily="34" charset="-122"/>
                <a:cs typeface="Arial" panose="020B0604020202020204" pitchFamily="34" charset="0"/>
              </a:rPr>
              <a:t>7</a:t>
            </a:r>
            <a:r>
              <a:rPr lang="en-GB" sz="2000" noProof="0" dirty="0">
                <a:solidFill>
                  <a:srgbClr val="343536"/>
                </a:solidFill>
                <a:latin typeface="Arial" panose="020B0604020202020204" pitchFamily="34" charset="0"/>
                <a:ea typeface="Inter" pitchFamily="34" charset="-122"/>
                <a:cs typeface="Arial" panose="020B0604020202020204" pitchFamily="34" charset="0"/>
              </a:rPr>
              <a:t> – “Deferred Result”, a temporary grade for conduct cases or other deferred outcomes. Must not be present on a graduating transcript.</a:t>
            </a:r>
          </a:p>
        </p:txBody>
      </p:sp>
      <p:sp>
        <p:nvSpPr>
          <p:cNvPr id="3" name="Text 0"/>
          <p:cNvSpPr/>
          <p:nvPr/>
        </p:nvSpPr>
        <p:spPr>
          <a:xfrm>
            <a:off x="793789" y="722362"/>
            <a:ext cx="7556421" cy="2126337"/>
          </a:xfrm>
          <a:prstGeom prst="rect">
            <a:avLst/>
          </a:prstGeom>
          <a:noFill/>
          <a:ln/>
        </p:spPr>
        <p:txBody>
          <a:bodyPr wrap="square" lIns="0" tIns="0" rIns="0" bIns="0" rtlCol="0" anchor="t"/>
          <a:lstStyle/>
          <a:p>
            <a:pPr marL="0" indent="0" algn="l">
              <a:lnSpc>
                <a:spcPts val="5550"/>
              </a:lnSpc>
              <a:buNone/>
            </a:pPr>
            <a:r>
              <a:rPr lang="en-GB" sz="4450" b="1" noProof="0">
                <a:solidFill>
                  <a:srgbClr val="003865"/>
                </a:solidFill>
                <a:latin typeface="Arial" panose="020B0604020202020204" pitchFamily="34" charset="0"/>
                <a:ea typeface="Inter Bold" pitchFamily="34" charset="-122"/>
                <a:cs typeface="Arial" panose="020B0604020202020204" pitchFamily="34" charset="0"/>
              </a:rPr>
              <a:t>“Administrative Grades”</a:t>
            </a:r>
            <a:endParaRPr lang="en-GB" sz="4450" noProof="0"/>
          </a:p>
        </p:txBody>
      </p:sp>
      <p:pic>
        <p:nvPicPr>
          <p:cNvPr id="6" name="Image 0" descr="preencoded.png">
            <a:extLst>
              <a:ext uri="{FF2B5EF4-FFF2-40B4-BE49-F238E27FC236}">
                <a16:creationId xmlns:a16="http://schemas.microsoft.com/office/drawing/2014/main" id="{EFD162F2-311C-9504-E15D-10B1684C5844}"/>
              </a:ext>
            </a:extLst>
          </p:cNvPr>
          <p:cNvPicPr>
            <a:picLocks noChangeAspect="1"/>
          </p:cNvPicPr>
          <p:nvPr/>
        </p:nvPicPr>
        <p:blipFill>
          <a:blip r:embed="rId3"/>
          <a:stretch>
            <a:fillRect/>
          </a:stretch>
        </p:blipFill>
        <p:spPr>
          <a:xfrm>
            <a:off x="13365480" y="228600"/>
            <a:ext cx="1036320" cy="4533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79133"/>
            <a:ext cx="8627626" cy="637937"/>
          </a:xfrm>
          <a:prstGeom prst="rect">
            <a:avLst/>
          </a:prstGeom>
          <a:noFill/>
          <a:ln/>
        </p:spPr>
        <p:txBody>
          <a:bodyPr wrap="none" lIns="0" tIns="0" rIns="0" bIns="0" rtlCol="0" anchor="t"/>
          <a:lstStyle/>
          <a:p>
            <a:pPr marL="0" indent="0" algn="l">
              <a:lnSpc>
                <a:spcPts val="5000"/>
              </a:lnSpc>
              <a:buNone/>
            </a:pPr>
            <a:r>
              <a:rPr lang="en-GB" sz="4000" b="1" noProof="0">
                <a:solidFill>
                  <a:srgbClr val="003865"/>
                </a:solidFill>
                <a:latin typeface="Arial" panose="020B0604020202020204" pitchFamily="34" charset="0"/>
                <a:ea typeface="Inter Bold" pitchFamily="34" charset="-122"/>
                <a:cs typeface="Arial" panose="020B0604020202020204" pitchFamily="34" charset="0"/>
              </a:rPr>
              <a:t>Honours Incomplete Degree Scenarios</a:t>
            </a:r>
            <a:endParaRPr lang="en-GB" sz="4000" noProof="0"/>
          </a:p>
        </p:txBody>
      </p:sp>
      <p:sp>
        <p:nvSpPr>
          <p:cNvPr id="3" name="Shape 1"/>
          <p:cNvSpPr/>
          <p:nvPr/>
        </p:nvSpPr>
        <p:spPr>
          <a:xfrm>
            <a:off x="793790" y="1725335"/>
            <a:ext cx="2173724" cy="1176099"/>
          </a:xfrm>
          <a:prstGeom prst="roundRect">
            <a:avLst>
              <a:gd name="adj" fmla="val 7290"/>
            </a:avLst>
          </a:prstGeom>
          <a:solidFill>
            <a:srgbClr val="013560"/>
          </a:solidFill>
          <a:ln w="7620">
            <a:solidFill>
              <a:srgbClr val="1A4E79"/>
            </a:solidFill>
            <a:prstDash val="solid"/>
          </a:ln>
        </p:spPr>
        <p:txBody>
          <a:bodyPr/>
          <a:lstStyle/>
          <a:p>
            <a:endParaRPr lang="en-GB" noProof="0"/>
          </a:p>
        </p:txBody>
      </p:sp>
      <p:pic>
        <p:nvPicPr>
          <p:cNvPr id="4" name="Image 0" descr="preencoded.png"/>
          <p:cNvPicPr>
            <a:picLocks noChangeAspect="1"/>
          </p:cNvPicPr>
          <p:nvPr/>
        </p:nvPicPr>
        <p:blipFill>
          <a:blip r:embed="rId3"/>
          <a:stretch>
            <a:fillRect/>
          </a:stretch>
        </p:blipFill>
        <p:spPr>
          <a:xfrm>
            <a:off x="1737122" y="2133957"/>
            <a:ext cx="287060" cy="358735"/>
          </a:xfrm>
          <a:prstGeom prst="rect">
            <a:avLst/>
          </a:prstGeom>
        </p:spPr>
      </p:pic>
      <p:sp>
        <p:nvSpPr>
          <p:cNvPr id="5" name="Text 2"/>
          <p:cNvSpPr/>
          <p:nvPr/>
        </p:nvSpPr>
        <p:spPr>
          <a:xfrm>
            <a:off x="3171587" y="1929408"/>
            <a:ext cx="3242905" cy="318849"/>
          </a:xfrm>
          <a:prstGeom prst="rect">
            <a:avLst/>
          </a:prstGeom>
          <a:noFill/>
          <a:ln/>
        </p:spPr>
        <p:txBody>
          <a:bodyPr wrap="none" lIns="0" tIns="0" rIns="0" bIns="0" rtlCol="0" anchor="t"/>
          <a:lstStyle/>
          <a:p>
            <a:pPr marL="0" indent="0" algn="l">
              <a:lnSpc>
                <a:spcPts val="2500"/>
              </a:lnSpc>
              <a:buNone/>
            </a:pPr>
            <a:r>
              <a:rPr lang="en-GB" sz="2000" b="1" noProof="0">
                <a:solidFill>
                  <a:srgbClr val="013560"/>
                </a:solidFill>
                <a:latin typeface="Arial" panose="020B0604020202020204" pitchFamily="34" charset="0"/>
                <a:ea typeface="Inter Bold" pitchFamily="34" charset="-122"/>
                <a:cs typeface="Arial" panose="020B0604020202020204" pitchFamily="34" charset="0"/>
              </a:rPr>
              <a:t>Less than 30% completed</a:t>
            </a:r>
            <a:endParaRPr lang="en-GB" sz="2000" noProof="0"/>
          </a:p>
        </p:txBody>
      </p:sp>
      <p:sp>
        <p:nvSpPr>
          <p:cNvPr id="6" name="Text 3"/>
          <p:cNvSpPr/>
          <p:nvPr/>
        </p:nvSpPr>
        <p:spPr>
          <a:xfrm>
            <a:off x="3171587" y="2370653"/>
            <a:ext cx="3786307" cy="326708"/>
          </a:xfrm>
          <a:prstGeom prst="rect">
            <a:avLst/>
          </a:prstGeom>
          <a:noFill/>
          <a:ln/>
        </p:spPr>
        <p:txBody>
          <a:bodyPr wrap="none" lIns="0" tIns="0" rIns="0" bIns="0" rtlCol="0" anchor="t"/>
          <a:lstStyle/>
          <a:p>
            <a:pPr marL="0" indent="0" algn="l">
              <a:lnSpc>
                <a:spcPts val="2550"/>
              </a:lnSpc>
              <a:buNone/>
            </a:pPr>
            <a:r>
              <a:rPr lang="en-GB" sz="1600" noProof="0">
                <a:solidFill>
                  <a:srgbClr val="013560"/>
                </a:solidFill>
                <a:latin typeface="Arial" panose="020B0604020202020204" pitchFamily="34" charset="0"/>
                <a:ea typeface="Inter" pitchFamily="34" charset="-122"/>
                <a:cs typeface="Arial" panose="020B0604020202020204" pitchFamily="34" charset="0"/>
              </a:rPr>
              <a:t>Not presented for Honours assessment</a:t>
            </a:r>
            <a:endParaRPr lang="en-GB" sz="1600" noProof="0"/>
          </a:p>
        </p:txBody>
      </p:sp>
      <p:sp>
        <p:nvSpPr>
          <p:cNvPr id="7" name="Shape 4"/>
          <p:cNvSpPr/>
          <p:nvPr/>
        </p:nvSpPr>
        <p:spPr>
          <a:xfrm>
            <a:off x="3069550" y="2891909"/>
            <a:ext cx="10665023" cy="11430"/>
          </a:xfrm>
          <a:prstGeom prst="roundRect">
            <a:avLst>
              <a:gd name="adj" fmla="val 750139"/>
            </a:avLst>
          </a:prstGeom>
          <a:solidFill>
            <a:srgbClr val="013560"/>
          </a:solidFill>
          <a:ln/>
        </p:spPr>
        <p:txBody>
          <a:bodyPr/>
          <a:lstStyle/>
          <a:p>
            <a:endParaRPr lang="en-GB" noProof="0"/>
          </a:p>
        </p:txBody>
      </p:sp>
      <p:sp>
        <p:nvSpPr>
          <p:cNvPr id="8" name="Shape 5"/>
          <p:cNvSpPr/>
          <p:nvPr/>
        </p:nvSpPr>
        <p:spPr>
          <a:xfrm>
            <a:off x="793790" y="3003471"/>
            <a:ext cx="4347567" cy="1176099"/>
          </a:xfrm>
          <a:prstGeom prst="roundRect">
            <a:avLst>
              <a:gd name="adj" fmla="val 7290"/>
            </a:avLst>
          </a:prstGeom>
          <a:solidFill>
            <a:srgbClr val="BE4D00"/>
          </a:solidFill>
          <a:ln w="7620">
            <a:solidFill>
              <a:srgbClr val="D76619"/>
            </a:solidFill>
            <a:prstDash val="solid"/>
          </a:ln>
        </p:spPr>
        <p:txBody>
          <a:bodyPr/>
          <a:lstStyle/>
          <a:p>
            <a:endParaRPr lang="en-GB" noProof="0"/>
          </a:p>
        </p:txBody>
      </p:sp>
      <p:pic>
        <p:nvPicPr>
          <p:cNvPr id="9" name="Image 1" descr="preencoded.png"/>
          <p:cNvPicPr>
            <a:picLocks noChangeAspect="1"/>
          </p:cNvPicPr>
          <p:nvPr/>
        </p:nvPicPr>
        <p:blipFill>
          <a:blip r:embed="rId4"/>
          <a:stretch>
            <a:fillRect/>
          </a:stretch>
        </p:blipFill>
        <p:spPr>
          <a:xfrm>
            <a:off x="2824043" y="3412093"/>
            <a:ext cx="287060" cy="358735"/>
          </a:xfrm>
          <a:prstGeom prst="rect">
            <a:avLst/>
          </a:prstGeom>
        </p:spPr>
      </p:pic>
      <p:sp>
        <p:nvSpPr>
          <p:cNvPr id="10" name="Text 6"/>
          <p:cNvSpPr/>
          <p:nvPr/>
        </p:nvSpPr>
        <p:spPr>
          <a:xfrm>
            <a:off x="5345430" y="3093244"/>
            <a:ext cx="4572357" cy="318849"/>
          </a:xfrm>
          <a:prstGeom prst="rect">
            <a:avLst/>
          </a:prstGeom>
          <a:noFill/>
          <a:ln/>
        </p:spPr>
        <p:txBody>
          <a:bodyPr wrap="none" lIns="0" tIns="0" rIns="0" bIns="0" rtlCol="0" anchor="t"/>
          <a:lstStyle/>
          <a:p>
            <a:pPr marL="0" indent="0" algn="l">
              <a:lnSpc>
                <a:spcPts val="2500"/>
              </a:lnSpc>
              <a:buNone/>
            </a:pPr>
            <a:r>
              <a:rPr lang="en-GB" sz="2000" b="1" noProof="0">
                <a:solidFill>
                  <a:srgbClr val="013560"/>
                </a:solidFill>
                <a:latin typeface="Arial" panose="020B0604020202020204" pitchFamily="34" charset="0"/>
                <a:ea typeface="Inter Bold" pitchFamily="34" charset="-122"/>
                <a:cs typeface="Arial" panose="020B0604020202020204" pitchFamily="34" charset="0"/>
              </a:rPr>
              <a:t>30% to &lt;75% completed with Good Cause</a:t>
            </a:r>
            <a:endParaRPr lang="en-GB" sz="2000" noProof="0"/>
          </a:p>
        </p:txBody>
      </p:sp>
      <p:sp>
        <p:nvSpPr>
          <p:cNvPr id="11" name="Text 7"/>
          <p:cNvSpPr/>
          <p:nvPr/>
        </p:nvSpPr>
        <p:spPr>
          <a:xfrm>
            <a:off x="5345429" y="3444120"/>
            <a:ext cx="4572357" cy="326708"/>
          </a:xfrm>
          <a:prstGeom prst="rect">
            <a:avLst/>
          </a:prstGeom>
          <a:noFill/>
          <a:ln/>
        </p:spPr>
        <p:txBody>
          <a:bodyPr wrap="none" lIns="0" tIns="0" rIns="0" bIns="0" rtlCol="0" anchor="t"/>
          <a:lstStyle/>
          <a:p>
            <a:pPr marL="0" indent="0" algn="l">
              <a:lnSpc>
                <a:spcPts val="2550"/>
              </a:lnSpc>
              <a:buNone/>
            </a:pPr>
            <a:r>
              <a:rPr lang="en-GB" sz="1600" noProof="0">
                <a:solidFill>
                  <a:srgbClr val="013560"/>
                </a:solidFill>
                <a:latin typeface="Arial" panose="020B0604020202020204" pitchFamily="34" charset="0"/>
                <a:ea typeface="Inter" pitchFamily="34" charset="-122"/>
                <a:cs typeface="Arial" panose="020B0604020202020204" pitchFamily="34" charset="0"/>
              </a:rPr>
              <a:t>Where Good Cause accounts for completion being below 75%, an unclassified degree may</a:t>
            </a:r>
          </a:p>
          <a:p>
            <a:pPr marL="0" indent="0" algn="l">
              <a:lnSpc>
                <a:spcPts val="2550"/>
              </a:lnSpc>
              <a:buNone/>
            </a:pPr>
            <a:r>
              <a:rPr lang="en-GB" sz="1600" noProof="0">
                <a:solidFill>
                  <a:srgbClr val="013560"/>
                </a:solidFill>
                <a:latin typeface="Arial" panose="020B0604020202020204" pitchFamily="34" charset="0"/>
                <a:ea typeface="Inter" pitchFamily="34" charset="-122"/>
                <a:cs typeface="Arial" panose="020B0604020202020204" pitchFamily="34" charset="0"/>
              </a:rPr>
              <a:t>be awarded</a:t>
            </a:r>
            <a:endParaRPr lang="en-GB" sz="1600" noProof="0"/>
          </a:p>
        </p:txBody>
      </p:sp>
      <p:sp>
        <p:nvSpPr>
          <p:cNvPr id="12" name="Shape 8"/>
          <p:cNvSpPr/>
          <p:nvPr/>
        </p:nvSpPr>
        <p:spPr>
          <a:xfrm>
            <a:off x="5243393" y="4170045"/>
            <a:ext cx="8491180" cy="11430"/>
          </a:xfrm>
          <a:prstGeom prst="roundRect">
            <a:avLst>
              <a:gd name="adj" fmla="val 750139"/>
            </a:avLst>
          </a:prstGeom>
          <a:solidFill>
            <a:srgbClr val="BE4D00"/>
          </a:solidFill>
          <a:ln/>
        </p:spPr>
        <p:txBody>
          <a:bodyPr/>
          <a:lstStyle/>
          <a:p>
            <a:endParaRPr lang="en-GB" noProof="0"/>
          </a:p>
        </p:txBody>
      </p:sp>
      <p:sp>
        <p:nvSpPr>
          <p:cNvPr id="13" name="Shape 9"/>
          <p:cNvSpPr/>
          <p:nvPr/>
        </p:nvSpPr>
        <p:spPr>
          <a:xfrm>
            <a:off x="793790" y="4281607"/>
            <a:ext cx="6521410" cy="1176099"/>
          </a:xfrm>
          <a:prstGeom prst="roundRect">
            <a:avLst>
              <a:gd name="adj" fmla="val 7290"/>
            </a:avLst>
          </a:prstGeom>
          <a:solidFill>
            <a:srgbClr val="4F5961"/>
          </a:solidFill>
          <a:ln w="7620">
            <a:solidFill>
              <a:srgbClr val="68727A"/>
            </a:solidFill>
            <a:prstDash val="solid"/>
          </a:ln>
        </p:spPr>
        <p:txBody>
          <a:bodyPr/>
          <a:lstStyle/>
          <a:p>
            <a:endParaRPr lang="en-GB" noProof="0"/>
          </a:p>
        </p:txBody>
      </p:sp>
      <p:pic>
        <p:nvPicPr>
          <p:cNvPr id="14" name="Image 2" descr="preencoded.png"/>
          <p:cNvPicPr>
            <a:picLocks noChangeAspect="1"/>
          </p:cNvPicPr>
          <p:nvPr/>
        </p:nvPicPr>
        <p:blipFill>
          <a:blip r:embed="rId5"/>
          <a:stretch>
            <a:fillRect/>
          </a:stretch>
        </p:blipFill>
        <p:spPr>
          <a:xfrm>
            <a:off x="3910965" y="4690229"/>
            <a:ext cx="287060" cy="358735"/>
          </a:xfrm>
          <a:prstGeom prst="rect">
            <a:avLst/>
          </a:prstGeom>
        </p:spPr>
      </p:pic>
      <p:sp>
        <p:nvSpPr>
          <p:cNvPr id="15" name="Text 10"/>
          <p:cNvSpPr/>
          <p:nvPr/>
        </p:nvSpPr>
        <p:spPr>
          <a:xfrm>
            <a:off x="7519273" y="4485680"/>
            <a:ext cx="2547699" cy="318849"/>
          </a:xfrm>
          <a:prstGeom prst="rect">
            <a:avLst/>
          </a:prstGeom>
          <a:noFill/>
          <a:ln/>
        </p:spPr>
        <p:txBody>
          <a:bodyPr wrap="none" lIns="0" tIns="0" rIns="0" bIns="0" rtlCol="0" anchor="t"/>
          <a:lstStyle/>
          <a:p>
            <a:pPr marL="0" indent="0" algn="l">
              <a:lnSpc>
                <a:spcPts val="2500"/>
              </a:lnSpc>
              <a:buNone/>
            </a:pPr>
            <a:r>
              <a:rPr lang="en-GB" sz="2000" b="1" noProof="0">
                <a:solidFill>
                  <a:srgbClr val="013560"/>
                </a:solidFill>
                <a:latin typeface="Arial" panose="020B0604020202020204" pitchFamily="34" charset="0"/>
                <a:ea typeface="Inter Bold" pitchFamily="34" charset="-122"/>
                <a:cs typeface="Arial" panose="020B0604020202020204" pitchFamily="34" charset="0"/>
              </a:rPr>
              <a:t>≥75% completed</a:t>
            </a:r>
            <a:endParaRPr lang="en-GB" sz="2000" noProof="0"/>
          </a:p>
        </p:txBody>
      </p:sp>
      <p:sp>
        <p:nvSpPr>
          <p:cNvPr id="16" name="Text 11"/>
          <p:cNvSpPr/>
          <p:nvPr/>
        </p:nvSpPr>
        <p:spPr>
          <a:xfrm>
            <a:off x="7519273" y="4926925"/>
            <a:ext cx="2547699" cy="326708"/>
          </a:xfrm>
          <a:prstGeom prst="rect">
            <a:avLst/>
          </a:prstGeom>
          <a:noFill/>
          <a:ln/>
        </p:spPr>
        <p:txBody>
          <a:bodyPr wrap="none" lIns="0" tIns="0" rIns="0" bIns="0" rtlCol="0" anchor="t"/>
          <a:lstStyle/>
          <a:p>
            <a:pPr marL="0" indent="0" algn="l">
              <a:lnSpc>
                <a:spcPts val="2550"/>
              </a:lnSpc>
              <a:buNone/>
            </a:pPr>
            <a:r>
              <a:rPr lang="en-GB" sz="1600" noProof="0">
                <a:solidFill>
                  <a:srgbClr val="013560"/>
                </a:solidFill>
                <a:latin typeface="Arial" panose="020B0604020202020204" pitchFamily="34" charset="0"/>
                <a:ea typeface="Inter" pitchFamily="34" charset="-122"/>
                <a:cs typeface="Arial" panose="020B0604020202020204" pitchFamily="34" charset="0"/>
              </a:rPr>
              <a:t>Classified degree possible</a:t>
            </a:r>
            <a:endParaRPr lang="en-GB" sz="1600" noProof="0"/>
          </a:p>
        </p:txBody>
      </p:sp>
      <p:sp>
        <p:nvSpPr>
          <p:cNvPr id="17" name="Text 12"/>
          <p:cNvSpPr/>
          <p:nvPr/>
        </p:nvSpPr>
        <p:spPr>
          <a:xfrm>
            <a:off x="793790" y="5687258"/>
            <a:ext cx="13042821" cy="980123"/>
          </a:xfrm>
          <a:prstGeom prst="rect">
            <a:avLst/>
          </a:prstGeom>
          <a:noFill/>
          <a:ln/>
        </p:spPr>
        <p:txBody>
          <a:bodyPr wrap="square" lIns="0" tIns="0" rIns="0" bIns="0" rtlCol="0" anchor="t"/>
          <a:lstStyle/>
          <a:p>
            <a:pPr marL="0" indent="0" algn="l">
              <a:lnSpc>
                <a:spcPts val="2550"/>
              </a:lnSpc>
              <a:buNone/>
            </a:pPr>
            <a:r>
              <a:rPr lang="en-GB" sz="1600" noProof="0" dirty="0">
                <a:solidFill>
                  <a:srgbClr val="003865"/>
                </a:solidFill>
                <a:latin typeface="Arial" panose="020B0604020202020204" pitchFamily="34" charset="0"/>
                <a:ea typeface="Inter" pitchFamily="34" charset="-122"/>
                <a:cs typeface="Arial" panose="020B0604020202020204" pitchFamily="34" charset="0"/>
              </a:rPr>
              <a:t>75% of work submitted is the minimum threshold at Honours for award of a classified degree.</a:t>
            </a:r>
          </a:p>
          <a:p>
            <a:pPr>
              <a:lnSpc>
                <a:spcPts val="2550"/>
              </a:lnSpc>
            </a:pPr>
            <a:r>
              <a:rPr lang="en-GB" sz="1600" noProof="0" dirty="0">
                <a:solidFill>
                  <a:srgbClr val="003865"/>
                </a:solidFill>
                <a:latin typeface="Arial" panose="020B0604020202020204" pitchFamily="34" charset="0"/>
                <a:ea typeface="Inter" pitchFamily="34" charset="-122"/>
                <a:cs typeface="Arial" panose="020B0604020202020204" pitchFamily="34" charset="0"/>
              </a:rPr>
              <a:t>Where a student has completed between 30% and 75% of assessment and has good cause approved for the remainder below 75%, and the student is going to be unable to complete 75% assessment within the session, an unclassified degree may be awarded. (In this scenario, the dissertation can be an element which has not been submitted.) All unclassified degree awards must be vetted by Academic Policy &amp; Governance. </a:t>
            </a:r>
          </a:p>
          <a:p>
            <a:pPr>
              <a:lnSpc>
                <a:spcPts val="2550"/>
              </a:lnSpc>
            </a:pPr>
            <a:r>
              <a:rPr lang="en-GB" sz="1600" noProof="0" dirty="0">
                <a:solidFill>
                  <a:srgbClr val="003865"/>
                </a:solidFill>
                <a:latin typeface="Arial" panose="020B0604020202020204" pitchFamily="34" charset="0"/>
                <a:ea typeface="Inter" pitchFamily="34" charset="-122"/>
                <a:cs typeface="Arial" panose="020B0604020202020204" pitchFamily="34" charset="0"/>
              </a:rPr>
              <a:t>Students with less than 30% completion should be considered for a repeat year.</a:t>
            </a:r>
            <a:endParaRPr lang="en-GB" sz="1600" noProof="0" dirty="0">
              <a:solidFill>
                <a:srgbClr val="003865"/>
              </a:solidFill>
              <a:latin typeface="Arial" panose="020B0604020202020204" pitchFamily="34" charset="0"/>
              <a:cs typeface="Arial" panose="020B0604020202020204" pitchFamily="34" charset="0"/>
            </a:endParaRPr>
          </a:p>
          <a:p>
            <a:pPr>
              <a:lnSpc>
                <a:spcPts val="2550"/>
              </a:lnSpc>
            </a:pPr>
            <a:r>
              <a:rPr lang="en-GB" sz="1600" noProof="0" dirty="0">
                <a:solidFill>
                  <a:srgbClr val="003865"/>
                </a:solidFill>
                <a:latin typeface="Arial" panose="020B0604020202020204" pitchFamily="34" charset="0"/>
                <a:cs typeface="Arial" panose="020B0604020202020204" pitchFamily="34" charset="0"/>
              </a:rPr>
              <a:t>Students with less than 75% of Honours work submitted in </a:t>
            </a:r>
            <a:r>
              <a:rPr lang="en-GB" sz="1600" dirty="0">
                <a:solidFill>
                  <a:srgbClr val="003865"/>
                </a:solidFill>
                <a:latin typeface="Arial" panose="020B0604020202020204" pitchFamily="34" charset="0"/>
                <a:cs typeface="Arial" panose="020B0604020202020204" pitchFamily="34" charset="0"/>
              </a:rPr>
              <a:t>the absence of Good Cause </a:t>
            </a:r>
            <a:r>
              <a:rPr lang="en-GB" sz="1600" noProof="0" dirty="0">
                <a:solidFill>
                  <a:srgbClr val="003865"/>
                </a:solidFill>
                <a:latin typeface="Arial" panose="020B0604020202020204" pitchFamily="34" charset="0"/>
                <a:cs typeface="Arial" panose="020B0604020202020204" pitchFamily="34" charset="0"/>
              </a:rPr>
              <a:t>should be entered into consideration for an exit award as defined in the degree regulations and programme PIP.</a:t>
            </a:r>
            <a:endParaRPr lang="en-GB" sz="1600" noProof="0" dirty="0"/>
          </a:p>
        </p:txBody>
      </p:sp>
      <p:sp>
        <p:nvSpPr>
          <p:cNvPr id="18" name="Text 13"/>
          <p:cNvSpPr/>
          <p:nvPr/>
        </p:nvSpPr>
        <p:spPr>
          <a:xfrm>
            <a:off x="793790" y="6896933"/>
            <a:ext cx="13042821" cy="653415"/>
          </a:xfrm>
          <a:prstGeom prst="rect">
            <a:avLst/>
          </a:prstGeom>
          <a:noFill/>
          <a:ln/>
        </p:spPr>
        <p:txBody>
          <a:bodyPr wrap="square" lIns="0" tIns="0" rIns="0" bIns="0" rtlCol="0" anchor="t"/>
          <a:lstStyle/>
          <a:p>
            <a:pPr marL="0" indent="0" algn="l">
              <a:lnSpc>
                <a:spcPts val="2550"/>
              </a:lnSpc>
              <a:buNone/>
            </a:pPr>
            <a:endParaRPr lang="en-GB" sz="1600" noProof="0"/>
          </a:p>
        </p:txBody>
      </p:sp>
      <p:pic>
        <p:nvPicPr>
          <p:cNvPr id="19" name="Image 3" descr="preencoded.png"/>
          <p:cNvPicPr>
            <a:picLocks noChangeAspect="1"/>
          </p:cNvPicPr>
          <p:nvPr/>
        </p:nvPicPr>
        <p:blipFill>
          <a:blip r:embed="rId6"/>
          <a:stretch>
            <a:fillRect/>
          </a:stretch>
        </p:blipFill>
        <p:spPr>
          <a:xfrm>
            <a:off x="13365480" y="228600"/>
            <a:ext cx="1036320" cy="4533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3607" y="931734"/>
            <a:ext cx="5204698" cy="460772"/>
          </a:xfrm>
          <a:prstGeom prst="rect">
            <a:avLst/>
          </a:prstGeom>
          <a:noFill/>
          <a:ln/>
        </p:spPr>
        <p:txBody>
          <a:bodyPr wrap="none" lIns="0" tIns="0" rIns="0" bIns="0" rtlCol="0" anchor="t"/>
          <a:lstStyle/>
          <a:p>
            <a:pPr marL="0" indent="0" algn="l">
              <a:lnSpc>
                <a:spcPts val="3600"/>
              </a:lnSpc>
              <a:buNone/>
            </a:pPr>
            <a:r>
              <a:rPr lang="en-GB" sz="4000" b="1" noProof="0">
                <a:solidFill>
                  <a:srgbClr val="003865"/>
                </a:solidFill>
                <a:latin typeface="Arial" panose="020B0604020202020204" pitchFamily="34" charset="0"/>
                <a:ea typeface="Inter Bold" pitchFamily="34" charset="-122"/>
                <a:cs typeface="Arial" panose="020B0604020202020204" pitchFamily="34" charset="0"/>
              </a:rPr>
              <a:t>Honours Exam Boards: Handling MV and CW Grades</a:t>
            </a:r>
            <a:endParaRPr lang="en-GB" sz="4000" noProof="0"/>
          </a:p>
        </p:txBody>
      </p:sp>
      <p:pic>
        <p:nvPicPr>
          <p:cNvPr id="3" name="Image 0" descr="preencoded.png"/>
          <p:cNvPicPr>
            <a:picLocks noChangeAspect="1"/>
          </p:cNvPicPr>
          <p:nvPr/>
        </p:nvPicPr>
        <p:blipFill>
          <a:blip r:embed="rId3"/>
          <a:stretch>
            <a:fillRect/>
          </a:stretch>
        </p:blipFill>
        <p:spPr>
          <a:xfrm>
            <a:off x="4771906" y="3622477"/>
            <a:ext cx="5086588" cy="5086588"/>
          </a:xfrm>
          <a:prstGeom prst="rect">
            <a:avLst/>
          </a:prstGeom>
        </p:spPr>
      </p:pic>
      <p:pic>
        <p:nvPicPr>
          <p:cNvPr id="4" name="Image 1" descr="preencoded.png"/>
          <p:cNvPicPr>
            <a:picLocks noChangeAspect="1"/>
          </p:cNvPicPr>
          <p:nvPr/>
        </p:nvPicPr>
        <p:blipFill>
          <a:blip r:embed="rId4"/>
          <a:stretch>
            <a:fillRect/>
          </a:stretch>
        </p:blipFill>
        <p:spPr>
          <a:xfrm>
            <a:off x="5428476" y="5280243"/>
            <a:ext cx="248722" cy="310991"/>
          </a:xfrm>
          <a:prstGeom prst="rect">
            <a:avLst/>
          </a:prstGeom>
        </p:spPr>
      </p:pic>
      <p:pic>
        <p:nvPicPr>
          <p:cNvPr id="5" name="Image 2" descr="preencoded.png"/>
          <p:cNvPicPr>
            <a:picLocks noChangeAspect="1"/>
          </p:cNvPicPr>
          <p:nvPr/>
        </p:nvPicPr>
        <p:blipFill>
          <a:blip r:embed="rId5"/>
          <a:stretch>
            <a:fillRect/>
          </a:stretch>
        </p:blipFill>
        <p:spPr>
          <a:xfrm>
            <a:off x="4771906" y="3622477"/>
            <a:ext cx="5086588" cy="5086588"/>
          </a:xfrm>
          <a:prstGeom prst="rect">
            <a:avLst/>
          </a:prstGeom>
        </p:spPr>
      </p:pic>
      <p:pic>
        <p:nvPicPr>
          <p:cNvPr id="6" name="Image 3" descr="preencoded.png"/>
          <p:cNvPicPr>
            <a:picLocks noChangeAspect="1"/>
          </p:cNvPicPr>
          <p:nvPr/>
        </p:nvPicPr>
        <p:blipFill>
          <a:blip r:embed="rId6"/>
          <a:stretch>
            <a:fillRect/>
          </a:stretch>
        </p:blipFill>
        <p:spPr>
          <a:xfrm>
            <a:off x="6460867" y="4247852"/>
            <a:ext cx="248722" cy="310991"/>
          </a:xfrm>
          <a:prstGeom prst="rect">
            <a:avLst/>
          </a:prstGeom>
        </p:spPr>
      </p:pic>
      <p:pic>
        <p:nvPicPr>
          <p:cNvPr id="7" name="Image 4" descr="preencoded.png"/>
          <p:cNvPicPr>
            <a:picLocks noChangeAspect="1"/>
          </p:cNvPicPr>
          <p:nvPr/>
        </p:nvPicPr>
        <p:blipFill>
          <a:blip r:embed="rId7"/>
          <a:stretch>
            <a:fillRect/>
          </a:stretch>
        </p:blipFill>
        <p:spPr>
          <a:xfrm>
            <a:off x="4771906" y="3622477"/>
            <a:ext cx="5086588" cy="5086588"/>
          </a:xfrm>
          <a:prstGeom prst="rect">
            <a:avLst/>
          </a:prstGeom>
        </p:spPr>
      </p:pic>
      <p:pic>
        <p:nvPicPr>
          <p:cNvPr id="8" name="Image 5" descr="preencoded.png"/>
          <p:cNvPicPr>
            <a:picLocks noChangeAspect="1"/>
          </p:cNvPicPr>
          <p:nvPr/>
        </p:nvPicPr>
        <p:blipFill>
          <a:blip r:embed="rId8"/>
          <a:stretch>
            <a:fillRect/>
          </a:stretch>
        </p:blipFill>
        <p:spPr>
          <a:xfrm>
            <a:off x="7920692" y="4247852"/>
            <a:ext cx="248722" cy="310991"/>
          </a:xfrm>
          <a:prstGeom prst="rect">
            <a:avLst/>
          </a:prstGeom>
        </p:spPr>
      </p:pic>
      <p:pic>
        <p:nvPicPr>
          <p:cNvPr id="9" name="Image 6" descr="preencoded.png"/>
          <p:cNvPicPr>
            <a:picLocks noChangeAspect="1"/>
          </p:cNvPicPr>
          <p:nvPr/>
        </p:nvPicPr>
        <p:blipFill>
          <a:blip r:embed="rId9"/>
          <a:stretch>
            <a:fillRect/>
          </a:stretch>
        </p:blipFill>
        <p:spPr>
          <a:xfrm>
            <a:off x="4771906" y="3622477"/>
            <a:ext cx="5086588" cy="5086588"/>
          </a:xfrm>
          <a:prstGeom prst="rect">
            <a:avLst/>
          </a:prstGeom>
        </p:spPr>
      </p:pic>
      <p:pic>
        <p:nvPicPr>
          <p:cNvPr id="10" name="Image 7" descr="preencoded.png"/>
          <p:cNvPicPr>
            <a:picLocks noChangeAspect="1"/>
          </p:cNvPicPr>
          <p:nvPr/>
        </p:nvPicPr>
        <p:blipFill>
          <a:blip r:embed="rId10"/>
          <a:stretch>
            <a:fillRect/>
          </a:stretch>
        </p:blipFill>
        <p:spPr>
          <a:xfrm>
            <a:off x="8953083" y="5280243"/>
            <a:ext cx="248722" cy="310991"/>
          </a:xfrm>
          <a:prstGeom prst="rect">
            <a:avLst/>
          </a:prstGeom>
        </p:spPr>
      </p:pic>
      <p:sp>
        <p:nvSpPr>
          <p:cNvPr id="11" name="Text 1"/>
          <p:cNvSpPr/>
          <p:nvPr/>
        </p:nvSpPr>
        <p:spPr>
          <a:xfrm>
            <a:off x="694972" y="7308868"/>
            <a:ext cx="13042821" cy="471488"/>
          </a:xfrm>
          <a:prstGeom prst="rect">
            <a:avLst/>
          </a:prstGeom>
          <a:noFill/>
          <a:ln/>
        </p:spPr>
        <p:txBody>
          <a:bodyPr wrap="square" lIns="0" tIns="0" rIns="0" bIns="0" rtlCol="0" anchor="t"/>
          <a:lstStyle/>
          <a:p>
            <a:pPr marL="0" indent="0" algn="l">
              <a:lnSpc>
                <a:spcPts val="1850"/>
              </a:lnSpc>
              <a:buNone/>
            </a:pPr>
            <a:r>
              <a:rPr lang="en-GB" sz="1600" noProof="0">
                <a:solidFill>
                  <a:srgbClr val="003865"/>
                </a:solidFill>
                <a:latin typeface="Arial" panose="020B0604020202020204" pitchFamily="34" charset="0"/>
                <a:ea typeface="Inter" pitchFamily="34" charset="-122"/>
                <a:cs typeface="Arial" panose="020B0604020202020204" pitchFamily="34" charset="0"/>
              </a:rPr>
              <a:t>For any grade changes to Junior Honours or semester 1 of Senior Honours courses, a 'Change of Grade' form must be submitted to Registry. This ensures proper documentation of all grade adjustments.</a:t>
            </a:r>
            <a:endParaRPr lang="en-GB" sz="1600" noProof="0"/>
          </a:p>
        </p:txBody>
      </p:sp>
      <p:sp>
        <p:nvSpPr>
          <p:cNvPr id="12" name="Text 2"/>
          <p:cNvSpPr/>
          <p:nvPr/>
        </p:nvSpPr>
        <p:spPr>
          <a:xfrm>
            <a:off x="1220601" y="4611619"/>
            <a:ext cx="3421015" cy="230386"/>
          </a:xfrm>
          <a:prstGeom prst="rect">
            <a:avLst/>
          </a:prstGeom>
          <a:noFill/>
          <a:ln/>
        </p:spPr>
        <p:txBody>
          <a:bodyPr wrap="none" lIns="0" tIns="0" rIns="0" bIns="0" rtlCol="0" anchor="t"/>
          <a:lstStyle/>
          <a:p>
            <a:pPr marL="0" indent="0" algn="r">
              <a:lnSpc>
                <a:spcPts val="1800"/>
              </a:lnSpc>
              <a:buNone/>
            </a:pPr>
            <a:r>
              <a:rPr lang="en-GB" b="1" noProof="0">
                <a:solidFill>
                  <a:srgbClr val="003865"/>
                </a:solidFill>
                <a:latin typeface="Arial" panose="020B0604020202020204" pitchFamily="34" charset="0"/>
                <a:ea typeface="Inter Bold" pitchFamily="34" charset="-122"/>
                <a:cs typeface="Arial" panose="020B0604020202020204" pitchFamily="34" charset="0"/>
              </a:rPr>
              <a:t>MV with &lt;75% Course Completion</a:t>
            </a:r>
            <a:endParaRPr lang="en-GB" noProof="0"/>
          </a:p>
        </p:txBody>
      </p:sp>
      <p:sp>
        <p:nvSpPr>
          <p:cNvPr id="13" name="Text 3"/>
          <p:cNvSpPr/>
          <p:nvPr/>
        </p:nvSpPr>
        <p:spPr>
          <a:xfrm>
            <a:off x="1220482" y="4915979"/>
            <a:ext cx="3421134" cy="942975"/>
          </a:xfrm>
          <a:prstGeom prst="rect">
            <a:avLst/>
          </a:prstGeom>
          <a:noFill/>
          <a:ln/>
        </p:spPr>
        <p:txBody>
          <a:bodyPr wrap="square" lIns="0" tIns="0" rIns="0" bIns="0" rtlCol="0" anchor="t"/>
          <a:lstStyle/>
          <a:p>
            <a:pPr marL="0" indent="0" algn="r">
              <a:lnSpc>
                <a:spcPts val="1850"/>
              </a:lnSpc>
              <a:buNone/>
            </a:pPr>
            <a:r>
              <a:rPr lang="en-GB" sz="1400" noProof="0">
                <a:solidFill>
                  <a:srgbClr val="003865"/>
                </a:solidFill>
                <a:latin typeface="Arial" panose="020B0604020202020204" pitchFamily="34" charset="0"/>
                <a:ea typeface="Inter" pitchFamily="34" charset="-122"/>
                <a:cs typeface="Arial" panose="020B0604020202020204" pitchFamily="34" charset="0"/>
              </a:rPr>
              <a:t>Where a student has completed ≥75% of programme assessment, any individual courses with Good Cause and &lt;75% completion should remain as MV</a:t>
            </a:r>
            <a:endParaRPr lang="en-GB" sz="1400" noProof="0"/>
          </a:p>
        </p:txBody>
      </p:sp>
      <p:sp>
        <p:nvSpPr>
          <p:cNvPr id="14" name="Text 4"/>
          <p:cNvSpPr/>
          <p:nvPr/>
        </p:nvSpPr>
        <p:spPr>
          <a:xfrm>
            <a:off x="3224629" y="2463158"/>
            <a:ext cx="3094553" cy="230386"/>
          </a:xfrm>
          <a:prstGeom prst="rect">
            <a:avLst/>
          </a:prstGeom>
          <a:noFill/>
          <a:ln/>
        </p:spPr>
        <p:txBody>
          <a:bodyPr wrap="none" lIns="0" tIns="0" rIns="0" bIns="0" rtlCol="0" anchor="t"/>
          <a:lstStyle/>
          <a:p>
            <a:pPr marL="0" indent="0" algn="ctr">
              <a:lnSpc>
                <a:spcPts val="1800"/>
              </a:lnSpc>
              <a:buNone/>
            </a:pPr>
            <a:r>
              <a:rPr lang="en-GB" b="1" noProof="0">
                <a:solidFill>
                  <a:srgbClr val="003865"/>
                </a:solidFill>
                <a:latin typeface="Arial" panose="020B0604020202020204" pitchFamily="34" charset="0"/>
                <a:ea typeface="Inter Bold" pitchFamily="34" charset="-122"/>
                <a:cs typeface="Arial" panose="020B0604020202020204" pitchFamily="34" charset="0"/>
              </a:rPr>
              <a:t>MV with ≥75% Course Completion</a:t>
            </a:r>
            <a:endParaRPr lang="en-GB" noProof="0"/>
          </a:p>
        </p:txBody>
      </p:sp>
      <p:sp>
        <p:nvSpPr>
          <p:cNvPr id="15" name="Text 5"/>
          <p:cNvSpPr/>
          <p:nvPr/>
        </p:nvSpPr>
        <p:spPr>
          <a:xfrm>
            <a:off x="3039734" y="2767518"/>
            <a:ext cx="3421133" cy="942975"/>
          </a:xfrm>
          <a:prstGeom prst="rect">
            <a:avLst/>
          </a:prstGeom>
          <a:noFill/>
          <a:ln/>
        </p:spPr>
        <p:txBody>
          <a:bodyPr wrap="square" lIns="0" tIns="0" rIns="0" bIns="0" rtlCol="0" anchor="t"/>
          <a:lstStyle/>
          <a:p>
            <a:pPr marL="0" indent="0" algn="ctr">
              <a:lnSpc>
                <a:spcPts val="1850"/>
              </a:lnSpc>
              <a:buNone/>
            </a:pPr>
            <a:r>
              <a:rPr lang="en-GB" sz="1400" noProof="0">
                <a:solidFill>
                  <a:srgbClr val="003865"/>
                </a:solidFill>
                <a:latin typeface="Arial" panose="020B0604020202020204" pitchFamily="34" charset="0"/>
                <a:ea typeface="Inter" pitchFamily="34" charset="-122"/>
                <a:cs typeface="Arial" panose="020B0604020202020204" pitchFamily="34" charset="0"/>
              </a:rPr>
              <a:t>Where a student has ≥75% programme completion and ≥75% course completion with Good Cause, calculate grade on completed components only</a:t>
            </a:r>
            <a:endParaRPr lang="en-GB" sz="1400" noProof="0"/>
          </a:p>
        </p:txBody>
      </p:sp>
      <p:sp>
        <p:nvSpPr>
          <p:cNvPr id="16" name="Text 6"/>
          <p:cNvSpPr/>
          <p:nvPr/>
        </p:nvSpPr>
        <p:spPr>
          <a:xfrm>
            <a:off x="8792527" y="2435141"/>
            <a:ext cx="1848683" cy="230386"/>
          </a:xfrm>
          <a:prstGeom prst="rect">
            <a:avLst/>
          </a:prstGeom>
          <a:noFill/>
          <a:ln/>
        </p:spPr>
        <p:txBody>
          <a:bodyPr wrap="none" lIns="0" tIns="0" rIns="0" bIns="0" rtlCol="0" anchor="t"/>
          <a:lstStyle/>
          <a:p>
            <a:pPr marL="0" indent="0" algn="ctr">
              <a:lnSpc>
                <a:spcPts val="1800"/>
              </a:lnSpc>
              <a:buNone/>
            </a:pPr>
            <a:r>
              <a:rPr lang="en-GB" b="1" noProof="0">
                <a:solidFill>
                  <a:srgbClr val="003865"/>
                </a:solidFill>
                <a:latin typeface="Arial" panose="020B0604020202020204" pitchFamily="34" charset="0"/>
                <a:ea typeface="Inter Bold" pitchFamily="34" charset="-122"/>
                <a:cs typeface="Arial" panose="020B0604020202020204" pitchFamily="34" charset="0"/>
              </a:rPr>
              <a:t>Previous CW Grades</a:t>
            </a:r>
            <a:endParaRPr lang="en-GB" noProof="0"/>
          </a:p>
        </p:txBody>
      </p:sp>
      <p:sp>
        <p:nvSpPr>
          <p:cNvPr id="17" name="Text 7"/>
          <p:cNvSpPr/>
          <p:nvPr/>
        </p:nvSpPr>
        <p:spPr>
          <a:xfrm>
            <a:off x="8169414" y="2772890"/>
            <a:ext cx="3094911" cy="942975"/>
          </a:xfrm>
          <a:prstGeom prst="rect">
            <a:avLst/>
          </a:prstGeom>
          <a:noFill/>
          <a:ln/>
        </p:spPr>
        <p:txBody>
          <a:bodyPr wrap="square" lIns="0" tIns="0" rIns="0" bIns="0" rtlCol="0" anchor="t"/>
          <a:lstStyle/>
          <a:p>
            <a:pPr marL="0" indent="0" algn="ctr">
              <a:lnSpc>
                <a:spcPts val="1850"/>
              </a:lnSpc>
              <a:buNone/>
            </a:pPr>
            <a:r>
              <a:rPr lang="en-GB" sz="1400" noProof="0">
                <a:solidFill>
                  <a:srgbClr val="003865"/>
                </a:solidFill>
                <a:latin typeface="Arial" panose="020B0604020202020204" pitchFamily="34" charset="0"/>
                <a:ea typeface="Inter" pitchFamily="34" charset="-122"/>
                <a:cs typeface="Arial" panose="020B0604020202020204" pitchFamily="34" charset="0"/>
              </a:rPr>
              <a:t>Where a student has ≥75% programme completion and a degree is being awarded, revise CW grades counting missing assessment as 0</a:t>
            </a:r>
            <a:endParaRPr lang="en-GB" sz="1400" noProof="0"/>
          </a:p>
        </p:txBody>
      </p:sp>
      <p:sp>
        <p:nvSpPr>
          <p:cNvPr id="18" name="Text 8"/>
          <p:cNvSpPr/>
          <p:nvPr/>
        </p:nvSpPr>
        <p:spPr>
          <a:xfrm>
            <a:off x="9988784" y="4611619"/>
            <a:ext cx="4028845" cy="306503"/>
          </a:xfrm>
          <a:prstGeom prst="rect">
            <a:avLst/>
          </a:prstGeom>
          <a:noFill/>
          <a:ln/>
        </p:spPr>
        <p:txBody>
          <a:bodyPr wrap="square" lIns="0" tIns="0" rIns="0" bIns="0" rtlCol="0" anchor="t"/>
          <a:lstStyle/>
          <a:p>
            <a:pPr marL="0" indent="0">
              <a:lnSpc>
                <a:spcPts val="1800"/>
              </a:lnSpc>
              <a:buNone/>
            </a:pPr>
            <a:r>
              <a:rPr lang="en-GB" b="1" noProof="0">
                <a:solidFill>
                  <a:srgbClr val="003865"/>
                </a:solidFill>
                <a:latin typeface="Arial" panose="020B0604020202020204" pitchFamily="34" charset="0"/>
                <a:ea typeface="Inter Bold" pitchFamily="34" charset="-122"/>
                <a:cs typeface="Arial" panose="020B0604020202020204" pitchFamily="34" charset="0"/>
              </a:rPr>
              <a:t>Missing Work Without Good Cause</a:t>
            </a:r>
            <a:endParaRPr lang="en-GB" noProof="0"/>
          </a:p>
        </p:txBody>
      </p:sp>
      <p:sp>
        <p:nvSpPr>
          <p:cNvPr id="19" name="Text 9"/>
          <p:cNvSpPr/>
          <p:nvPr/>
        </p:nvSpPr>
        <p:spPr>
          <a:xfrm>
            <a:off x="9988784" y="4918122"/>
            <a:ext cx="4028845" cy="707231"/>
          </a:xfrm>
          <a:prstGeom prst="rect">
            <a:avLst/>
          </a:prstGeom>
          <a:noFill/>
          <a:ln/>
        </p:spPr>
        <p:txBody>
          <a:bodyPr wrap="square" lIns="0" tIns="0" rIns="0" bIns="0" rtlCol="0" anchor="t"/>
          <a:lstStyle/>
          <a:p>
            <a:pPr marL="0" indent="0">
              <a:lnSpc>
                <a:spcPts val="1850"/>
              </a:lnSpc>
              <a:buNone/>
            </a:pPr>
            <a:r>
              <a:rPr lang="en-GB" sz="1400" noProof="0">
                <a:solidFill>
                  <a:srgbClr val="003865"/>
                </a:solidFill>
                <a:latin typeface="Arial" panose="020B0604020202020204" pitchFamily="34" charset="0"/>
                <a:ea typeface="Inter" pitchFamily="34" charset="-122"/>
                <a:cs typeface="Arial" panose="020B0604020202020204" pitchFamily="34" charset="0"/>
              </a:rPr>
              <a:t>For Senior Honours semester 2 courses with missing work and no Good Cause, then if the student is graduating with an Honours degree (≥75% of Honours assessment submitted), calculate grade with missing portion as 0</a:t>
            </a:r>
            <a:endParaRPr lang="en-GB" sz="1400" noProof="0"/>
          </a:p>
        </p:txBody>
      </p:sp>
      <p:pic>
        <p:nvPicPr>
          <p:cNvPr id="20" name="Image 8" descr="preencoded.png"/>
          <p:cNvPicPr>
            <a:picLocks noChangeAspect="1"/>
          </p:cNvPicPr>
          <p:nvPr/>
        </p:nvPicPr>
        <p:blipFill>
          <a:blip r:embed="rId11"/>
          <a:stretch>
            <a:fillRect/>
          </a:stretch>
        </p:blipFill>
        <p:spPr>
          <a:xfrm>
            <a:off x="13365480" y="228600"/>
            <a:ext cx="1036320" cy="4533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C9839-174A-78E7-663E-26083AB307F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534681A-DE41-C92D-B5AC-025A9B337270}"/>
              </a:ext>
            </a:extLst>
          </p:cNvPr>
          <p:cNvPicPr>
            <a:picLocks noChangeAspect="1"/>
          </p:cNvPicPr>
          <p:nvPr/>
        </p:nvPicPr>
        <p:blipFill>
          <a:blip r:embed="rId3"/>
          <a:stretch>
            <a:fillRect/>
          </a:stretch>
        </p:blipFill>
        <p:spPr>
          <a:xfrm>
            <a:off x="9144000" y="0"/>
            <a:ext cx="5486400" cy="8229600"/>
          </a:xfrm>
          <a:prstGeom prst="rect">
            <a:avLst/>
          </a:prstGeom>
        </p:spPr>
      </p:pic>
      <p:sp>
        <p:nvSpPr>
          <p:cNvPr id="3" name="Text 0">
            <a:extLst>
              <a:ext uri="{FF2B5EF4-FFF2-40B4-BE49-F238E27FC236}">
                <a16:creationId xmlns:a16="http://schemas.microsoft.com/office/drawing/2014/main" id="{68277A0D-E52A-D78E-7E79-7D21A335583F}"/>
              </a:ext>
            </a:extLst>
          </p:cNvPr>
          <p:cNvSpPr/>
          <p:nvPr/>
        </p:nvSpPr>
        <p:spPr>
          <a:xfrm>
            <a:off x="793789" y="722362"/>
            <a:ext cx="7556421" cy="2126337"/>
          </a:xfrm>
          <a:prstGeom prst="rect">
            <a:avLst/>
          </a:prstGeom>
          <a:noFill/>
          <a:ln/>
        </p:spPr>
        <p:txBody>
          <a:bodyPr wrap="square" lIns="0" tIns="0" rIns="0" bIns="0" rtlCol="0" anchor="t"/>
          <a:lstStyle/>
          <a:p>
            <a:pPr marL="0" indent="0" algn="l">
              <a:lnSpc>
                <a:spcPts val="5550"/>
              </a:lnSpc>
              <a:buNone/>
            </a:pPr>
            <a:r>
              <a:rPr lang="en-GB" sz="4450" b="1" noProof="0">
                <a:solidFill>
                  <a:srgbClr val="003865"/>
                </a:solidFill>
                <a:latin typeface="Arial" panose="020B0604020202020204" pitchFamily="34" charset="0"/>
                <a:ea typeface="Inter Bold" pitchFamily="34" charset="-122"/>
                <a:cs typeface="Arial" panose="020B0604020202020204" pitchFamily="34" charset="0"/>
              </a:rPr>
              <a:t>Best Practice Guidelines for Examination Boards</a:t>
            </a:r>
            <a:endParaRPr lang="en-GB" sz="4450" noProof="0"/>
          </a:p>
        </p:txBody>
      </p:sp>
      <p:sp>
        <p:nvSpPr>
          <p:cNvPr id="4" name="Text 1">
            <a:extLst>
              <a:ext uri="{FF2B5EF4-FFF2-40B4-BE49-F238E27FC236}">
                <a16:creationId xmlns:a16="http://schemas.microsoft.com/office/drawing/2014/main" id="{F9891C2F-4D9F-0F5A-7DE4-848129813108}"/>
              </a:ext>
            </a:extLst>
          </p:cNvPr>
          <p:cNvSpPr/>
          <p:nvPr/>
        </p:nvSpPr>
        <p:spPr>
          <a:xfrm>
            <a:off x="793789" y="6228623"/>
            <a:ext cx="7556421" cy="1451610"/>
          </a:xfrm>
          <a:prstGeom prst="rect">
            <a:avLst/>
          </a:prstGeom>
          <a:noFill/>
          <a:ln/>
        </p:spPr>
        <p:txBody>
          <a:bodyPr wrap="square" lIns="0" tIns="0" rIns="0" bIns="0" rtlCol="0" anchor="b"/>
          <a:lstStyle/>
          <a:p>
            <a:pPr>
              <a:lnSpc>
                <a:spcPts val="2850"/>
              </a:lnSpc>
            </a:pPr>
            <a:r>
              <a:rPr lang="en-GB" sz="1750" noProof="0">
                <a:solidFill>
                  <a:srgbClr val="003865"/>
                </a:solidFill>
                <a:latin typeface="Arial" panose="020B0604020202020204" pitchFamily="34" charset="0"/>
                <a:ea typeface="Inter" pitchFamily="34" charset="-122"/>
                <a:cs typeface="Arial" panose="020B0604020202020204" pitchFamily="34" charset="0"/>
              </a:rPr>
              <a:t>March 2025
</a:t>
            </a:r>
          </a:p>
          <a:p>
            <a:pPr>
              <a:lnSpc>
                <a:spcPts val="2850"/>
              </a:lnSpc>
            </a:pPr>
            <a:r>
              <a:rPr lang="en-GB" sz="1750" noProof="0">
                <a:solidFill>
                  <a:srgbClr val="003865"/>
                </a:solidFill>
                <a:latin typeface="Arial" panose="020B0604020202020204" pitchFamily="34" charset="0"/>
                <a:ea typeface="Inter" pitchFamily="34" charset="-122"/>
                <a:cs typeface="Arial" panose="020B0604020202020204" pitchFamily="34" charset="0"/>
              </a:rPr>
              <a:t>This best practice is designed to enhance the rigour, transparency, and efficiency of examination board processes. The following recommendations establish a structured approach to pre-scrutiny, board proceedings, and documentation.</a:t>
            </a:r>
            <a:endParaRPr lang="en-GB" sz="1750" noProof="0"/>
          </a:p>
        </p:txBody>
      </p:sp>
    </p:spTree>
    <p:extLst>
      <p:ext uri="{BB962C8B-B14F-4D97-AF65-F5344CB8AC3E}">
        <p14:creationId xmlns:p14="http://schemas.microsoft.com/office/powerpoint/2010/main" val="3209697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79684"/>
            <a:ext cx="6768346" cy="708779"/>
          </a:xfrm>
          <a:prstGeom prst="rect">
            <a:avLst/>
          </a:prstGeom>
          <a:noFill/>
          <a:ln/>
        </p:spPr>
        <p:txBody>
          <a:bodyPr wrap="none" lIns="0" tIns="0" rIns="0" bIns="0" rtlCol="0" anchor="t"/>
          <a:lstStyle/>
          <a:p>
            <a:pPr marL="0" indent="0" algn="l">
              <a:lnSpc>
                <a:spcPts val="5550"/>
              </a:lnSpc>
              <a:buNone/>
            </a:pPr>
            <a:r>
              <a:rPr lang="en-GB" sz="4450" b="1" noProof="0">
                <a:solidFill>
                  <a:srgbClr val="003865"/>
                </a:solidFill>
                <a:latin typeface="Arial" panose="020B0604020202020204" pitchFamily="34" charset="0"/>
                <a:ea typeface="Inter Bold" pitchFamily="34" charset="-122"/>
                <a:cs typeface="Arial" panose="020B0604020202020204" pitchFamily="34" charset="0"/>
              </a:rPr>
              <a:t>Pre-Scrutiny Framework</a:t>
            </a:r>
            <a:endParaRPr lang="en-GB" sz="4450" noProof="0"/>
          </a:p>
        </p:txBody>
      </p:sp>
      <p:sp>
        <p:nvSpPr>
          <p:cNvPr id="3" name="Shape 1"/>
          <p:cNvSpPr/>
          <p:nvPr/>
        </p:nvSpPr>
        <p:spPr>
          <a:xfrm>
            <a:off x="793790" y="2583775"/>
            <a:ext cx="510302" cy="510302"/>
          </a:xfrm>
          <a:prstGeom prst="roundRect">
            <a:avLst>
              <a:gd name="adj" fmla="val 18669"/>
            </a:avLst>
          </a:prstGeom>
          <a:solidFill>
            <a:srgbClr val="013560"/>
          </a:solidFill>
          <a:ln w="7620">
            <a:solidFill>
              <a:srgbClr val="1A4E79"/>
            </a:solidFill>
            <a:prstDash val="solid"/>
          </a:ln>
        </p:spPr>
        <p:txBody>
          <a:bodyPr/>
          <a:lstStyle/>
          <a:p>
            <a:endParaRPr lang="en-GB" noProof="0"/>
          </a:p>
        </p:txBody>
      </p:sp>
      <p:pic>
        <p:nvPicPr>
          <p:cNvPr id="4" name="Image 0" descr="preencoded.png"/>
          <p:cNvPicPr>
            <a:picLocks noChangeAspect="1"/>
          </p:cNvPicPr>
          <p:nvPr/>
        </p:nvPicPr>
        <p:blipFill>
          <a:blip r:embed="rId4"/>
          <a:stretch>
            <a:fillRect/>
          </a:stretch>
        </p:blipFill>
        <p:spPr>
          <a:xfrm>
            <a:off x="878860" y="2626281"/>
            <a:ext cx="340162" cy="425291"/>
          </a:xfrm>
          <a:prstGeom prst="rect">
            <a:avLst/>
          </a:prstGeom>
        </p:spPr>
      </p:pic>
      <p:sp>
        <p:nvSpPr>
          <p:cNvPr id="5" name="Text 2"/>
          <p:cNvSpPr/>
          <p:nvPr/>
        </p:nvSpPr>
        <p:spPr>
          <a:xfrm>
            <a:off x="1530906" y="2583775"/>
            <a:ext cx="2835235"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Appoint Scrutineers</a:t>
            </a:r>
            <a:endParaRPr lang="en-GB" sz="2200" noProof="0"/>
          </a:p>
        </p:txBody>
      </p:sp>
      <p:sp>
        <p:nvSpPr>
          <p:cNvPr id="6" name="Text 3"/>
          <p:cNvSpPr/>
          <p:nvPr/>
        </p:nvSpPr>
        <p:spPr>
          <a:xfrm>
            <a:off x="1530906" y="3074194"/>
            <a:ext cx="5670947" cy="1451610"/>
          </a:xfrm>
          <a:prstGeom prst="rect">
            <a:avLst/>
          </a:prstGeom>
          <a:noFill/>
          <a:ln/>
        </p:spPr>
        <p:txBody>
          <a:bodyPr wrap="squar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A minimum of three designated colleagues are formally appointed to conduct pre-scrutiny checks of results before the exam board. Usually includes assessment officer.</a:t>
            </a:r>
            <a:endParaRPr lang="en-GB" sz="1750" noProof="0"/>
          </a:p>
        </p:txBody>
      </p:sp>
      <p:sp>
        <p:nvSpPr>
          <p:cNvPr id="7" name="Shape 4"/>
          <p:cNvSpPr/>
          <p:nvPr/>
        </p:nvSpPr>
        <p:spPr>
          <a:xfrm>
            <a:off x="7428667" y="2583775"/>
            <a:ext cx="510302" cy="510302"/>
          </a:xfrm>
          <a:prstGeom prst="roundRect">
            <a:avLst>
              <a:gd name="adj" fmla="val 18669"/>
            </a:avLst>
          </a:prstGeom>
          <a:solidFill>
            <a:srgbClr val="BE4D00"/>
          </a:solidFill>
          <a:ln w="7620">
            <a:solidFill>
              <a:srgbClr val="D76619"/>
            </a:solidFill>
            <a:prstDash val="solid"/>
          </a:ln>
        </p:spPr>
        <p:txBody>
          <a:bodyPr/>
          <a:lstStyle/>
          <a:p>
            <a:endParaRPr lang="en-GB" noProof="0"/>
          </a:p>
        </p:txBody>
      </p:sp>
      <p:pic>
        <p:nvPicPr>
          <p:cNvPr id="8" name="Image 1" descr="preencoded.png"/>
          <p:cNvPicPr>
            <a:picLocks noChangeAspect="1"/>
          </p:cNvPicPr>
          <p:nvPr/>
        </p:nvPicPr>
        <p:blipFill>
          <a:blip r:embed="rId5"/>
          <a:stretch>
            <a:fillRect/>
          </a:stretch>
        </p:blipFill>
        <p:spPr>
          <a:xfrm>
            <a:off x="7513737" y="2626281"/>
            <a:ext cx="340162" cy="425291"/>
          </a:xfrm>
          <a:prstGeom prst="rect">
            <a:avLst/>
          </a:prstGeom>
        </p:spPr>
      </p:pic>
      <p:sp>
        <p:nvSpPr>
          <p:cNvPr id="9" name="Text 5"/>
          <p:cNvSpPr/>
          <p:nvPr/>
        </p:nvSpPr>
        <p:spPr>
          <a:xfrm>
            <a:off x="8165783" y="2583775"/>
            <a:ext cx="3125510"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Schedule Pre-Scrutiny</a:t>
            </a:r>
            <a:endParaRPr lang="en-GB" sz="2200" noProof="0"/>
          </a:p>
        </p:txBody>
      </p:sp>
      <p:sp>
        <p:nvSpPr>
          <p:cNvPr id="10" name="Text 6"/>
          <p:cNvSpPr/>
          <p:nvPr/>
        </p:nvSpPr>
        <p:spPr>
          <a:xfrm>
            <a:off x="8165783" y="3074194"/>
            <a:ext cx="5670947" cy="1088708"/>
          </a:xfrm>
          <a:prstGeom prst="rect">
            <a:avLst/>
          </a:prstGeom>
          <a:noFill/>
          <a:ln/>
        </p:spPr>
        <p:txBody>
          <a:bodyPr wrap="squar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Scrutiny activities occur in the days before exam boards (sometimes 24 hours before, sometimes a few days). Marking timescales must be adhered to in order to permit this. Late marking may result in delayed graduation.</a:t>
            </a:r>
            <a:endParaRPr lang="en-GB" sz="1750" noProof="0"/>
          </a:p>
        </p:txBody>
      </p:sp>
      <p:sp>
        <p:nvSpPr>
          <p:cNvPr id="11" name="Shape 7"/>
          <p:cNvSpPr/>
          <p:nvPr/>
        </p:nvSpPr>
        <p:spPr>
          <a:xfrm>
            <a:off x="793790" y="5007769"/>
            <a:ext cx="510302" cy="510302"/>
          </a:xfrm>
          <a:prstGeom prst="roundRect">
            <a:avLst>
              <a:gd name="adj" fmla="val 18669"/>
            </a:avLst>
          </a:prstGeom>
          <a:solidFill>
            <a:srgbClr val="4F5961"/>
          </a:solidFill>
          <a:ln w="7620">
            <a:solidFill>
              <a:srgbClr val="68727A"/>
            </a:solidFill>
            <a:prstDash val="solid"/>
          </a:ln>
        </p:spPr>
        <p:txBody>
          <a:bodyPr/>
          <a:lstStyle/>
          <a:p>
            <a:endParaRPr lang="en-GB" noProof="0"/>
          </a:p>
        </p:txBody>
      </p:sp>
      <p:pic>
        <p:nvPicPr>
          <p:cNvPr id="12" name="Image 2" descr="preencoded.png"/>
          <p:cNvPicPr>
            <a:picLocks noChangeAspect="1"/>
          </p:cNvPicPr>
          <p:nvPr/>
        </p:nvPicPr>
        <p:blipFill>
          <a:blip r:embed="rId6"/>
          <a:stretch>
            <a:fillRect/>
          </a:stretch>
        </p:blipFill>
        <p:spPr>
          <a:xfrm>
            <a:off x="878860" y="5050274"/>
            <a:ext cx="340162" cy="425291"/>
          </a:xfrm>
          <a:prstGeom prst="rect">
            <a:avLst/>
          </a:prstGeom>
        </p:spPr>
      </p:pic>
      <p:sp>
        <p:nvSpPr>
          <p:cNvPr id="13" name="Text 8"/>
          <p:cNvSpPr/>
          <p:nvPr/>
        </p:nvSpPr>
        <p:spPr>
          <a:xfrm>
            <a:off x="1530906" y="5007769"/>
            <a:ext cx="2835235"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Certify Findings</a:t>
            </a:r>
            <a:endParaRPr lang="en-GB" sz="2200" noProof="0"/>
          </a:p>
        </p:txBody>
      </p:sp>
      <p:sp>
        <p:nvSpPr>
          <p:cNvPr id="14" name="Text 9"/>
          <p:cNvSpPr/>
          <p:nvPr/>
        </p:nvSpPr>
        <p:spPr>
          <a:xfrm>
            <a:off x="1530906" y="5498187"/>
            <a:ext cx="5670947" cy="1451610"/>
          </a:xfrm>
          <a:prstGeom prst="rect">
            <a:avLst/>
          </a:prstGeom>
          <a:noFill/>
          <a:ln/>
        </p:spPr>
        <p:txBody>
          <a:bodyPr wrap="squar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Scrutineers state in writing (email/Teams) that they are satisfied with the accuracy of reported outcomes or identify specific concerns requiring board attention.</a:t>
            </a:r>
            <a:endParaRPr lang="en-GB" sz="1750" noProof="0"/>
          </a:p>
        </p:txBody>
      </p:sp>
      <p:sp>
        <p:nvSpPr>
          <p:cNvPr id="15" name="Shape 10"/>
          <p:cNvSpPr/>
          <p:nvPr/>
        </p:nvSpPr>
        <p:spPr>
          <a:xfrm>
            <a:off x="7428667" y="5007769"/>
            <a:ext cx="510302" cy="510302"/>
          </a:xfrm>
          <a:prstGeom prst="roundRect">
            <a:avLst>
              <a:gd name="adj" fmla="val 18669"/>
            </a:avLst>
          </a:prstGeom>
          <a:solidFill>
            <a:srgbClr val="0075B0"/>
          </a:solidFill>
          <a:ln w="7620">
            <a:solidFill>
              <a:srgbClr val="198EC9"/>
            </a:solidFill>
            <a:prstDash val="solid"/>
          </a:ln>
        </p:spPr>
        <p:txBody>
          <a:bodyPr/>
          <a:lstStyle/>
          <a:p>
            <a:endParaRPr lang="en-GB" noProof="0"/>
          </a:p>
        </p:txBody>
      </p:sp>
      <p:pic>
        <p:nvPicPr>
          <p:cNvPr id="16" name="Image 3" descr="preencoded.png"/>
          <p:cNvPicPr>
            <a:picLocks noChangeAspect="1"/>
          </p:cNvPicPr>
          <p:nvPr/>
        </p:nvPicPr>
        <p:blipFill>
          <a:blip r:embed="rId7"/>
          <a:stretch>
            <a:fillRect/>
          </a:stretch>
        </p:blipFill>
        <p:spPr>
          <a:xfrm>
            <a:off x="7513737" y="5050274"/>
            <a:ext cx="340162" cy="425291"/>
          </a:xfrm>
          <a:prstGeom prst="rect">
            <a:avLst/>
          </a:prstGeom>
        </p:spPr>
      </p:pic>
      <p:sp>
        <p:nvSpPr>
          <p:cNvPr id="17" name="Text 11"/>
          <p:cNvSpPr/>
          <p:nvPr/>
        </p:nvSpPr>
        <p:spPr>
          <a:xfrm>
            <a:off x="8165783" y="5007769"/>
            <a:ext cx="2835235"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Allocate Time</a:t>
            </a:r>
            <a:endParaRPr lang="en-GB" sz="2200" noProof="0"/>
          </a:p>
        </p:txBody>
      </p:sp>
      <p:sp>
        <p:nvSpPr>
          <p:cNvPr id="18" name="Text 12"/>
          <p:cNvSpPr/>
          <p:nvPr/>
        </p:nvSpPr>
        <p:spPr>
          <a:xfrm>
            <a:off x="8165783" y="5498187"/>
            <a:ext cx="5670947" cy="1451610"/>
          </a:xfrm>
          <a:prstGeom prst="rect">
            <a:avLst/>
          </a:prstGeom>
          <a:noFill/>
          <a:ln/>
        </p:spPr>
        <p:txBody>
          <a:bodyPr wrap="squar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Scrutineers are asked to prioritise this time-sensitive task, scheduling dedicated hours for thorough review before the exam board, and marking therefore must be completed on time.</a:t>
            </a:r>
            <a:endParaRPr lang="en-GB" sz="1750" noProof="0"/>
          </a:p>
        </p:txBody>
      </p:sp>
      <p:pic>
        <p:nvPicPr>
          <p:cNvPr id="19" name="Image 4" descr="preencoded.png"/>
          <p:cNvPicPr>
            <a:picLocks noChangeAspect="1"/>
          </p:cNvPicPr>
          <p:nvPr/>
        </p:nvPicPr>
        <p:blipFill>
          <a:blip r:embed="rId8"/>
          <a:stretch>
            <a:fillRect/>
          </a:stretch>
        </p:blipFill>
        <p:spPr>
          <a:xfrm>
            <a:off x="13365480" y="228600"/>
            <a:ext cx="1036320" cy="45339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37103"/>
            <a:ext cx="8973503" cy="637937"/>
          </a:xfrm>
          <a:prstGeom prst="rect">
            <a:avLst/>
          </a:prstGeom>
          <a:noFill/>
          <a:ln/>
        </p:spPr>
        <p:txBody>
          <a:bodyPr wrap="none" lIns="0" tIns="0" rIns="0" bIns="0" rtlCol="0" anchor="t"/>
          <a:lstStyle/>
          <a:p>
            <a:pPr marL="0" indent="0" algn="l">
              <a:lnSpc>
                <a:spcPts val="5000"/>
              </a:lnSpc>
              <a:buNone/>
            </a:pPr>
            <a:r>
              <a:rPr lang="en-GB" sz="4000" b="1" noProof="0">
                <a:solidFill>
                  <a:srgbClr val="003865"/>
                </a:solidFill>
                <a:latin typeface="Arial" panose="020B0604020202020204" pitchFamily="34" charset="0"/>
                <a:ea typeface="Inter Bold" pitchFamily="34" charset="-122"/>
                <a:cs typeface="Arial" panose="020B0604020202020204" pitchFamily="34" charset="0"/>
              </a:rPr>
              <a:t>Suggested Pre-Scrutiny Procedures</a:t>
            </a:r>
            <a:endParaRPr lang="en-GB" sz="4000" noProof="0"/>
          </a:p>
        </p:txBody>
      </p:sp>
      <p:pic>
        <p:nvPicPr>
          <p:cNvPr id="3" name="Image 0" descr="preencoded.png"/>
          <p:cNvPicPr>
            <a:picLocks noChangeAspect="1"/>
          </p:cNvPicPr>
          <p:nvPr/>
        </p:nvPicPr>
        <p:blipFill>
          <a:blip r:embed="rId4"/>
          <a:stretch>
            <a:fillRect/>
          </a:stretch>
        </p:blipFill>
        <p:spPr>
          <a:xfrm>
            <a:off x="793790" y="1581150"/>
            <a:ext cx="1020723" cy="1502807"/>
          </a:xfrm>
          <a:prstGeom prst="rect">
            <a:avLst/>
          </a:prstGeom>
        </p:spPr>
      </p:pic>
      <p:sp>
        <p:nvSpPr>
          <p:cNvPr id="4" name="Text 1"/>
          <p:cNvSpPr/>
          <p:nvPr/>
        </p:nvSpPr>
        <p:spPr>
          <a:xfrm>
            <a:off x="2120622" y="1785223"/>
            <a:ext cx="3063478" cy="318849"/>
          </a:xfrm>
          <a:prstGeom prst="rect">
            <a:avLst/>
          </a:prstGeom>
          <a:noFill/>
          <a:ln/>
        </p:spPr>
        <p:txBody>
          <a:bodyPr wrap="none" lIns="0" tIns="0" rIns="0" bIns="0" rtlCol="0" anchor="t"/>
          <a:lstStyle/>
          <a:p>
            <a:pPr marL="0" indent="0" algn="l">
              <a:lnSpc>
                <a:spcPts val="250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Assessment Weightings </a:t>
            </a:r>
            <a:endParaRPr lang="en-GB" sz="2000" noProof="0"/>
          </a:p>
        </p:txBody>
      </p:sp>
      <p:sp>
        <p:nvSpPr>
          <p:cNvPr id="5" name="Text 2"/>
          <p:cNvSpPr/>
          <p:nvPr/>
        </p:nvSpPr>
        <p:spPr>
          <a:xfrm>
            <a:off x="2120622" y="2226469"/>
            <a:ext cx="11715988" cy="653415"/>
          </a:xfrm>
          <a:prstGeom prst="rect">
            <a:avLst/>
          </a:prstGeom>
          <a:noFill/>
          <a:ln/>
        </p:spPr>
        <p:txBody>
          <a:bodyPr wrap="square" lIns="0" tIns="0" rIns="0" bIns="0" rtlCol="0" anchor="t"/>
          <a:lstStyle/>
          <a:p>
            <a:pPr marL="0" indent="0" algn="l">
              <a:lnSpc>
                <a:spcPts val="2550"/>
              </a:lnSpc>
              <a:buNone/>
            </a:pPr>
            <a:r>
              <a:rPr lang="en-GB" sz="1600" noProof="0">
                <a:solidFill>
                  <a:srgbClr val="003865"/>
                </a:solidFill>
                <a:latin typeface="Arial" panose="020B0604020202020204" pitchFamily="34" charset="0"/>
                <a:ea typeface="Inter" pitchFamily="34" charset="-122"/>
                <a:cs typeface="Arial" panose="020B0604020202020204" pitchFamily="34" charset="0"/>
              </a:rPr>
              <a:t>Confirm all assessment components are correctly weighted and present in the spreadsheet calculations. This ensures the final grade accurately reflects the assessment structure. (Course conveners can be asked to do this.)</a:t>
            </a:r>
            <a:endParaRPr lang="en-GB" sz="1600" noProof="0"/>
          </a:p>
        </p:txBody>
      </p:sp>
      <p:pic>
        <p:nvPicPr>
          <p:cNvPr id="6" name="Image 1" descr="preencoded.png"/>
          <p:cNvPicPr>
            <a:picLocks noChangeAspect="1"/>
          </p:cNvPicPr>
          <p:nvPr/>
        </p:nvPicPr>
        <p:blipFill>
          <a:blip r:embed="rId5"/>
          <a:stretch>
            <a:fillRect/>
          </a:stretch>
        </p:blipFill>
        <p:spPr>
          <a:xfrm>
            <a:off x="793790" y="3083957"/>
            <a:ext cx="1020723" cy="1502807"/>
          </a:xfrm>
          <a:prstGeom prst="rect">
            <a:avLst/>
          </a:prstGeom>
        </p:spPr>
      </p:pic>
      <p:sp>
        <p:nvSpPr>
          <p:cNvPr id="7" name="Text 3"/>
          <p:cNvSpPr/>
          <p:nvPr/>
        </p:nvSpPr>
        <p:spPr>
          <a:xfrm>
            <a:off x="2120622" y="3288030"/>
            <a:ext cx="2551748" cy="318849"/>
          </a:xfrm>
          <a:prstGeom prst="rect">
            <a:avLst/>
          </a:prstGeom>
          <a:noFill/>
          <a:ln/>
        </p:spPr>
        <p:txBody>
          <a:bodyPr wrap="none" lIns="0" tIns="0" rIns="0" bIns="0" rtlCol="0" anchor="t"/>
          <a:lstStyle/>
          <a:p>
            <a:pPr marL="0" indent="0" algn="l">
              <a:lnSpc>
                <a:spcPts val="250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Random Sampling 1</a:t>
            </a:r>
            <a:endParaRPr lang="en-GB" sz="2000" noProof="0"/>
          </a:p>
        </p:txBody>
      </p:sp>
      <p:sp>
        <p:nvSpPr>
          <p:cNvPr id="8" name="Text 4"/>
          <p:cNvSpPr/>
          <p:nvPr/>
        </p:nvSpPr>
        <p:spPr>
          <a:xfrm>
            <a:off x="2120622" y="3729276"/>
            <a:ext cx="11715988" cy="653415"/>
          </a:xfrm>
          <a:prstGeom prst="rect">
            <a:avLst/>
          </a:prstGeom>
          <a:noFill/>
          <a:ln/>
        </p:spPr>
        <p:txBody>
          <a:bodyPr wrap="square" lIns="0" tIns="0" rIns="0" bIns="0" rtlCol="0" anchor="t"/>
          <a:lstStyle/>
          <a:p>
            <a:pPr marL="0" indent="0" algn="l">
              <a:lnSpc>
                <a:spcPts val="2550"/>
              </a:lnSpc>
              <a:buNone/>
            </a:pPr>
            <a:r>
              <a:rPr lang="en-GB" sz="1600" noProof="0">
                <a:solidFill>
                  <a:srgbClr val="003865"/>
                </a:solidFill>
                <a:latin typeface="Arial" panose="020B0604020202020204" pitchFamily="34" charset="0"/>
                <a:ea typeface="Inter" pitchFamily="34" charset="-122"/>
                <a:cs typeface="Arial" panose="020B0604020202020204" pitchFamily="34" charset="0"/>
              </a:rPr>
              <a:t>Conduct spot checks for several randomly selected students, comparing grades in Moodle or </a:t>
            </a:r>
            <a:r>
              <a:rPr lang="en-GB" sz="1600" noProof="0" err="1">
                <a:solidFill>
                  <a:srgbClr val="003865"/>
                </a:solidFill>
                <a:latin typeface="Arial" panose="020B0604020202020204" pitchFamily="34" charset="0"/>
                <a:ea typeface="Inter" pitchFamily="34" charset="-122"/>
                <a:cs typeface="Arial" panose="020B0604020202020204" pitchFamily="34" charset="0"/>
              </a:rPr>
              <a:t>MyGrades</a:t>
            </a:r>
            <a:r>
              <a:rPr lang="en-GB" sz="1600" noProof="0">
                <a:solidFill>
                  <a:srgbClr val="003865"/>
                </a:solidFill>
                <a:latin typeface="Arial" panose="020B0604020202020204" pitchFamily="34" charset="0"/>
                <a:ea typeface="Inter" pitchFamily="34" charset="-122"/>
                <a:cs typeface="Arial" panose="020B0604020202020204" pitchFamily="34" charset="0"/>
              </a:rPr>
              <a:t> against those recorded in board spreadsheets. (Course conveners can be asked to do this.)</a:t>
            </a:r>
            <a:endParaRPr lang="en-GB" sz="1600" noProof="0"/>
          </a:p>
        </p:txBody>
      </p:sp>
      <p:pic>
        <p:nvPicPr>
          <p:cNvPr id="9" name="Image 2" descr="preencoded.png"/>
          <p:cNvPicPr>
            <a:picLocks noChangeAspect="1"/>
          </p:cNvPicPr>
          <p:nvPr/>
        </p:nvPicPr>
        <p:blipFill>
          <a:blip r:embed="rId6"/>
          <a:stretch>
            <a:fillRect/>
          </a:stretch>
        </p:blipFill>
        <p:spPr>
          <a:xfrm>
            <a:off x="793790" y="4586764"/>
            <a:ext cx="1020723" cy="1502807"/>
          </a:xfrm>
          <a:prstGeom prst="rect">
            <a:avLst/>
          </a:prstGeom>
        </p:spPr>
      </p:pic>
      <p:sp>
        <p:nvSpPr>
          <p:cNvPr id="10" name="Text 5"/>
          <p:cNvSpPr/>
          <p:nvPr/>
        </p:nvSpPr>
        <p:spPr>
          <a:xfrm>
            <a:off x="2120622" y="4790837"/>
            <a:ext cx="2551748" cy="318849"/>
          </a:xfrm>
          <a:prstGeom prst="rect">
            <a:avLst/>
          </a:prstGeom>
          <a:noFill/>
          <a:ln/>
        </p:spPr>
        <p:txBody>
          <a:bodyPr wrap="none" lIns="0" tIns="0" rIns="0" bIns="0" rtlCol="0" anchor="t"/>
          <a:lstStyle/>
          <a:p>
            <a:pPr marL="0" indent="0" algn="l">
              <a:lnSpc>
                <a:spcPts val="250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Random Sampling 2</a:t>
            </a:r>
            <a:endParaRPr lang="en-GB" sz="2000" noProof="0"/>
          </a:p>
        </p:txBody>
      </p:sp>
      <p:sp>
        <p:nvSpPr>
          <p:cNvPr id="11" name="Text 6"/>
          <p:cNvSpPr/>
          <p:nvPr/>
        </p:nvSpPr>
        <p:spPr>
          <a:xfrm>
            <a:off x="2120622" y="5232083"/>
            <a:ext cx="11715988" cy="653415"/>
          </a:xfrm>
          <a:prstGeom prst="rect">
            <a:avLst/>
          </a:prstGeom>
          <a:noFill/>
          <a:ln/>
        </p:spPr>
        <p:txBody>
          <a:bodyPr wrap="square" lIns="0" tIns="0" rIns="0" bIns="0" rtlCol="0" anchor="t"/>
          <a:lstStyle/>
          <a:p>
            <a:pPr marL="0" indent="0" algn="l">
              <a:lnSpc>
                <a:spcPts val="2550"/>
              </a:lnSpc>
              <a:buNone/>
            </a:pPr>
            <a:r>
              <a:rPr lang="en-GB" sz="1600" noProof="0">
                <a:solidFill>
                  <a:srgbClr val="003865"/>
                </a:solidFill>
                <a:latin typeface="Arial" panose="020B0604020202020204" pitchFamily="34" charset="0"/>
                <a:ea typeface="Inter" pitchFamily="34" charset="-122"/>
                <a:cs typeface="Arial" panose="020B0604020202020204" pitchFamily="34" charset="0"/>
              </a:rPr>
              <a:t>Conduct spot checks for randomly selected students to check that the spreadsheet outcome matches what should be the outcome. Scan the spreadsheet for anomalous patterns in grades or unusual outliers.</a:t>
            </a:r>
            <a:endParaRPr lang="en-GB" sz="1600" noProof="0"/>
          </a:p>
        </p:txBody>
      </p:sp>
      <p:pic>
        <p:nvPicPr>
          <p:cNvPr id="12" name="Image 3" descr="preencoded.png"/>
          <p:cNvPicPr>
            <a:picLocks noChangeAspect="1"/>
          </p:cNvPicPr>
          <p:nvPr/>
        </p:nvPicPr>
        <p:blipFill>
          <a:blip r:embed="rId7"/>
          <a:stretch>
            <a:fillRect/>
          </a:stretch>
        </p:blipFill>
        <p:spPr>
          <a:xfrm>
            <a:off x="793790" y="6089571"/>
            <a:ext cx="1020723" cy="1502807"/>
          </a:xfrm>
          <a:prstGeom prst="rect">
            <a:avLst/>
          </a:prstGeom>
        </p:spPr>
      </p:pic>
      <p:sp>
        <p:nvSpPr>
          <p:cNvPr id="13" name="Text 7"/>
          <p:cNvSpPr/>
          <p:nvPr/>
        </p:nvSpPr>
        <p:spPr>
          <a:xfrm>
            <a:off x="2120622" y="6293644"/>
            <a:ext cx="2753678" cy="318849"/>
          </a:xfrm>
          <a:prstGeom prst="rect">
            <a:avLst/>
          </a:prstGeom>
          <a:noFill/>
          <a:ln/>
        </p:spPr>
        <p:txBody>
          <a:bodyPr wrap="none" lIns="0" tIns="0" rIns="0" bIns="0" rtlCol="0" anchor="t"/>
          <a:lstStyle/>
          <a:p>
            <a:pPr marL="0" indent="0" algn="l">
              <a:lnSpc>
                <a:spcPts val="250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Complex Case Review</a:t>
            </a:r>
            <a:endParaRPr lang="en-GB" sz="2000" noProof="0"/>
          </a:p>
        </p:txBody>
      </p:sp>
      <p:sp>
        <p:nvSpPr>
          <p:cNvPr id="14" name="Text 8"/>
          <p:cNvSpPr/>
          <p:nvPr/>
        </p:nvSpPr>
        <p:spPr>
          <a:xfrm>
            <a:off x="2120622" y="6734889"/>
            <a:ext cx="11715988" cy="653415"/>
          </a:xfrm>
          <a:prstGeom prst="rect">
            <a:avLst/>
          </a:prstGeom>
          <a:noFill/>
          <a:ln/>
        </p:spPr>
        <p:txBody>
          <a:bodyPr wrap="square" lIns="0" tIns="0" rIns="0" bIns="0" rtlCol="0" anchor="t"/>
          <a:lstStyle/>
          <a:p>
            <a:pPr marL="0" indent="0" algn="l">
              <a:lnSpc>
                <a:spcPts val="2550"/>
              </a:lnSpc>
              <a:buNone/>
            </a:pPr>
            <a:r>
              <a:rPr lang="en-GB" sz="1600" noProof="0">
                <a:solidFill>
                  <a:srgbClr val="003865"/>
                </a:solidFill>
                <a:latin typeface="Arial" panose="020B0604020202020204" pitchFamily="34" charset="0"/>
                <a:ea typeface="Inter" pitchFamily="34" charset="-122"/>
                <a:cs typeface="Arial" panose="020B0604020202020204" pitchFamily="34" charset="0"/>
              </a:rPr>
              <a:t>Examine cases with special markers (MV, NS) and students with unusual or complex course outcomes (CW, CR, fails) to ensure proper recording of these exceptional circumstances. Sorting the spreadsheet by final grade helps with this.</a:t>
            </a:r>
            <a:endParaRPr lang="en-GB" sz="1600" noProof="0"/>
          </a:p>
        </p:txBody>
      </p:sp>
      <p:pic>
        <p:nvPicPr>
          <p:cNvPr id="15" name="Image 4" descr="preencoded.png"/>
          <p:cNvPicPr>
            <a:picLocks noChangeAspect="1"/>
          </p:cNvPicPr>
          <p:nvPr/>
        </p:nvPicPr>
        <p:blipFill>
          <a:blip r:embed="rId8"/>
          <a:stretch>
            <a:fillRect/>
          </a:stretch>
        </p:blipFill>
        <p:spPr>
          <a:xfrm>
            <a:off x="13365480" y="228600"/>
            <a:ext cx="1036320" cy="45339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43426"/>
            <a:ext cx="5387102" cy="673418"/>
          </a:xfrm>
          <a:prstGeom prst="rect">
            <a:avLst/>
          </a:prstGeom>
          <a:noFill/>
          <a:ln/>
        </p:spPr>
        <p:txBody>
          <a:bodyPr wrap="none" lIns="0" tIns="0" rIns="0" bIns="0" rtlCol="0" anchor="t"/>
          <a:lstStyle/>
          <a:p>
            <a:pPr marL="0" indent="0" algn="l">
              <a:lnSpc>
                <a:spcPts val="5300"/>
              </a:lnSpc>
              <a:buNone/>
            </a:pPr>
            <a:r>
              <a:rPr lang="en-GB" sz="4200" b="1" noProof="0">
                <a:solidFill>
                  <a:srgbClr val="003865"/>
                </a:solidFill>
                <a:latin typeface="Arial" panose="020B0604020202020204" pitchFamily="34" charset="0"/>
                <a:ea typeface="Inter Bold" pitchFamily="34" charset="-122"/>
                <a:cs typeface="Arial" panose="020B0604020202020204" pitchFamily="34" charset="0"/>
              </a:rPr>
              <a:t>Scrutineer Activity</a:t>
            </a:r>
            <a:endParaRPr lang="en-GB" sz="4200" noProof="0"/>
          </a:p>
        </p:txBody>
      </p:sp>
      <p:sp>
        <p:nvSpPr>
          <p:cNvPr id="3" name="Shape 1"/>
          <p:cNvSpPr/>
          <p:nvPr/>
        </p:nvSpPr>
        <p:spPr>
          <a:xfrm>
            <a:off x="7299960" y="1847731"/>
            <a:ext cx="30480" cy="5051108"/>
          </a:xfrm>
          <a:prstGeom prst="roundRect">
            <a:avLst>
              <a:gd name="adj" fmla="val 296930"/>
            </a:avLst>
          </a:prstGeom>
          <a:solidFill>
            <a:srgbClr val="000000">
              <a:alpha val="8000"/>
            </a:srgbClr>
          </a:solidFill>
          <a:ln/>
        </p:spPr>
        <p:txBody>
          <a:bodyPr/>
          <a:lstStyle/>
          <a:p>
            <a:endParaRPr lang="en-GB" noProof="0"/>
          </a:p>
        </p:txBody>
      </p:sp>
      <p:sp>
        <p:nvSpPr>
          <p:cNvPr id="4" name="Shape 2"/>
          <p:cNvSpPr/>
          <p:nvPr/>
        </p:nvSpPr>
        <p:spPr>
          <a:xfrm>
            <a:off x="6456878" y="2317313"/>
            <a:ext cx="646390" cy="30480"/>
          </a:xfrm>
          <a:prstGeom prst="roundRect">
            <a:avLst>
              <a:gd name="adj" fmla="val 296930"/>
            </a:avLst>
          </a:prstGeom>
          <a:solidFill>
            <a:srgbClr val="1A4E79"/>
          </a:solidFill>
          <a:ln/>
        </p:spPr>
        <p:txBody>
          <a:bodyPr/>
          <a:lstStyle/>
          <a:p>
            <a:endParaRPr lang="en-GB" noProof="0"/>
          </a:p>
        </p:txBody>
      </p:sp>
      <p:sp>
        <p:nvSpPr>
          <p:cNvPr id="5" name="Shape 3"/>
          <p:cNvSpPr/>
          <p:nvPr/>
        </p:nvSpPr>
        <p:spPr>
          <a:xfrm>
            <a:off x="7072789" y="2090142"/>
            <a:ext cx="484823" cy="484823"/>
          </a:xfrm>
          <a:prstGeom prst="roundRect">
            <a:avLst>
              <a:gd name="adj" fmla="val 18667"/>
            </a:avLst>
          </a:prstGeom>
          <a:solidFill>
            <a:srgbClr val="013560"/>
          </a:solidFill>
          <a:ln w="7620">
            <a:solidFill>
              <a:srgbClr val="1A4E79"/>
            </a:solidFill>
            <a:prstDash val="solid"/>
          </a:ln>
        </p:spPr>
        <p:txBody>
          <a:bodyPr/>
          <a:lstStyle/>
          <a:p>
            <a:endParaRPr lang="en-GB" noProof="0"/>
          </a:p>
        </p:txBody>
      </p:sp>
      <p:pic>
        <p:nvPicPr>
          <p:cNvPr id="6" name="Image 0" descr="preencoded.png"/>
          <p:cNvPicPr>
            <a:picLocks noChangeAspect="1"/>
          </p:cNvPicPr>
          <p:nvPr/>
        </p:nvPicPr>
        <p:blipFill>
          <a:blip r:embed="rId4"/>
          <a:stretch>
            <a:fillRect/>
          </a:stretch>
        </p:blipFill>
        <p:spPr>
          <a:xfrm>
            <a:off x="7153632" y="2130564"/>
            <a:ext cx="323136" cy="403979"/>
          </a:xfrm>
          <a:prstGeom prst="rect">
            <a:avLst/>
          </a:prstGeom>
        </p:spPr>
      </p:pic>
      <p:sp>
        <p:nvSpPr>
          <p:cNvPr id="7" name="Text 4"/>
          <p:cNvSpPr/>
          <p:nvPr/>
        </p:nvSpPr>
        <p:spPr>
          <a:xfrm>
            <a:off x="2561987" y="2063115"/>
            <a:ext cx="3675817" cy="336590"/>
          </a:xfrm>
          <a:prstGeom prst="rect">
            <a:avLst/>
          </a:prstGeom>
          <a:noFill/>
          <a:ln/>
        </p:spPr>
        <p:txBody>
          <a:bodyPr wrap="none" lIns="0" tIns="0" rIns="0" bIns="0" rtlCol="0" anchor="t"/>
          <a:lstStyle/>
          <a:p>
            <a:pPr marL="0" indent="0" algn="r">
              <a:lnSpc>
                <a:spcPts val="2650"/>
              </a:lnSpc>
              <a:buNone/>
            </a:pPr>
            <a:r>
              <a:rPr lang="en-GB" sz="2100" b="1" noProof="0">
                <a:solidFill>
                  <a:srgbClr val="003865"/>
                </a:solidFill>
                <a:latin typeface="Arial" panose="020B0604020202020204" pitchFamily="34" charset="0"/>
                <a:ea typeface="Inter Bold" pitchFamily="34" charset="-122"/>
                <a:cs typeface="Arial" panose="020B0604020202020204" pitchFamily="34" charset="0"/>
              </a:rPr>
              <a:t>Review Board Spreadsheets</a:t>
            </a:r>
            <a:endParaRPr lang="en-GB" sz="2100" noProof="0"/>
          </a:p>
        </p:txBody>
      </p:sp>
      <p:sp>
        <p:nvSpPr>
          <p:cNvPr id="8" name="Text 5"/>
          <p:cNvSpPr/>
          <p:nvPr/>
        </p:nvSpPr>
        <p:spPr>
          <a:xfrm>
            <a:off x="793790" y="2528888"/>
            <a:ext cx="5444014" cy="689610"/>
          </a:xfrm>
          <a:prstGeom prst="rect">
            <a:avLst/>
          </a:prstGeom>
          <a:noFill/>
          <a:ln/>
        </p:spPr>
        <p:txBody>
          <a:bodyPr wrap="square" lIns="0" tIns="0" rIns="0" bIns="0" rtlCol="0" anchor="t"/>
          <a:lstStyle/>
          <a:p>
            <a:pPr marL="0" indent="0" algn="r">
              <a:lnSpc>
                <a:spcPts val="2700"/>
              </a:lnSpc>
              <a:buNone/>
            </a:pPr>
            <a:r>
              <a:rPr lang="en-GB" sz="1650" noProof="0">
                <a:solidFill>
                  <a:srgbClr val="003865"/>
                </a:solidFill>
                <a:latin typeface="Arial" panose="020B0604020202020204" pitchFamily="34" charset="0"/>
                <a:ea typeface="Inter" pitchFamily="34" charset="-122"/>
                <a:cs typeface="Arial" panose="020B0604020202020204" pitchFamily="34" charset="0"/>
              </a:rPr>
              <a:t>Scrutineers examine assessment data for accuracy, completeness and internal consistency</a:t>
            </a:r>
            <a:endParaRPr lang="en-GB" sz="1650" noProof="0"/>
          </a:p>
        </p:txBody>
      </p:sp>
      <p:sp>
        <p:nvSpPr>
          <p:cNvPr id="9" name="Shape 6"/>
          <p:cNvSpPr/>
          <p:nvPr/>
        </p:nvSpPr>
        <p:spPr>
          <a:xfrm>
            <a:off x="7527131" y="3394591"/>
            <a:ext cx="646390" cy="30480"/>
          </a:xfrm>
          <a:prstGeom prst="roundRect">
            <a:avLst>
              <a:gd name="adj" fmla="val 296930"/>
            </a:avLst>
          </a:prstGeom>
          <a:solidFill>
            <a:srgbClr val="D76619"/>
          </a:solidFill>
          <a:ln/>
        </p:spPr>
        <p:txBody>
          <a:bodyPr/>
          <a:lstStyle/>
          <a:p>
            <a:endParaRPr lang="en-GB" noProof="0"/>
          </a:p>
        </p:txBody>
      </p:sp>
      <p:sp>
        <p:nvSpPr>
          <p:cNvPr id="10" name="Shape 7"/>
          <p:cNvSpPr/>
          <p:nvPr/>
        </p:nvSpPr>
        <p:spPr>
          <a:xfrm>
            <a:off x="7072789" y="3167420"/>
            <a:ext cx="484823" cy="484823"/>
          </a:xfrm>
          <a:prstGeom prst="roundRect">
            <a:avLst>
              <a:gd name="adj" fmla="val 18667"/>
            </a:avLst>
          </a:prstGeom>
          <a:solidFill>
            <a:srgbClr val="BE4D00"/>
          </a:solidFill>
          <a:ln w="7620">
            <a:solidFill>
              <a:srgbClr val="D76619"/>
            </a:solidFill>
            <a:prstDash val="solid"/>
          </a:ln>
        </p:spPr>
        <p:txBody>
          <a:bodyPr/>
          <a:lstStyle/>
          <a:p>
            <a:endParaRPr lang="en-GB" noProof="0"/>
          </a:p>
        </p:txBody>
      </p:sp>
      <p:pic>
        <p:nvPicPr>
          <p:cNvPr id="11" name="Image 1" descr="preencoded.png"/>
          <p:cNvPicPr>
            <a:picLocks noChangeAspect="1"/>
          </p:cNvPicPr>
          <p:nvPr/>
        </p:nvPicPr>
        <p:blipFill>
          <a:blip r:embed="rId5"/>
          <a:stretch>
            <a:fillRect/>
          </a:stretch>
        </p:blipFill>
        <p:spPr>
          <a:xfrm>
            <a:off x="7153632" y="3207841"/>
            <a:ext cx="323136" cy="403979"/>
          </a:xfrm>
          <a:prstGeom prst="rect">
            <a:avLst/>
          </a:prstGeom>
        </p:spPr>
      </p:pic>
      <p:sp>
        <p:nvSpPr>
          <p:cNvPr id="12" name="Text 8"/>
          <p:cNvSpPr/>
          <p:nvPr/>
        </p:nvSpPr>
        <p:spPr>
          <a:xfrm>
            <a:off x="8392597" y="3140393"/>
            <a:ext cx="2693551" cy="336590"/>
          </a:xfrm>
          <a:prstGeom prst="rect">
            <a:avLst/>
          </a:prstGeom>
          <a:noFill/>
          <a:ln/>
        </p:spPr>
        <p:txBody>
          <a:bodyPr wrap="none" lIns="0" tIns="0" rIns="0" bIns="0" rtlCol="0" anchor="t"/>
          <a:lstStyle/>
          <a:p>
            <a:pPr marL="0" indent="0" algn="l">
              <a:lnSpc>
                <a:spcPts val="2650"/>
              </a:lnSpc>
              <a:buNone/>
            </a:pPr>
            <a:r>
              <a:rPr lang="en-GB" sz="2100" b="1" noProof="0">
                <a:solidFill>
                  <a:srgbClr val="003865"/>
                </a:solidFill>
                <a:latin typeface="Arial" panose="020B0604020202020204" pitchFamily="34" charset="0"/>
                <a:ea typeface="Inter Bold" pitchFamily="34" charset="-122"/>
                <a:cs typeface="Arial" panose="020B0604020202020204" pitchFamily="34" charset="0"/>
              </a:rPr>
              <a:t>Flag Anomalies</a:t>
            </a:r>
            <a:endParaRPr lang="en-GB" sz="2100" noProof="0"/>
          </a:p>
        </p:txBody>
      </p:sp>
      <p:sp>
        <p:nvSpPr>
          <p:cNvPr id="13" name="Text 9"/>
          <p:cNvSpPr/>
          <p:nvPr/>
        </p:nvSpPr>
        <p:spPr>
          <a:xfrm>
            <a:off x="8392597" y="3606165"/>
            <a:ext cx="5444014" cy="1034415"/>
          </a:xfrm>
          <a:prstGeom prst="rect">
            <a:avLst/>
          </a:prstGeom>
          <a:noFill/>
          <a:ln/>
        </p:spPr>
        <p:txBody>
          <a:bodyPr wrap="square" lIns="0" tIns="0" rIns="0" bIns="0" rtlCol="0" anchor="t"/>
          <a:lstStyle/>
          <a:p>
            <a:pPr marL="0" indent="0" algn="l">
              <a:lnSpc>
                <a:spcPts val="2700"/>
              </a:lnSpc>
              <a:buNone/>
            </a:pPr>
            <a:r>
              <a:rPr lang="en-GB" sz="1650" noProof="0">
                <a:solidFill>
                  <a:srgbClr val="003865"/>
                </a:solidFill>
                <a:latin typeface="Arial" panose="020B0604020202020204" pitchFamily="34" charset="0"/>
                <a:ea typeface="Inter" pitchFamily="34" charset="-122"/>
                <a:cs typeface="Arial" panose="020B0604020202020204" pitchFamily="34" charset="0"/>
              </a:rPr>
              <a:t>Identify and document any discrepancies or concerns requiring discussion by scrutineers or by the exam board </a:t>
            </a:r>
            <a:endParaRPr lang="en-GB" sz="1650" noProof="0"/>
          </a:p>
        </p:txBody>
      </p:sp>
      <p:sp>
        <p:nvSpPr>
          <p:cNvPr id="14" name="Shape 10"/>
          <p:cNvSpPr/>
          <p:nvPr/>
        </p:nvSpPr>
        <p:spPr>
          <a:xfrm>
            <a:off x="6456878" y="4467701"/>
            <a:ext cx="646390" cy="30480"/>
          </a:xfrm>
          <a:prstGeom prst="roundRect">
            <a:avLst>
              <a:gd name="adj" fmla="val 296930"/>
            </a:avLst>
          </a:prstGeom>
          <a:solidFill>
            <a:srgbClr val="68727A"/>
          </a:solidFill>
          <a:ln/>
        </p:spPr>
        <p:txBody>
          <a:bodyPr/>
          <a:lstStyle/>
          <a:p>
            <a:endParaRPr lang="en-GB" noProof="0"/>
          </a:p>
        </p:txBody>
      </p:sp>
      <p:sp>
        <p:nvSpPr>
          <p:cNvPr id="15" name="Shape 11"/>
          <p:cNvSpPr/>
          <p:nvPr/>
        </p:nvSpPr>
        <p:spPr>
          <a:xfrm>
            <a:off x="7072789" y="4240530"/>
            <a:ext cx="484823" cy="484823"/>
          </a:xfrm>
          <a:prstGeom prst="roundRect">
            <a:avLst>
              <a:gd name="adj" fmla="val 18667"/>
            </a:avLst>
          </a:prstGeom>
          <a:solidFill>
            <a:srgbClr val="4F5961"/>
          </a:solidFill>
          <a:ln w="7620">
            <a:solidFill>
              <a:srgbClr val="68727A"/>
            </a:solidFill>
            <a:prstDash val="solid"/>
          </a:ln>
        </p:spPr>
        <p:txBody>
          <a:bodyPr/>
          <a:lstStyle/>
          <a:p>
            <a:endParaRPr lang="en-GB" noProof="0"/>
          </a:p>
        </p:txBody>
      </p:sp>
      <p:pic>
        <p:nvPicPr>
          <p:cNvPr id="16" name="Image 2" descr="preencoded.png"/>
          <p:cNvPicPr>
            <a:picLocks noChangeAspect="1"/>
          </p:cNvPicPr>
          <p:nvPr/>
        </p:nvPicPr>
        <p:blipFill>
          <a:blip r:embed="rId6"/>
          <a:stretch>
            <a:fillRect/>
          </a:stretch>
        </p:blipFill>
        <p:spPr>
          <a:xfrm>
            <a:off x="7153632" y="4280952"/>
            <a:ext cx="323136" cy="403979"/>
          </a:xfrm>
          <a:prstGeom prst="rect">
            <a:avLst/>
          </a:prstGeom>
        </p:spPr>
      </p:pic>
      <p:sp>
        <p:nvSpPr>
          <p:cNvPr id="17" name="Text 12"/>
          <p:cNvSpPr/>
          <p:nvPr/>
        </p:nvSpPr>
        <p:spPr>
          <a:xfrm>
            <a:off x="3544253" y="4213503"/>
            <a:ext cx="2693551" cy="336590"/>
          </a:xfrm>
          <a:prstGeom prst="rect">
            <a:avLst/>
          </a:prstGeom>
          <a:noFill/>
          <a:ln/>
        </p:spPr>
        <p:txBody>
          <a:bodyPr wrap="none" lIns="0" tIns="0" rIns="0" bIns="0" rtlCol="0" anchor="t"/>
          <a:lstStyle/>
          <a:p>
            <a:pPr marL="0" indent="0" algn="r">
              <a:lnSpc>
                <a:spcPts val="2650"/>
              </a:lnSpc>
              <a:buNone/>
            </a:pPr>
            <a:r>
              <a:rPr lang="en-GB" sz="2100" b="1" noProof="0">
                <a:solidFill>
                  <a:srgbClr val="003865"/>
                </a:solidFill>
                <a:latin typeface="Arial" panose="020B0604020202020204" pitchFamily="34" charset="0"/>
                <a:ea typeface="Inter Bold" pitchFamily="34" charset="-122"/>
                <a:cs typeface="Arial" panose="020B0604020202020204" pitchFamily="34" charset="0"/>
              </a:rPr>
              <a:t>Propose Solutions</a:t>
            </a:r>
            <a:endParaRPr lang="en-GB" sz="2100" noProof="0"/>
          </a:p>
        </p:txBody>
      </p:sp>
      <p:sp>
        <p:nvSpPr>
          <p:cNvPr id="18" name="Text 13"/>
          <p:cNvSpPr/>
          <p:nvPr/>
        </p:nvSpPr>
        <p:spPr>
          <a:xfrm>
            <a:off x="1579208" y="4679275"/>
            <a:ext cx="4658596" cy="1034415"/>
          </a:xfrm>
          <a:prstGeom prst="rect">
            <a:avLst/>
          </a:prstGeom>
          <a:noFill/>
          <a:ln/>
        </p:spPr>
        <p:txBody>
          <a:bodyPr wrap="square" lIns="0" tIns="0" rIns="0" bIns="0" rtlCol="0" anchor="t"/>
          <a:lstStyle/>
          <a:p>
            <a:pPr marL="0" indent="0" algn="r">
              <a:lnSpc>
                <a:spcPts val="2700"/>
              </a:lnSpc>
              <a:buNone/>
            </a:pPr>
            <a:r>
              <a:rPr lang="en-GB" sz="1650" noProof="0">
                <a:solidFill>
                  <a:srgbClr val="003865"/>
                </a:solidFill>
                <a:latin typeface="Arial" panose="020B0604020202020204" pitchFamily="34" charset="0"/>
                <a:ea typeface="Inter" pitchFamily="34" charset="-122"/>
                <a:cs typeface="Arial" panose="020B0604020202020204" pitchFamily="34" charset="0"/>
              </a:rPr>
              <a:t>Discuss preliminary recommendations with other scrutineers (including Assessment Officer) for discrepancies or identified issues, or check with Advising or other colleagues for input</a:t>
            </a:r>
            <a:endParaRPr lang="en-GB" sz="1650" noProof="0"/>
          </a:p>
        </p:txBody>
      </p:sp>
      <p:sp>
        <p:nvSpPr>
          <p:cNvPr id="19" name="Shape 14"/>
          <p:cNvSpPr/>
          <p:nvPr/>
        </p:nvSpPr>
        <p:spPr>
          <a:xfrm>
            <a:off x="7527131" y="5540931"/>
            <a:ext cx="646390" cy="30480"/>
          </a:xfrm>
          <a:prstGeom prst="roundRect">
            <a:avLst>
              <a:gd name="adj" fmla="val 296930"/>
            </a:avLst>
          </a:prstGeom>
          <a:solidFill>
            <a:srgbClr val="198EC9"/>
          </a:solidFill>
          <a:ln/>
        </p:spPr>
        <p:txBody>
          <a:bodyPr/>
          <a:lstStyle/>
          <a:p>
            <a:endParaRPr lang="en-GB" noProof="0"/>
          </a:p>
        </p:txBody>
      </p:sp>
      <p:sp>
        <p:nvSpPr>
          <p:cNvPr id="20" name="Shape 15"/>
          <p:cNvSpPr/>
          <p:nvPr/>
        </p:nvSpPr>
        <p:spPr>
          <a:xfrm>
            <a:off x="7072789" y="5313759"/>
            <a:ext cx="484823" cy="484823"/>
          </a:xfrm>
          <a:prstGeom prst="roundRect">
            <a:avLst>
              <a:gd name="adj" fmla="val 18667"/>
            </a:avLst>
          </a:prstGeom>
          <a:solidFill>
            <a:srgbClr val="0075B0"/>
          </a:solidFill>
          <a:ln w="7620">
            <a:solidFill>
              <a:srgbClr val="198EC9"/>
            </a:solidFill>
            <a:prstDash val="solid"/>
          </a:ln>
        </p:spPr>
        <p:txBody>
          <a:bodyPr/>
          <a:lstStyle/>
          <a:p>
            <a:endParaRPr lang="en-GB" noProof="0"/>
          </a:p>
        </p:txBody>
      </p:sp>
      <p:pic>
        <p:nvPicPr>
          <p:cNvPr id="21" name="Image 3" descr="preencoded.png"/>
          <p:cNvPicPr>
            <a:picLocks noChangeAspect="1"/>
          </p:cNvPicPr>
          <p:nvPr/>
        </p:nvPicPr>
        <p:blipFill>
          <a:blip r:embed="rId7"/>
          <a:stretch>
            <a:fillRect/>
          </a:stretch>
        </p:blipFill>
        <p:spPr>
          <a:xfrm>
            <a:off x="7153632" y="5354181"/>
            <a:ext cx="323136" cy="403979"/>
          </a:xfrm>
          <a:prstGeom prst="rect">
            <a:avLst/>
          </a:prstGeom>
        </p:spPr>
      </p:pic>
      <p:sp>
        <p:nvSpPr>
          <p:cNvPr id="22" name="Text 16"/>
          <p:cNvSpPr/>
          <p:nvPr/>
        </p:nvSpPr>
        <p:spPr>
          <a:xfrm>
            <a:off x="8392597" y="5286732"/>
            <a:ext cx="2693551" cy="336590"/>
          </a:xfrm>
          <a:prstGeom prst="rect">
            <a:avLst/>
          </a:prstGeom>
          <a:noFill/>
          <a:ln/>
        </p:spPr>
        <p:txBody>
          <a:bodyPr wrap="none" lIns="0" tIns="0" rIns="0" bIns="0" rtlCol="0" anchor="t"/>
          <a:lstStyle/>
          <a:p>
            <a:pPr marL="0" indent="0" algn="l">
              <a:lnSpc>
                <a:spcPts val="2650"/>
              </a:lnSpc>
              <a:buNone/>
            </a:pPr>
            <a:r>
              <a:rPr lang="en-GB" sz="2100" b="1" noProof="0">
                <a:solidFill>
                  <a:srgbClr val="003865"/>
                </a:solidFill>
                <a:latin typeface="Arial" panose="020B0604020202020204" pitchFamily="34" charset="0"/>
                <a:ea typeface="Inter Bold" pitchFamily="34" charset="-122"/>
                <a:cs typeface="Arial" panose="020B0604020202020204" pitchFamily="34" charset="0"/>
              </a:rPr>
              <a:t>Document Findings</a:t>
            </a:r>
            <a:endParaRPr lang="en-GB" sz="2100" noProof="0"/>
          </a:p>
        </p:txBody>
      </p:sp>
      <p:sp>
        <p:nvSpPr>
          <p:cNvPr id="23" name="Text 17"/>
          <p:cNvSpPr/>
          <p:nvPr/>
        </p:nvSpPr>
        <p:spPr>
          <a:xfrm>
            <a:off x="8392597" y="5752505"/>
            <a:ext cx="5444014" cy="689610"/>
          </a:xfrm>
          <a:prstGeom prst="rect">
            <a:avLst/>
          </a:prstGeom>
          <a:noFill/>
          <a:ln/>
        </p:spPr>
        <p:txBody>
          <a:bodyPr wrap="square" lIns="0" tIns="0" rIns="0" bIns="0" rtlCol="0" anchor="t"/>
          <a:lstStyle/>
          <a:p>
            <a:pPr marL="0" indent="0" algn="l">
              <a:lnSpc>
                <a:spcPts val="2700"/>
              </a:lnSpc>
              <a:buNone/>
            </a:pPr>
            <a:r>
              <a:rPr lang="en-GB" sz="1650" noProof="0">
                <a:solidFill>
                  <a:srgbClr val="003865"/>
                </a:solidFill>
                <a:latin typeface="Arial" panose="020B0604020202020204" pitchFamily="34" charset="0"/>
                <a:ea typeface="Inter" pitchFamily="34" charset="-122"/>
                <a:cs typeface="Arial" panose="020B0604020202020204" pitchFamily="34" charset="0"/>
              </a:rPr>
              <a:t>Send (email/Teams) a confirmation of pre-scrutiny and any suggested items to be presented to the board</a:t>
            </a:r>
            <a:endParaRPr lang="en-GB" sz="1650" noProof="0"/>
          </a:p>
        </p:txBody>
      </p:sp>
      <p:sp>
        <p:nvSpPr>
          <p:cNvPr id="24" name="Text 18"/>
          <p:cNvSpPr/>
          <p:nvPr/>
        </p:nvSpPr>
        <p:spPr>
          <a:xfrm>
            <a:off x="793790" y="7141250"/>
            <a:ext cx="13042821" cy="344805"/>
          </a:xfrm>
          <a:prstGeom prst="rect">
            <a:avLst/>
          </a:prstGeom>
          <a:noFill/>
          <a:ln/>
        </p:spPr>
        <p:txBody>
          <a:bodyPr wrap="none" lIns="0" tIns="0" rIns="0" bIns="0" rtlCol="0" anchor="t"/>
          <a:lstStyle/>
          <a:p>
            <a:pPr marL="0" indent="0" algn="l">
              <a:lnSpc>
                <a:spcPts val="2700"/>
              </a:lnSpc>
              <a:buNone/>
            </a:pPr>
            <a:endParaRPr lang="en-GB" sz="1650" noProof="0"/>
          </a:p>
        </p:txBody>
      </p:sp>
      <p:pic>
        <p:nvPicPr>
          <p:cNvPr id="25" name="Image 4" descr="preencoded.png"/>
          <p:cNvPicPr>
            <a:picLocks noChangeAspect="1"/>
          </p:cNvPicPr>
          <p:nvPr/>
        </p:nvPicPr>
        <p:blipFill>
          <a:blip r:embed="rId8"/>
          <a:stretch>
            <a:fillRect/>
          </a:stretch>
        </p:blipFill>
        <p:spPr>
          <a:xfrm>
            <a:off x="13365480" y="228600"/>
            <a:ext cx="1036320" cy="45339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7626B-9896-7CA1-59C0-C32DB7087AE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32F5F92-8B2F-1D00-0649-2B2926AF7BDE}"/>
              </a:ext>
            </a:extLst>
          </p:cNvPr>
          <p:cNvSpPr/>
          <p:nvPr/>
        </p:nvSpPr>
        <p:spPr>
          <a:xfrm>
            <a:off x="757695" y="586721"/>
            <a:ext cx="5670590" cy="708779"/>
          </a:xfrm>
          <a:prstGeom prst="rect">
            <a:avLst/>
          </a:prstGeom>
          <a:noFill/>
          <a:ln/>
        </p:spPr>
        <p:txBody>
          <a:bodyPr wrap="none" lIns="0" tIns="0" rIns="0" bIns="0" rtlCol="0" anchor="t"/>
          <a:lstStyle/>
          <a:p>
            <a:pPr marL="0" indent="0" algn="l">
              <a:lnSpc>
                <a:spcPts val="5550"/>
              </a:lnSpc>
              <a:buNone/>
            </a:pPr>
            <a:r>
              <a:rPr lang="en-GB" sz="4450" b="1" noProof="0">
                <a:solidFill>
                  <a:srgbClr val="003865"/>
                </a:solidFill>
                <a:latin typeface="Arial" panose="020B0604020202020204" pitchFamily="34" charset="0"/>
                <a:ea typeface="Inter Bold" pitchFamily="34" charset="-122"/>
                <a:cs typeface="Arial" panose="020B0604020202020204" pitchFamily="34" charset="0"/>
              </a:rPr>
              <a:t>Board Attendance</a:t>
            </a:r>
            <a:endParaRPr lang="en-GB" sz="4450" noProof="0"/>
          </a:p>
        </p:txBody>
      </p:sp>
      <p:sp>
        <p:nvSpPr>
          <p:cNvPr id="3" name="Text 1">
            <a:extLst>
              <a:ext uri="{FF2B5EF4-FFF2-40B4-BE49-F238E27FC236}">
                <a16:creationId xmlns:a16="http://schemas.microsoft.com/office/drawing/2014/main" id="{398B26F0-AA75-4950-D361-7EBB07A96372}"/>
              </a:ext>
            </a:extLst>
          </p:cNvPr>
          <p:cNvSpPr/>
          <p:nvPr/>
        </p:nvSpPr>
        <p:spPr>
          <a:xfrm>
            <a:off x="757695" y="1749128"/>
            <a:ext cx="13042821" cy="725805"/>
          </a:xfrm>
          <a:prstGeom prst="rect">
            <a:avLst/>
          </a:prstGeom>
          <a:noFill/>
          <a:ln/>
        </p:spPr>
        <p:txBody>
          <a:bodyPr wrap="square" lIns="0" tIns="0" rIns="0" bIns="0" rtlCol="0" anchor="t"/>
          <a:lstStyle/>
          <a:p>
            <a:pPr marL="342900" indent="-342900" algn="l">
              <a:spcAft>
                <a:spcPts val="800"/>
              </a:spcAft>
              <a:buFont typeface="Arial" panose="020B0604020202020204" pitchFamily="34" charset="0"/>
              <a:buChar char="•"/>
            </a:pPr>
            <a:r>
              <a:rPr lang="en-GB" sz="2200" noProof="0">
                <a:solidFill>
                  <a:srgbClr val="003865"/>
                </a:solidFill>
                <a:latin typeface="Arial" panose="020B0604020202020204" pitchFamily="34" charset="0"/>
                <a:ea typeface="Inter" pitchFamily="34" charset="-122"/>
                <a:cs typeface="Arial" panose="020B0604020202020204" pitchFamily="34" charset="0"/>
              </a:rPr>
              <a:t>All attendees of a board should have also completed their own scrutiny in advance – they do not have to certify in advance by email or Teams, but will be listed in the board minutes as having scrutinised the material and assenting to its accuracy.</a:t>
            </a:r>
          </a:p>
          <a:p>
            <a:pPr marL="800100" lvl="1" indent="-342900">
              <a:spcAft>
                <a:spcPts val="800"/>
              </a:spcAft>
              <a:buFont typeface="Arial" panose="020B0604020202020204" pitchFamily="34" charset="0"/>
              <a:buChar char="•"/>
            </a:pPr>
            <a:r>
              <a:rPr lang="en-GB" sz="2000" noProof="0">
                <a:solidFill>
                  <a:srgbClr val="003865"/>
                </a:solidFill>
                <a:latin typeface="Arial" panose="020B0604020202020204" pitchFamily="34" charset="0"/>
                <a:ea typeface="Inter" pitchFamily="34" charset="-122"/>
                <a:cs typeface="Arial" panose="020B0604020202020204" pitchFamily="34" charset="0"/>
              </a:rPr>
              <a:t>Board attendees are sent the materials either when the scrutineers get it or once scrutiny is complete, should timescales allow.</a:t>
            </a:r>
          </a:p>
          <a:p>
            <a:pPr marL="800100" lvl="1" indent="-342900">
              <a:spcAft>
                <a:spcPts val="800"/>
              </a:spcAft>
              <a:buFont typeface="Arial" panose="020B0604020202020204" pitchFamily="34" charset="0"/>
              <a:buChar char="•"/>
            </a:pPr>
            <a:r>
              <a:rPr lang="en-GB" sz="2000" noProof="0">
                <a:solidFill>
                  <a:srgbClr val="003865"/>
                </a:solidFill>
                <a:latin typeface="Arial" panose="020B0604020202020204" pitchFamily="34" charset="0"/>
                <a:ea typeface="Inter" pitchFamily="34" charset="-122"/>
                <a:cs typeface="Arial" panose="020B0604020202020204" pitchFamily="34" charset="0"/>
              </a:rPr>
              <a:t>They put time to scrutinize material in their diaries the day before.</a:t>
            </a:r>
          </a:p>
          <a:p>
            <a:pPr marL="342900" indent="-342900" algn="l">
              <a:spcAft>
                <a:spcPts val="800"/>
              </a:spcAft>
              <a:buFont typeface="Arial" panose="020B0604020202020204" pitchFamily="34" charset="0"/>
              <a:buChar char="•"/>
            </a:pPr>
            <a:r>
              <a:rPr lang="en-GB" sz="2200" noProof="0">
                <a:solidFill>
                  <a:srgbClr val="003865"/>
                </a:solidFill>
                <a:latin typeface="Arial" panose="020B0604020202020204" pitchFamily="34" charset="0"/>
                <a:ea typeface="Inter" pitchFamily="34" charset="-122"/>
                <a:cs typeface="Arial" panose="020B0604020202020204" pitchFamily="34" charset="0"/>
              </a:rPr>
              <a:t>There is an argument that there should be no place at a board for colleagues who have not read the board's material in advance; there will be nothing for them to contribute, their input could be unhelpful or incorrect, and they should not want to be </a:t>
            </a:r>
            <a:r>
              <a:rPr lang="en-GB" sz="2200" noProof="0" err="1">
                <a:solidFill>
                  <a:srgbClr val="003865"/>
                </a:solidFill>
                <a:latin typeface="Arial" panose="020B0604020202020204" pitchFamily="34" charset="0"/>
                <a:ea typeface="Inter" pitchFamily="34" charset="-122"/>
                <a:cs typeface="Arial" panose="020B0604020202020204" pitchFamily="34" charset="0"/>
              </a:rPr>
              <a:t>minuted</a:t>
            </a:r>
            <a:r>
              <a:rPr lang="en-GB" sz="2200" noProof="0">
                <a:solidFill>
                  <a:srgbClr val="003865"/>
                </a:solidFill>
                <a:latin typeface="Arial" panose="020B0604020202020204" pitchFamily="34" charset="0"/>
                <a:ea typeface="Inter" pitchFamily="34" charset="-122"/>
                <a:cs typeface="Arial" panose="020B0604020202020204" pitchFamily="34" charset="0"/>
              </a:rPr>
              <a:t> as having assented to outcomes they have not checked.</a:t>
            </a:r>
          </a:p>
          <a:p>
            <a:pPr marL="342900" indent="-342900" algn="l">
              <a:spcAft>
                <a:spcPts val="800"/>
              </a:spcAft>
              <a:buFont typeface="Arial" panose="020B0604020202020204" pitchFamily="34" charset="0"/>
              <a:buChar char="•"/>
            </a:pPr>
            <a:r>
              <a:rPr lang="en-GB" sz="2200" noProof="0">
                <a:solidFill>
                  <a:srgbClr val="003865"/>
                </a:solidFill>
                <a:latin typeface="Arial" panose="020B0604020202020204" pitchFamily="34" charset="0"/>
                <a:ea typeface="Inter" pitchFamily="34" charset="-122"/>
                <a:cs typeface="Arial" panose="020B0604020202020204" pitchFamily="34" charset="0"/>
              </a:rPr>
              <a:t>Conversely, some colleagues or areas may believe that there is value in having some attendees who can help make decisions on the difficult cases. It should be </a:t>
            </a:r>
            <a:r>
              <a:rPr lang="en-GB" sz="2200" noProof="0" err="1">
                <a:solidFill>
                  <a:srgbClr val="003865"/>
                </a:solidFill>
                <a:latin typeface="Arial" panose="020B0604020202020204" pitchFamily="34" charset="0"/>
                <a:ea typeface="Inter" pitchFamily="34" charset="-122"/>
                <a:cs typeface="Arial" panose="020B0604020202020204" pitchFamily="34" charset="0"/>
              </a:rPr>
              <a:t>minuted</a:t>
            </a:r>
            <a:r>
              <a:rPr lang="en-GB" sz="2200" noProof="0">
                <a:solidFill>
                  <a:srgbClr val="003865"/>
                </a:solidFill>
                <a:latin typeface="Arial" panose="020B0604020202020204" pitchFamily="34" charset="0"/>
                <a:ea typeface="Inter" pitchFamily="34" charset="-122"/>
                <a:cs typeface="Arial" panose="020B0604020202020204" pitchFamily="34" charset="0"/>
              </a:rPr>
              <a:t> who was at the board but not able to assent to outcomes.</a:t>
            </a:r>
          </a:p>
          <a:p>
            <a:pPr marL="342900" indent="-342900" algn="l">
              <a:spcAft>
                <a:spcPts val="800"/>
              </a:spcAft>
              <a:buFont typeface="Arial" panose="020B0604020202020204" pitchFamily="34" charset="0"/>
              <a:buChar char="•"/>
            </a:pPr>
            <a:r>
              <a:rPr lang="en-GB" sz="2200" noProof="0">
                <a:solidFill>
                  <a:srgbClr val="003865"/>
                </a:solidFill>
                <a:latin typeface="Arial" panose="020B0604020202020204" pitchFamily="34" charset="0"/>
                <a:ea typeface="Inter" pitchFamily="34" charset="-122"/>
                <a:cs typeface="Arial" panose="020B0604020202020204" pitchFamily="34" charset="0"/>
              </a:rPr>
              <a:t>Some exam boards have a space for External Examiners to discuss the programme. There is an argument for separating out the exam board process from the External Examiner discussion and review, and some areas have a separate “programme wash-up” with the EEs for this purpose, especially given the boards are online.</a:t>
            </a:r>
          </a:p>
        </p:txBody>
      </p:sp>
      <p:pic>
        <p:nvPicPr>
          <p:cNvPr id="5" name="Image 0" descr="preencoded.png">
            <a:extLst>
              <a:ext uri="{FF2B5EF4-FFF2-40B4-BE49-F238E27FC236}">
                <a16:creationId xmlns:a16="http://schemas.microsoft.com/office/drawing/2014/main" id="{4174FE3C-C77C-A836-1502-D16E46610C35}"/>
              </a:ext>
            </a:extLst>
          </p:cNvPr>
          <p:cNvPicPr>
            <a:picLocks noChangeAspect="1"/>
          </p:cNvPicPr>
          <p:nvPr/>
        </p:nvPicPr>
        <p:blipFill>
          <a:blip r:embed="rId3"/>
          <a:stretch>
            <a:fillRect/>
          </a:stretch>
        </p:blipFill>
        <p:spPr>
          <a:xfrm>
            <a:off x="13365480" y="228600"/>
            <a:ext cx="1036320" cy="453390"/>
          </a:xfrm>
          <a:prstGeom prst="rect">
            <a:avLst/>
          </a:prstGeom>
        </p:spPr>
      </p:pic>
    </p:spTree>
    <p:extLst>
      <p:ext uri="{BB962C8B-B14F-4D97-AF65-F5344CB8AC3E}">
        <p14:creationId xmlns:p14="http://schemas.microsoft.com/office/powerpoint/2010/main" val="2530737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80812"/>
            <a:ext cx="5387102" cy="673418"/>
          </a:xfrm>
          <a:prstGeom prst="rect">
            <a:avLst/>
          </a:prstGeom>
          <a:noFill/>
          <a:ln/>
        </p:spPr>
        <p:txBody>
          <a:bodyPr wrap="none" lIns="0" tIns="0" rIns="0" bIns="0" rtlCol="0" anchor="t"/>
          <a:lstStyle/>
          <a:p>
            <a:pPr marL="0" indent="0" algn="l">
              <a:lnSpc>
                <a:spcPts val="5300"/>
              </a:lnSpc>
              <a:buNone/>
            </a:pPr>
            <a:r>
              <a:rPr lang="en-GB" sz="4200" b="1" noProof="0">
                <a:solidFill>
                  <a:srgbClr val="003865"/>
                </a:solidFill>
                <a:latin typeface="Arial" panose="020B0604020202020204" pitchFamily="34" charset="0"/>
                <a:ea typeface="Inter Bold" pitchFamily="34" charset="-122"/>
                <a:cs typeface="Arial" panose="020B0604020202020204" pitchFamily="34" charset="0"/>
              </a:rPr>
              <a:t>Board Discussions</a:t>
            </a:r>
            <a:endParaRPr lang="en-GB" sz="4200" noProof="0"/>
          </a:p>
        </p:txBody>
      </p:sp>
      <p:sp>
        <p:nvSpPr>
          <p:cNvPr id="3" name="Shape 1"/>
          <p:cNvSpPr/>
          <p:nvPr/>
        </p:nvSpPr>
        <p:spPr>
          <a:xfrm>
            <a:off x="793790" y="1885117"/>
            <a:ext cx="4203978" cy="4631531"/>
          </a:xfrm>
          <a:prstGeom prst="roundRect">
            <a:avLst>
              <a:gd name="adj" fmla="val 2153"/>
            </a:avLst>
          </a:prstGeom>
          <a:solidFill>
            <a:srgbClr val="013560"/>
          </a:solidFill>
          <a:ln w="7620">
            <a:solidFill>
              <a:srgbClr val="1A4E79"/>
            </a:solidFill>
            <a:prstDash val="solid"/>
          </a:ln>
        </p:spPr>
        <p:txBody>
          <a:bodyPr/>
          <a:lstStyle/>
          <a:p>
            <a:endParaRPr lang="en-GB" noProof="0"/>
          </a:p>
        </p:txBody>
      </p:sp>
      <p:sp>
        <p:nvSpPr>
          <p:cNvPr id="4" name="Text 2"/>
          <p:cNvSpPr/>
          <p:nvPr/>
        </p:nvSpPr>
        <p:spPr>
          <a:xfrm>
            <a:off x="1016794" y="2108121"/>
            <a:ext cx="3757970" cy="673179"/>
          </a:xfrm>
          <a:prstGeom prst="rect">
            <a:avLst/>
          </a:prstGeom>
          <a:noFill/>
          <a:ln/>
        </p:spPr>
        <p:txBody>
          <a:bodyPr wrap="square" lIns="0" tIns="0" rIns="0" bIns="0" rtlCol="0" anchor="t"/>
          <a:lstStyle/>
          <a:p>
            <a:pPr marL="0" indent="0" algn="l">
              <a:lnSpc>
                <a:spcPts val="2650"/>
              </a:lnSpc>
              <a:buNone/>
            </a:pPr>
            <a:r>
              <a:rPr lang="en-GB" sz="2100" b="1" noProof="0">
                <a:solidFill>
                  <a:srgbClr val="FFFFFF"/>
                </a:solidFill>
                <a:latin typeface="Arial" panose="020B0604020202020204" pitchFamily="34" charset="0"/>
                <a:ea typeface="Inter Bold" pitchFamily="34" charset="-122"/>
                <a:cs typeface="Arial" panose="020B0604020202020204" pitchFamily="34" charset="0"/>
              </a:rPr>
              <a:t>Complex Situations with Good Cause</a:t>
            </a:r>
            <a:endParaRPr lang="en-GB" sz="2100" noProof="0"/>
          </a:p>
        </p:txBody>
      </p:sp>
      <p:sp>
        <p:nvSpPr>
          <p:cNvPr id="5" name="Text 3"/>
          <p:cNvSpPr/>
          <p:nvPr/>
        </p:nvSpPr>
        <p:spPr>
          <a:xfrm>
            <a:off x="1016794" y="2910483"/>
            <a:ext cx="3757970" cy="2068830"/>
          </a:xfrm>
          <a:prstGeom prst="rect">
            <a:avLst/>
          </a:prstGeom>
          <a:noFill/>
          <a:ln/>
        </p:spPr>
        <p:txBody>
          <a:bodyPr wrap="square" lIns="0" tIns="0" rIns="0" bIns="0" rtlCol="0" anchor="t"/>
          <a:lstStyle/>
          <a:p>
            <a:pPr marL="0" indent="0" algn="l">
              <a:lnSpc>
                <a:spcPts val="2700"/>
              </a:lnSpc>
              <a:buNone/>
            </a:pPr>
            <a:r>
              <a:rPr lang="en-GB" sz="1650" noProof="0">
                <a:solidFill>
                  <a:srgbClr val="FFFFFF"/>
                </a:solidFill>
                <a:latin typeface="Arial" panose="020B0604020202020204" pitchFamily="34" charset="0"/>
                <a:ea typeface="Inter" pitchFamily="34" charset="-122"/>
                <a:cs typeface="Arial" panose="020B0604020202020204" pitchFamily="34" charset="0"/>
              </a:rPr>
              <a:t>The board should review all cases where good cause has been accepted but which present unusual circumstances or require special consideration for progression or award purposes.</a:t>
            </a:r>
            <a:endParaRPr lang="en-GB" sz="1650" noProof="0"/>
          </a:p>
        </p:txBody>
      </p:sp>
      <p:sp>
        <p:nvSpPr>
          <p:cNvPr id="6" name="Text 4"/>
          <p:cNvSpPr/>
          <p:nvPr/>
        </p:nvSpPr>
        <p:spPr>
          <a:xfrm>
            <a:off x="1016794" y="5108496"/>
            <a:ext cx="3757970" cy="344805"/>
          </a:xfrm>
          <a:prstGeom prst="rect">
            <a:avLst/>
          </a:prstGeom>
          <a:noFill/>
          <a:ln/>
        </p:spPr>
        <p:txBody>
          <a:bodyPr wrap="none" lIns="0" tIns="0" rIns="0" bIns="0" rtlCol="0" anchor="t"/>
          <a:lstStyle/>
          <a:p>
            <a:pPr marL="342900" indent="-342900" algn="l">
              <a:lnSpc>
                <a:spcPts val="2700"/>
              </a:lnSpc>
              <a:buSzPct val="100000"/>
              <a:buChar char="•"/>
            </a:pPr>
            <a:r>
              <a:rPr lang="en-GB" sz="1650" noProof="0">
                <a:solidFill>
                  <a:srgbClr val="FFFFFF"/>
                </a:solidFill>
                <a:latin typeface="Arial" panose="020B0604020202020204" pitchFamily="34" charset="0"/>
                <a:ea typeface="Inter" pitchFamily="34" charset="-122"/>
                <a:cs typeface="Arial" panose="020B0604020202020204" pitchFamily="34" charset="0"/>
              </a:rPr>
              <a:t>Multiple assessment deferrals</a:t>
            </a:r>
            <a:endParaRPr lang="en-GB" sz="1650" noProof="0"/>
          </a:p>
        </p:txBody>
      </p:sp>
      <p:sp>
        <p:nvSpPr>
          <p:cNvPr id="7" name="Text 5"/>
          <p:cNvSpPr/>
          <p:nvPr/>
        </p:nvSpPr>
        <p:spPr>
          <a:xfrm>
            <a:off x="1016794" y="5528667"/>
            <a:ext cx="3757970" cy="344805"/>
          </a:xfrm>
          <a:prstGeom prst="rect">
            <a:avLst/>
          </a:prstGeom>
          <a:noFill/>
          <a:ln/>
        </p:spPr>
        <p:txBody>
          <a:bodyPr wrap="none" lIns="0" tIns="0" rIns="0" bIns="0" rtlCol="0" anchor="t"/>
          <a:lstStyle/>
          <a:p>
            <a:pPr marL="342900" indent="-342900" algn="l">
              <a:lnSpc>
                <a:spcPts val="2700"/>
              </a:lnSpc>
              <a:buSzPct val="100000"/>
              <a:buChar char="•"/>
            </a:pPr>
            <a:r>
              <a:rPr lang="en-GB" sz="1650" noProof="0">
                <a:solidFill>
                  <a:srgbClr val="FFFFFF"/>
                </a:solidFill>
                <a:latin typeface="Arial" panose="020B0604020202020204" pitchFamily="34" charset="0"/>
                <a:ea typeface="Inter" pitchFamily="34" charset="-122"/>
                <a:cs typeface="Arial" panose="020B0604020202020204" pitchFamily="34" charset="0"/>
              </a:rPr>
              <a:t>Borderline good cause decisions</a:t>
            </a:r>
            <a:endParaRPr lang="en-GB" sz="1650" noProof="0"/>
          </a:p>
        </p:txBody>
      </p:sp>
      <p:sp>
        <p:nvSpPr>
          <p:cNvPr id="8" name="Text 6"/>
          <p:cNvSpPr/>
          <p:nvPr/>
        </p:nvSpPr>
        <p:spPr>
          <a:xfrm>
            <a:off x="1016794" y="5948839"/>
            <a:ext cx="3757970" cy="344805"/>
          </a:xfrm>
          <a:prstGeom prst="rect">
            <a:avLst/>
          </a:prstGeom>
          <a:noFill/>
          <a:ln/>
        </p:spPr>
        <p:txBody>
          <a:bodyPr wrap="none" lIns="0" tIns="0" rIns="0" bIns="0" rtlCol="0" anchor="t"/>
          <a:lstStyle/>
          <a:p>
            <a:pPr marL="342900" indent="-342900" algn="l">
              <a:lnSpc>
                <a:spcPts val="2700"/>
              </a:lnSpc>
              <a:buSzPct val="100000"/>
              <a:buChar char="•"/>
            </a:pPr>
            <a:r>
              <a:rPr lang="en-GB" sz="1650" noProof="0">
                <a:solidFill>
                  <a:srgbClr val="FFFFFF"/>
                </a:solidFill>
                <a:latin typeface="Arial" panose="020B0604020202020204" pitchFamily="34" charset="0"/>
                <a:ea typeface="Inter" pitchFamily="34" charset="-122"/>
                <a:cs typeface="Arial" panose="020B0604020202020204" pitchFamily="34" charset="0"/>
              </a:rPr>
              <a:t>Progression implications</a:t>
            </a:r>
            <a:endParaRPr lang="en-GB" sz="1650" noProof="0"/>
          </a:p>
        </p:txBody>
      </p:sp>
      <p:sp>
        <p:nvSpPr>
          <p:cNvPr id="9" name="Shape 7"/>
          <p:cNvSpPr/>
          <p:nvPr/>
        </p:nvSpPr>
        <p:spPr>
          <a:xfrm>
            <a:off x="5213152" y="1885117"/>
            <a:ext cx="4203978" cy="4631531"/>
          </a:xfrm>
          <a:prstGeom prst="roundRect">
            <a:avLst>
              <a:gd name="adj" fmla="val 2153"/>
            </a:avLst>
          </a:prstGeom>
          <a:solidFill>
            <a:srgbClr val="BE4D00"/>
          </a:solidFill>
          <a:ln w="7620">
            <a:solidFill>
              <a:srgbClr val="D76619"/>
            </a:solidFill>
            <a:prstDash val="solid"/>
          </a:ln>
        </p:spPr>
        <p:txBody>
          <a:bodyPr/>
          <a:lstStyle/>
          <a:p>
            <a:endParaRPr lang="en-GB" noProof="0"/>
          </a:p>
        </p:txBody>
      </p:sp>
      <p:sp>
        <p:nvSpPr>
          <p:cNvPr id="10" name="Text 8"/>
          <p:cNvSpPr/>
          <p:nvPr/>
        </p:nvSpPr>
        <p:spPr>
          <a:xfrm>
            <a:off x="5436156" y="2108121"/>
            <a:ext cx="3757970" cy="673179"/>
          </a:xfrm>
          <a:prstGeom prst="rect">
            <a:avLst/>
          </a:prstGeom>
          <a:noFill/>
          <a:ln/>
        </p:spPr>
        <p:txBody>
          <a:bodyPr wrap="square" lIns="0" tIns="0" rIns="0" bIns="0" rtlCol="0" anchor="t"/>
          <a:lstStyle/>
          <a:p>
            <a:pPr marL="0" indent="0" algn="l">
              <a:lnSpc>
                <a:spcPts val="2650"/>
              </a:lnSpc>
              <a:buNone/>
            </a:pPr>
            <a:r>
              <a:rPr lang="en-GB" sz="2100" b="1" noProof="0">
                <a:solidFill>
                  <a:srgbClr val="FFFFFF"/>
                </a:solidFill>
                <a:latin typeface="Arial" panose="020B0604020202020204" pitchFamily="34" charset="0"/>
                <a:ea typeface="Inter Bold" pitchFamily="34" charset="-122"/>
                <a:cs typeface="Arial" panose="020B0604020202020204" pitchFamily="34" charset="0"/>
              </a:rPr>
              <a:t>Missing Assessment Components</a:t>
            </a:r>
            <a:endParaRPr lang="en-GB" sz="2100" noProof="0"/>
          </a:p>
        </p:txBody>
      </p:sp>
      <p:sp>
        <p:nvSpPr>
          <p:cNvPr id="11" name="Text 9"/>
          <p:cNvSpPr/>
          <p:nvPr/>
        </p:nvSpPr>
        <p:spPr>
          <a:xfrm>
            <a:off x="5436156" y="2910483"/>
            <a:ext cx="3757970" cy="1379220"/>
          </a:xfrm>
          <a:prstGeom prst="rect">
            <a:avLst/>
          </a:prstGeom>
          <a:noFill/>
          <a:ln/>
        </p:spPr>
        <p:txBody>
          <a:bodyPr wrap="square" lIns="0" tIns="0" rIns="0" bIns="0" rtlCol="0" anchor="t"/>
          <a:lstStyle/>
          <a:p>
            <a:pPr marL="0" indent="0" algn="l">
              <a:lnSpc>
                <a:spcPts val="2700"/>
              </a:lnSpc>
              <a:buNone/>
            </a:pPr>
            <a:r>
              <a:rPr lang="en-GB" sz="1650" noProof="0">
                <a:solidFill>
                  <a:srgbClr val="FFFFFF"/>
                </a:solidFill>
                <a:latin typeface="Arial" panose="020B0604020202020204" pitchFamily="34" charset="0"/>
                <a:ea typeface="Inter" pitchFamily="34" charset="-122"/>
                <a:cs typeface="Arial" panose="020B0604020202020204" pitchFamily="34" charset="0"/>
              </a:rPr>
              <a:t>Any student record with incomplete assessment profiles should be examined to check appropriate academic outcomes.</a:t>
            </a:r>
            <a:endParaRPr lang="en-GB" sz="1650" noProof="0"/>
          </a:p>
        </p:txBody>
      </p:sp>
      <p:sp>
        <p:nvSpPr>
          <p:cNvPr id="12" name="Text 10"/>
          <p:cNvSpPr/>
          <p:nvPr/>
        </p:nvSpPr>
        <p:spPr>
          <a:xfrm>
            <a:off x="5436156" y="4418886"/>
            <a:ext cx="3757970" cy="1034415"/>
          </a:xfrm>
          <a:prstGeom prst="rect">
            <a:avLst/>
          </a:prstGeom>
          <a:noFill/>
          <a:ln/>
        </p:spPr>
        <p:txBody>
          <a:bodyPr wrap="square" lIns="0" tIns="0" rIns="0" bIns="0" rtlCol="0" anchor="t"/>
          <a:lstStyle/>
          <a:p>
            <a:pPr marL="342900" indent="-342900" algn="l">
              <a:lnSpc>
                <a:spcPts val="2700"/>
              </a:lnSpc>
              <a:buSzPct val="100000"/>
              <a:buChar char="•"/>
            </a:pPr>
            <a:r>
              <a:rPr lang="en-GB" sz="1650" noProof="0">
                <a:solidFill>
                  <a:srgbClr val="FFFFFF"/>
                </a:solidFill>
                <a:latin typeface="Arial" panose="020B0604020202020204" pitchFamily="34" charset="0"/>
                <a:ea typeface="Inter" pitchFamily="34" charset="-122"/>
                <a:cs typeface="Arial" panose="020B0604020202020204" pitchFamily="34" charset="0"/>
              </a:rPr>
              <a:t>Non-submission without good cause which could cause issues for progression or award</a:t>
            </a:r>
            <a:endParaRPr lang="en-GB" sz="1650" noProof="0"/>
          </a:p>
        </p:txBody>
      </p:sp>
      <p:sp>
        <p:nvSpPr>
          <p:cNvPr id="13" name="Shape 11"/>
          <p:cNvSpPr/>
          <p:nvPr/>
        </p:nvSpPr>
        <p:spPr>
          <a:xfrm>
            <a:off x="9632513" y="1885117"/>
            <a:ext cx="4203978" cy="4631531"/>
          </a:xfrm>
          <a:prstGeom prst="roundRect">
            <a:avLst>
              <a:gd name="adj" fmla="val 2153"/>
            </a:avLst>
          </a:prstGeom>
          <a:solidFill>
            <a:srgbClr val="4F5961"/>
          </a:solidFill>
          <a:ln w="7620">
            <a:solidFill>
              <a:srgbClr val="68727A"/>
            </a:solidFill>
            <a:prstDash val="solid"/>
          </a:ln>
        </p:spPr>
        <p:txBody>
          <a:bodyPr/>
          <a:lstStyle/>
          <a:p>
            <a:endParaRPr lang="en-GB" noProof="0"/>
          </a:p>
        </p:txBody>
      </p:sp>
      <p:sp>
        <p:nvSpPr>
          <p:cNvPr id="14" name="Text 12"/>
          <p:cNvSpPr/>
          <p:nvPr/>
        </p:nvSpPr>
        <p:spPr>
          <a:xfrm>
            <a:off x="9855518" y="2108121"/>
            <a:ext cx="3232190" cy="336590"/>
          </a:xfrm>
          <a:prstGeom prst="rect">
            <a:avLst/>
          </a:prstGeom>
          <a:noFill/>
          <a:ln/>
        </p:spPr>
        <p:txBody>
          <a:bodyPr wrap="none" lIns="0" tIns="0" rIns="0" bIns="0" rtlCol="0" anchor="t"/>
          <a:lstStyle/>
          <a:p>
            <a:pPr marL="0" indent="0" algn="l">
              <a:lnSpc>
                <a:spcPts val="2650"/>
              </a:lnSpc>
              <a:buNone/>
            </a:pPr>
            <a:r>
              <a:rPr lang="en-GB" sz="2100" b="1" noProof="0">
                <a:solidFill>
                  <a:srgbClr val="FFFFFF"/>
                </a:solidFill>
                <a:latin typeface="Arial" panose="020B0604020202020204" pitchFamily="34" charset="0"/>
                <a:ea typeface="Inter Bold" pitchFamily="34" charset="-122"/>
                <a:cs typeface="Arial" panose="020B0604020202020204" pitchFamily="34" charset="0"/>
              </a:rPr>
              <a:t>Practice Standardisation</a:t>
            </a:r>
            <a:endParaRPr lang="en-GB" sz="2100" noProof="0"/>
          </a:p>
        </p:txBody>
      </p:sp>
      <p:sp>
        <p:nvSpPr>
          <p:cNvPr id="15" name="Text 13"/>
          <p:cNvSpPr/>
          <p:nvPr/>
        </p:nvSpPr>
        <p:spPr>
          <a:xfrm>
            <a:off x="9855518" y="2573893"/>
            <a:ext cx="3757970" cy="1379220"/>
          </a:xfrm>
          <a:prstGeom prst="rect">
            <a:avLst/>
          </a:prstGeom>
          <a:noFill/>
          <a:ln/>
        </p:spPr>
        <p:txBody>
          <a:bodyPr wrap="square" lIns="0" tIns="0" rIns="0" bIns="0" rtlCol="0" anchor="t"/>
          <a:lstStyle/>
          <a:p>
            <a:pPr marL="0" indent="0" algn="l">
              <a:lnSpc>
                <a:spcPts val="2700"/>
              </a:lnSpc>
              <a:buNone/>
            </a:pPr>
            <a:r>
              <a:rPr lang="en-GB" sz="1650" noProof="0">
                <a:solidFill>
                  <a:srgbClr val="FFFFFF"/>
                </a:solidFill>
                <a:latin typeface="Arial" panose="020B0604020202020204" pitchFamily="34" charset="0"/>
                <a:ea typeface="Inter" pitchFamily="34" charset="-122"/>
                <a:cs typeface="Arial" panose="020B0604020202020204" pitchFamily="34" charset="0"/>
              </a:rPr>
              <a:t>Discuss a few random samples as well as unusual or precedent-setting cases to ensure consistency in assessment practices and help train colleagues.</a:t>
            </a:r>
            <a:endParaRPr lang="en-GB" sz="1650" noProof="0"/>
          </a:p>
        </p:txBody>
      </p:sp>
      <p:sp>
        <p:nvSpPr>
          <p:cNvPr id="16" name="Text 14"/>
          <p:cNvSpPr/>
          <p:nvPr/>
        </p:nvSpPr>
        <p:spPr>
          <a:xfrm>
            <a:off x="9855518" y="4082296"/>
            <a:ext cx="3757970" cy="344805"/>
          </a:xfrm>
          <a:prstGeom prst="rect">
            <a:avLst/>
          </a:prstGeom>
          <a:noFill/>
          <a:ln/>
        </p:spPr>
        <p:txBody>
          <a:bodyPr wrap="none" lIns="0" tIns="0" rIns="0" bIns="0" rtlCol="0" anchor="t"/>
          <a:lstStyle/>
          <a:p>
            <a:pPr marL="342900" indent="-342900" algn="l">
              <a:lnSpc>
                <a:spcPts val="2700"/>
              </a:lnSpc>
              <a:buSzPct val="100000"/>
              <a:buChar char="•"/>
            </a:pPr>
            <a:r>
              <a:rPr lang="en-GB" sz="1650" noProof="0">
                <a:solidFill>
                  <a:srgbClr val="FFFFFF"/>
                </a:solidFill>
                <a:latin typeface="Arial" panose="020B0604020202020204" pitchFamily="34" charset="0"/>
                <a:ea typeface="Inter" pitchFamily="34" charset="-122"/>
                <a:cs typeface="Arial" panose="020B0604020202020204" pitchFamily="34" charset="0"/>
              </a:rPr>
              <a:t>Procedural clarifications</a:t>
            </a:r>
            <a:endParaRPr lang="en-GB" sz="1650" noProof="0"/>
          </a:p>
        </p:txBody>
      </p:sp>
      <p:sp>
        <p:nvSpPr>
          <p:cNvPr id="17" name="Text 15"/>
          <p:cNvSpPr/>
          <p:nvPr/>
        </p:nvSpPr>
        <p:spPr>
          <a:xfrm>
            <a:off x="9855518" y="4502468"/>
            <a:ext cx="3757970" cy="344805"/>
          </a:xfrm>
          <a:prstGeom prst="rect">
            <a:avLst/>
          </a:prstGeom>
          <a:noFill/>
          <a:ln/>
        </p:spPr>
        <p:txBody>
          <a:bodyPr wrap="none" lIns="0" tIns="0" rIns="0" bIns="0" rtlCol="0" anchor="t"/>
          <a:lstStyle/>
          <a:p>
            <a:pPr marL="342900" indent="-342900" algn="l">
              <a:lnSpc>
                <a:spcPts val="2700"/>
              </a:lnSpc>
              <a:buSzPct val="100000"/>
              <a:buChar char="•"/>
            </a:pPr>
            <a:r>
              <a:rPr lang="en-GB" sz="1650" noProof="0">
                <a:solidFill>
                  <a:srgbClr val="FFFFFF"/>
                </a:solidFill>
                <a:latin typeface="Arial" panose="020B0604020202020204" pitchFamily="34" charset="0"/>
                <a:ea typeface="Inter" pitchFamily="34" charset="-122"/>
                <a:cs typeface="Arial" panose="020B0604020202020204" pitchFamily="34" charset="0"/>
              </a:rPr>
              <a:t>Policy interpretation cases</a:t>
            </a:r>
            <a:endParaRPr lang="en-GB" sz="1650" noProof="0"/>
          </a:p>
        </p:txBody>
      </p:sp>
      <p:sp>
        <p:nvSpPr>
          <p:cNvPr id="18" name="Text 16"/>
          <p:cNvSpPr/>
          <p:nvPr/>
        </p:nvSpPr>
        <p:spPr>
          <a:xfrm>
            <a:off x="9855518" y="4922639"/>
            <a:ext cx="3757970" cy="344805"/>
          </a:xfrm>
          <a:prstGeom prst="rect">
            <a:avLst/>
          </a:prstGeom>
          <a:noFill/>
          <a:ln/>
        </p:spPr>
        <p:txBody>
          <a:bodyPr wrap="none" lIns="0" tIns="0" rIns="0" bIns="0" rtlCol="0" anchor="t"/>
          <a:lstStyle/>
          <a:p>
            <a:pPr marL="342900" indent="-342900" algn="l">
              <a:lnSpc>
                <a:spcPts val="2700"/>
              </a:lnSpc>
              <a:buSzPct val="100000"/>
              <a:buChar char="•"/>
            </a:pPr>
            <a:r>
              <a:rPr lang="en-GB" sz="1650" noProof="0">
                <a:solidFill>
                  <a:srgbClr val="FFFFFF"/>
                </a:solidFill>
                <a:latin typeface="Arial" panose="020B0604020202020204" pitchFamily="34" charset="0"/>
                <a:ea typeface="Inter" pitchFamily="34" charset="-122"/>
                <a:cs typeface="Arial" panose="020B0604020202020204" pitchFamily="34" charset="0"/>
              </a:rPr>
              <a:t>External examiner feedback</a:t>
            </a:r>
            <a:endParaRPr lang="en-GB" sz="1650" noProof="0"/>
          </a:p>
        </p:txBody>
      </p:sp>
      <p:sp>
        <p:nvSpPr>
          <p:cNvPr id="19" name="Text 17"/>
          <p:cNvSpPr/>
          <p:nvPr/>
        </p:nvSpPr>
        <p:spPr>
          <a:xfrm>
            <a:off x="793790" y="6759059"/>
            <a:ext cx="13042821" cy="689610"/>
          </a:xfrm>
          <a:prstGeom prst="rect">
            <a:avLst/>
          </a:prstGeom>
          <a:noFill/>
          <a:ln/>
        </p:spPr>
        <p:txBody>
          <a:bodyPr wrap="square" lIns="0" tIns="0" rIns="0" bIns="0" rtlCol="0" anchor="t"/>
          <a:lstStyle/>
          <a:p>
            <a:pPr marL="0" indent="0" algn="l">
              <a:lnSpc>
                <a:spcPts val="2700"/>
              </a:lnSpc>
              <a:buNone/>
            </a:pPr>
            <a:r>
              <a:rPr lang="en-GB" sz="1650" noProof="0">
                <a:solidFill>
                  <a:srgbClr val="003865"/>
                </a:solidFill>
                <a:latin typeface="Arial" panose="020B0604020202020204" pitchFamily="34" charset="0"/>
                <a:ea typeface="Inter" pitchFamily="34" charset="-122"/>
                <a:cs typeface="Arial" panose="020B0604020202020204" pitchFamily="34" charset="0"/>
              </a:rPr>
              <a:t>While individual uncomplicated cases will not require detailed discussion, there should at the board be both spot checking (</a:t>
            </a:r>
            <a:r>
              <a:rPr lang="en-GB" sz="1650" noProof="0" err="1">
                <a:solidFill>
                  <a:srgbClr val="003865"/>
                </a:solidFill>
                <a:latin typeface="Arial" panose="020B0604020202020204" pitchFamily="34" charset="0"/>
                <a:ea typeface="Inter" pitchFamily="34" charset="-122"/>
                <a:cs typeface="Arial" panose="020B0604020202020204" pitchFamily="34" charset="0"/>
              </a:rPr>
              <a:t>eg</a:t>
            </a:r>
            <a:r>
              <a:rPr lang="en-GB" sz="1650" noProof="0">
                <a:solidFill>
                  <a:srgbClr val="003865"/>
                </a:solidFill>
                <a:latin typeface="Arial" panose="020B0604020202020204" pitchFamily="34" charset="0"/>
                <a:ea typeface="Inter" pitchFamily="34" charset="-122"/>
                <a:cs typeface="Arial" panose="020B0604020202020204" pitchFamily="34" charset="0"/>
              </a:rPr>
              <a:t> going through one or two uncomplicated cases to explain the calculations to all present) and then oversight of complex situations.</a:t>
            </a:r>
            <a:endParaRPr lang="en-GB" sz="1650" noProof="0"/>
          </a:p>
        </p:txBody>
      </p:sp>
      <p:pic>
        <p:nvPicPr>
          <p:cNvPr id="20" name="Image 0" descr="preencoded.png"/>
          <p:cNvPicPr>
            <a:picLocks noChangeAspect="1"/>
          </p:cNvPicPr>
          <p:nvPr/>
        </p:nvPicPr>
        <p:blipFill>
          <a:blip r:embed="rId4"/>
          <a:stretch>
            <a:fillRect/>
          </a:stretch>
        </p:blipFill>
        <p:spPr>
          <a:xfrm>
            <a:off x="13365480" y="228600"/>
            <a:ext cx="1036320" cy="45339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982385" y="623411"/>
            <a:ext cx="22860" cy="6982778"/>
          </a:xfrm>
          <a:prstGeom prst="roundRect">
            <a:avLst>
              <a:gd name="adj" fmla="val 311692"/>
            </a:avLst>
          </a:prstGeom>
          <a:solidFill>
            <a:srgbClr val="000000">
              <a:alpha val="8000"/>
            </a:srgbClr>
          </a:solidFill>
          <a:ln/>
        </p:spPr>
        <p:txBody>
          <a:bodyPr/>
          <a:lstStyle/>
          <a:p>
            <a:endParaRPr lang="en-GB" noProof="0"/>
          </a:p>
        </p:txBody>
      </p:sp>
      <p:sp>
        <p:nvSpPr>
          <p:cNvPr id="3" name="Shape 1"/>
          <p:cNvSpPr/>
          <p:nvPr/>
        </p:nvSpPr>
        <p:spPr>
          <a:xfrm>
            <a:off x="1150322" y="993458"/>
            <a:ext cx="508873" cy="22860"/>
          </a:xfrm>
          <a:prstGeom prst="roundRect">
            <a:avLst>
              <a:gd name="adj" fmla="val 311692"/>
            </a:avLst>
          </a:prstGeom>
          <a:solidFill>
            <a:srgbClr val="1A4E79"/>
          </a:solidFill>
          <a:ln/>
        </p:spPr>
        <p:txBody>
          <a:bodyPr/>
          <a:lstStyle/>
          <a:p>
            <a:endParaRPr lang="en-GB" noProof="0"/>
          </a:p>
        </p:txBody>
      </p:sp>
      <p:sp>
        <p:nvSpPr>
          <p:cNvPr id="4" name="Shape 2"/>
          <p:cNvSpPr/>
          <p:nvPr/>
        </p:nvSpPr>
        <p:spPr>
          <a:xfrm>
            <a:off x="791587" y="814149"/>
            <a:ext cx="381595" cy="381595"/>
          </a:xfrm>
          <a:prstGeom prst="roundRect">
            <a:avLst>
              <a:gd name="adj" fmla="val 18672"/>
            </a:avLst>
          </a:prstGeom>
          <a:solidFill>
            <a:srgbClr val="013560"/>
          </a:solidFill>
          <a:ln w="7620">
            <a:solidFill>
              <a:srgbClr val="1A4E79"/>
            </a:solidFill>
            <a:prstDash val="solid"/>
          </a:ln>
        </p:spPr>
        <p:txBody>
          <a:bodyPr/>
          <a:lstStyle/>
          <a:p>
            <a:endParaRPr lang="en-GB" noProof="0"/>
          </a:p>
        </p:txBody>
      </p:sp>
      <p:pic>
        <p:nvPicPr>
          <p:cNvPr id="5" name="Image 0" descr="preencoded.png"/>
          <p:cNvPicPr>
            <a:picLocks noChangeAspect="1"/>
          </p:cNvPicPr>
          <p:nvPr/>
        </p:nvPicPr>
        <p:blipFill>
          <a:blip r:embed="rId4"/>
          <a:stretch>
            <a:fillRect/>
          </a:stretch>
        </p:blipFill>
        <p:spPr>
          <a:xfrm>
            <a:off x="855107" y="845880"/>
            <a:ext cx="254437" cy="318016"/>
          </a:xfrm>
          <a:prstGeom prst="rect">
            <a:avLst/>
          </a:prstGeom>
        </p:spPr>
      </p:pic>
      <p:sp>
        <p:nvSpPr>
          <p:cNvPr id="6" name="Text 3"/>
          <p:cNvSpPr/>
          <p:nvPr/>
        </p:nvSpPr>
        <p:spPr>
          <a:xfrm>
            <a:off x="1830705" y="792956"/>
            <a:ext cx="2489359" cy="265033"/>
          </a:xfrm>
          <a:prstGeom prst="rect">
            <a:avLst/>
          </a:prstGeom>
          <a:noFill/>
          <a:ln/>
        </p:spPr>
        <p:txBody>
          <a:bodyPr wrap="none" lIns="0" tIns="0" rIns="0" bIns="0" rtlCol="0" anchor="t"/>
          <a:lstStyle/>
          <a:p>
            <a:pPr marL="0" indent="0" algn="l">
              <a:lnSpc>
                <a:spcPts val="205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Scrutineer Appointment</a:t>
            </a:r>
            <a:endParaRPr lang="en-GB" sz="2000" noProof="0"/>
          </a:p>
        </p:txBody>
      </p:sp>
      <p:sp>
        <p:nvSpPr>
          <p:cNvPr id="7" name="Text 4"/>
          <p:cNvSpPr/>
          <p:nvPr/>
        </p:nvSpPr>
        <p:spPr>
          <a:xfrm>
            <a:off x="1830705" y="1159669"/>
            <a:ext cx="12008048" cy="271463"/>
          </a:xfrm>
          <a:prstGeom prst="rect">
            <a:avLst/>
          </a:prstGeom>
          <a:noFill/>
          <a:ln/>
        </p:spPr>
        <p:txBody>
          <a:bodyPr wrap="square" lIns="0" tIns="0" rIns="0" bIns="0" rtlCol="0" anchor="t"/>
          <a:lstStyle/>
          <a:p>
            <a:pPr marL="0" indent="0" algn="l">
              <a:lnSpc>
                <a:spcPts val="2100"/>
              </a:lnSpc>
              <a:buNone/>
            </a:pPr>
            <a:r>
              <a:rPr lang="en-GB" noProof="0">
                <a:solidFill>
                  <a:srgbClr val="003865"/>
                </a:solidFill>
                <a:latin typeface="Arial" panose="020B0604020202020204" pitchFamily="34" charset="0"/>
                <a:ea typeface="Inter" pitchFamily="34" charset="-122"/>
                <a:cs typeface="Arial" panose="020B0604020202020204" pitchFamily="34" charset="0"/>
              </a:rPr>
              <a:t>Assessment Officers or Heads of Subject/Programme nominate a schedule of three qualified academic staff per board for scrutiny roles.</a:t>
            </a:r>
            <a:endParaRPr lang="en-GB" noProof="0"/>
          </a:p>
        </p:txBody>
      </p:sp>
      <p:sp>
        <p:nvSpPr>
          <p:cNvPr id="8" name="Shape 5"/>
          <p:cNvSpPr/>
          <p:nvPr/>
        </p:nvSpPr>
        <p:spPr>
          <a:xfrm>
            <a:off x="1150322" y="2217386"/>
            <a:ext cx="508873" cy="22860"/>
          </a:xfrm>
          <a:prstGeom prst="roundRect">
            <a:avLst>
              <a:gd name="adj" fmla="val 311692"/>
            </a:avLst>
          </a:prstGeom>
          <a:solidFill>
            <a:srgbClr val="D76619"/>
          </a:solidFill>
          <a:ln/>
        </p:spPr>
        <p:txBody>
          <a:bodyPr/>
          <a:lstStyle/>
          <a:p>
            <a:endParaRPr lang="en-GB" noProof="0"/>
          </a:p>
        </p:txBody>
      </p:sp>
      <p:sp>
        <p:nvSpPr>
          <p:cNvPr id="9" name="Shape 6"/>
          <p:cNvSpPr/>
          <p:nvPr/>
        </p:nvSpPr>
        <p:spPr>
          <a:xfrm>
            <a:off x="791587" y="2038078"/>
            <a:ext cx="381595" cy="381595"/>
          </a:xfrm>
          <a:prstGeom prst="roundRect">
            <a:avLst>
              <a:gd name="adj" fmla="val 18672"/>
            </a:avLst>
          </a:prstGeom>
          <a:solidFill>
            <a:srgbClr val="BE4D00"/>
          </a:solidFill>
          <a:ln w="7620">
            <a:solidFill>
              <a:srgbClr val="D76619"/>
            </a:solidFill>
            <a:prstDash val="solid"/>
          </a:ln>
        </p:spPr>
        <p:txBody>
          <a:bodyPr/>
          <a:lstStyle/>
          <a:p>
            <a:endParaRPr lang="en-GB" noProof="0"/>
          </a:p>
        </p:txBody>
      </p:sp>
      <p:pic>
        <p:nvPicPr>
          <p:cNvPr id="10" name="Image 1" descr="preencoded.png"/>
          <p:cNvPicPr>
            <a:picLocks noChangeAspect="1"/>
          </p:cNvPicPr>
          <p:nvPr/>
        </p:nvPicPr>
        <p:blipFill>
          <a:blip r:embed="rId5"/>
          <a:stretch>
            <a:fillRect/>
          </a:stretch>
        </p:blipFill>
        <p:spPr>
          <a:xfrm>
            <a:off x="855107" y="2069809"/>
            <a:ext cx="254437" cy="318016"/>
          </a:xfrm>
          <a:prstGeom prst="rect">
            <a:avLst/>
          </a:prstGeom>
        </p:spPr>
      </p:pic>
      <p:sp>
        <p:nvSpPr>
          <p:cNvPr id="11" name="Text 7"/>
          <p:cNvSpPr/>
          <p:nvPr/>
        </p:nvSpPr>
        <p:spPr>
          <a:xfrm>
            <a:off x="1830705" y="2016885"/>
            <a:ext cx="2120503" cy="265033"/>
          </a:xfrm>
          <a:prstGeom prst="rect">
            <a:avLst/>
          </a:prstGeom>
          <a:noFill/>
          <a:ln/>
        </p:spPr>
        <p:txBody>
          <a:bodyPr wrap="none" lIns="0" tIns="0" rIns="0" bIns="0" rtlCol="0" anchor="t"/>
          <a:lstStyle/>
          <a:p>
            <a:pPr marL="0" indent="0" algn="l">
              <a:lnSpc>
                <a:spcPts val="205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Training Session</a:t>
            </a:r>
            <a:endParaRPr lang="en-GB" sz="2000" noProof="0"/>
          </a:p>
        </p:txBody>
      </p:sp>
      <p:sp>
        <p:nvSpPr>
          <p:cNvPr id="12" name="Text 8"/>
          <p:cNvSpPr/>
          <p:nvPr/>
        </p:nvSpPr>
        <p:spPr>
          <a:xfrm>
            <a:off x="1830705" y="2383598"/>
            <a:ext cx="12008048" cy="542925"/>
          </a:xfrm>
          <a:prstGeom prst="rect">
            <a:avLst/>
          </a:prstGeom>
          <a:noFill/>
          <a:ln/>
        </p:spPr>
        <p:txBody>
          <a:bodyPr wrap="square" lIns="0" tIns="0" rIns="0" bIns="0" rtlCol="0" anchor="t"/>
          <a:lstStyle/>
          <a:p>
            <a:pPr marL="0" indent="0" algn="l">
              <a:lnSpc>
                <a:spcPts val="2100"/>
              </a:lnSpc>
              <a:buNone/>
            </a:pPr>
            <a:r>
              <a:rPr lang="en-GB" noProof="0">
                <a:solidFill>
                  <a:srgbClr val="003865"/>
                </a:solidFill>
                <a:latin typeface="Arial" panose="020B0604020202020204" pitchFamily="34" charset="0"/>
                <a:ea typeface="Inter" pitchFamily="34" charset="-122"/>
                <a:cs typeface="Arial" panose="020B0604020202020204" pitchFamily="34" charset="0"/>
              </a:rPr>
              <a:t>The university will start to develop training throughout 2025, and meanwhile we are happy to discuss training for colleagues</a:t>
            </a:r>
            <a:endParaRPr lang="en-GB" noProof="0"/>
          </a:p>
        </p:txBody>
      </p:sp>
      <p:sp>
        <p:nvSpPr>
          <p:cNvPr id="13" name="Shape 9"/>
          <p:cNvSpPr/>
          <p:nvPr/>
        </p:nvSpPr>
        <p:spPr>
          <a:xfrm>
            <a:off x="1150322" y="3558540"/>
            <a:ext cx="508873" cy="22860"/>
          </a:xfrm>
          <a:prstGeom prst="roundRect">
            <a:avLst>
              <a:gd name="adj" fmla="val 311692"/>
            </a:avLst>
          </a:prstGeom>
          <a:solidFill>
            <a:srgbClr val="68727A"/>
          </a:solidFill>
          <a:ln/>
        </p:spPr>
        <p:txBody>
          <a:bodyPr/>
          <a:lstStyle/>
          <a:p>
            <a:endParaRPr lang="en-GB" noProof="0"/>
          </a:p>
        </p:txBody>
      </p:sp>
      <p:sp>
        <p:nvSpPr>
          <p:cNvPr id="14" name="Shape 10"/>
          <p:cNvSpPr/>
          <p:nvPr/>
        </p:nvSpPr>
        <p:spPr>
          <a:xfrm>
            <a:off x="791587" y="3379232"/>
            <a:ext cx="381595" cy="381595"/>
          </a:xfrm>
          <a:prstGeom prst="roundRect">
            <a:avLst>
              <a:gd name="adj" fmla="val 18672"/>
            </a:avLst>
          </a:prstGeom>
          <a:solidFill>
            <a:srgbClr val="4F5961"/>
          </a:solidFill>
          <a:ln w="7620">
            <a:solidFill>
              <a:srgbClr val="68727A"/>
            </a:solidFill>
            <a:prstDash val="solid"/>
          </a:ln>
        </p:spPr>
        <p:txBody>
          <a:bodyPr/>
          <a:lstStyle/>
          <a:p>
            <a:endParaRPr lang="en-GB" noProof="0"/>
          </a:p>
        </p:txBody>
      </p:sp>
      <p:pic>
        <p:nvPicPr>
          <p:cNvPr id="15" name="Image 2" descr="preencoded.png"/>
          <p:cNvPicPr>
            <a:picLocks noChangeAspect="1"/>
          </p:cNvPicPr>
          <p:nvPr/>
        </p:nvPicPr>
        <p:blipFill>
          <a:blip r:embed="rId6"/>
          <a:stretch>
            <a:fillRect/>
          </a:stretch>
        </p:blipFill>
        <p:spPr>
          <a:xfrm>
            <a:off x="855107" y="3410962"/>
            <a:ext cx="254437" cy="318016"/>
          </a:xfrm>
          <a:prstGeom prst="rect">
            <a:avLst/>
          </a:prstGeom>
        </p:spPr>
      </p:pic>
      <p:sp>
        <p:nvSpPr>
          <p:cNvPr id="16" name="Text 11"/>
          <p:cNvSpPr/>
          <p:nvPr/>
        </p:nvSpPr>
        <p:spPr>
          <a:xfrm>
            <a:off x="1830705" y="3358039"/>
            <a:ext cx="2120503" cy="265033"/>
          </a:xfrm>
          <a:prstGeom prst="rect">
            <a:avLst/>
          </a:prstGeom>
          <a:noFill/>
          <a:ln/>
        </p:spPr>
        <p:txBody>
          <a:bodyPr wrap="none" lIns="0" tIns="0" rIns="0" bIns="0" rtlCol="0" anchor="t"/>
          <a:lstStyle/>
          <a:p>
            <a:pPr marL="0" indent="0" algn="l">
              <a:lnSpc>
                <a:spcPts val="205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Marking Completed</a:t>
            </a:r>
            <a:endParaRPr lang="en-GB" sz="2000" noProof="0"/>
          </a:p>
        </p:txBody>
      </p:sp>
      <p:sp>
        <p:nvSpPr>
          <p:cNvPr id="17" name="Text 12"/>
          <p:cNvSpPr/>
          <p:nvPr/>
        </p:nvSpPr>
        <p:spPr>
          <a:xfrm>
            <a:off x="1830705" y="3724751"/>
            <a:ext cx="12008048" cy="271463"/>
          </a:xfrm>
          <a:prstGeom prst="rect">
            <a:avLst/>
          </a:prstGeom>
          <a:noFill/>
          <a:ln/>
        </p:spPr>
        <p:txBody>
          <a:bodyPr wrap="square" lIns="0" tIns="0" rIns="0" bIns="0" rtlCol="0" anchor="t"/>
          <a:lstStyle/>
          <a:p>
            <a:pPr marL="0" indent="0" algn="l">
              <a:lnSpc>
                <a:spcPts val="2100"/>
              </a:lnSpc>
              <a:buNone/>
            </a:pPr>
            <a:r>
              <a:rPr lang="en-GB" noProof="0">
                <a:solidFill>
                  <a:srgbClr val="003865"/>
                </a:solidFill>
                <a:latin typeface="Arial" panose="020B0604020202020204" pitchFamily="34" charset="0"/>
                <a:ea typeface="Inter" pitchFamily="34" charset="-122"/>
                <a:cs typeface="Arial" panose="020B0604020202020204" pitchFamily="34" charset="0"/>
              </a:rPr>
              <a:t>Heads of School and Subject ensure marking is completed with enough time for spreadsheets to be completed and circulated.</a:t>
            </a:r>
            <a:endParaRPr lang="en-GB" noProof="0"/>
          </a:p>
        </p:txBody>
      </p:sp>
      <p:sp>
        <p:nvSpPr>
          <p:cNvPr id="18" name="Shape 13"/>
          <p:cNvSpPr/>
          <p:nvPr/>
        </p:nvSpPr>
        <p:spPr>
          <a:xfrm>
            <a:off x="1150322" y="4705350"/>
            <a:ext cx="508873" cy="22860"/>
          </a:xfrm>
          <a:prstGeom prst="roundRect">
            <a:avLst>
              <a:gd name="adj" fmla="val 311692"/>
            </a:avLst>
          </a:prstGeom>
          <a:solidFill>
            <a:srgbClr val="198EC9"/>
          </a:solidFill>
          <a:ln/>
        </p:spPr>
        <p:txBody>
          <a:bodyPr/>
          <a:lstStyle/>
          <a:p>
            <a:endParaRPr lang="en-GB" noProof="0"/>
          </a:p>
        </p:txBody>
      </p:sp>
      <p:sp>
        <p:nvSpPr>
          <p:cNvPr id="19" name="Shape 14"/>
          <p:cNvSpPr/>
          <p:nvPr/>
        </p:nvSpPr>
        <p:spPr>
          <a:xfrm>
            <a:off x="791587" y="4526042"/>
            <a:ext cx="381595" cy="381595"/>
          </a:xfrm>
          <a:prstGeom prst="roundRect">
            <a:avLst>
              <a:gd name="adj" fmla="val 18672"/>
            </a:avLst>
          </a:prstGeom>
          <a:solidFill>
            <a:srgbClr val="0075B0"/>
          </a:solidFill>
          <a:ln w="7620">
            <a:solidFill>
              <a:srgbClr val="198EC9"/>
            </a:solidFill>
            <a:prstDash val="solid"/>
          </a:ln>
        </p:spPr>
        <p:txBody>
          <a:bodyPr/>
          <a:lstStyle/>
          <a:p>
            <a:endParaRPr lang="en-GB" noProof="0"/>
          </a:p>
        </p:txBody>
      </p:sp>
      <p:pic>
        <p:nvPicPr>
          <p:cNvPr id="20" name="Image 3" descr="preencoded.png"/>
          <p:cNvPicPr>
            <a:picLocks noChangeAspect="1"/>
          </p:cNvPicPr>
          <p:nvPr/>
        </p:nvPicPr>
        <p:blipFill>
          <a:blip r:embed="rId7"/>
          <a:stretch>
            <a:fillRect/>
          </a:stretch>
        </p:blipFill>
        <p:spPr>
          <a:xfrm>
            <a:off x="855107" y="4557772"/>
            <a:ext cx="254437" cy="318016"/>
          </a:xfrm>
          <a:prstGeom prst="rect">
            <a:avLst/>
          </a:prstGeom>
        </p:spPr>
      </p:pic>
      <p:sp>
        <p:nvSpPr>
          <p:cNvPr id="21" name="Text 15"/>
          <p:cNvSpPr/>
          <p:nvPr/>
        </p:nvSpPr>
        <p:spPr>
          <a:xfrm>
            <a:off x="1830705" y="4504849"/>
            <a:ext cx="2583418" cy="265033"/>
          </a:xfrm>
          <a:prstGeom prst="rect">
            <a:avLst/>
          </a:prstGeom>
          <a:noFill/>
          <a:ln/>
        </p:spPr>
        <p:txBody>
          <a:bodyPr wrap="none" lIns="0" tIns="0" rIns="0" bIns="0" rtlCol="0" anchor="t"/>
          <a:lstStyle/>
          <a:p>
            <a:pPr marL="0" indent="0" algn="l">
              <a:lnSpc>
                <a:spcPts val="205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Spreadsheet Distribution</a:t>
            </a:r>
            <a:endParaRPr lang="en-GB" sz="2000" noProof="0"/>
          </a:p>
        </p:txBody>
      </p:sp>
      <p:sp>
        <p:nvSpPr>
          <p:cNvPr id="22" name="Text 16"/>
          <p:cNvSpPr/>
          <p:nvPr/>
        </p:nvSpPr>
        <p:spPr>
          <a:xfrm>
            <a:off x="1830705" y="4871561"/>
            <a:ext cx="12008048" cy="271463"/>
          </a:xfrm>
          <a:prstGeom prst="rect">
            <a:avLst/>
          </a:prstGeom>
          <a:noFill/>
          <a:ln/>
        </p:spPr>
        <p:txBody>
          <a:bodyPr wrap="square" lIns="0" tIns="0" rIns="0" bIns="0" rtlCol="0" anchor="t"/>
          <a:lstStyle/>
          <a:p>
            <a:pPr marL="0" indent="0" algn="l">
              <a:lnSpc>
                <a:spcPts val="2100"/>
              </a:lnSpc>
              <a:buNone/>
            </a:pPr>
            <a:r>
              <a:rPr lang="en-GB" noProof="0">
                <a:solidFill>
                  <a:srgbClr val="003865"/>
                </a:solidFill>
                <a:latin typeface="Arial" panose="020B0604020202020204" pitchFamily="34" charset="0"/>
                <a:ea typeface="Inter" pitchFamily="34" charset="-122"/>
                <a:cs typeface="Arial" panose="020B0604020202020204" pitchFamily="34" charset="0"/>
              </a:rPr>
              <a:t>Administrative team to circulate final assessment spreadsheets no later than 24 hours before scheduled board meetings.</a:t>
            </a:r>
            <a:endParaRPr lang="en-GB" noProof="0"/>
          </a:p>
        </p:txBody>
      </p:sp>
      <p:sp>
        <p:nvSpPr>
          <p:cNvPr id="23" name="Shape 17"/>
          <p:cNvSpPr/>
          <p:nvPr/>
        </p:nvSpPr>
        <p:spPr>
          <a:xfrm>
            <a:off x="1150322" y="5852160"/>
            <a:ext cx="508873" cy="22860"/>
          </a:xfrm>
          <a:prstGeom prst="roundRect">
            <a:avLst>
              <a:gd name="adj" fmla="val 311692"/>
            </a:avLst>
          </a:prstGeom>
          <a:solidFill>
            <a:srgbClr val="93816E"/>
          </a:solidFill>
          <a:ln/>
        </p:spPr>
        <p:txBody>
          <a:bodyPr/>
          <a:lstStyle/>
          <a:p>
            <a:endParaRPr lang="en-GB" noProof="0"/>
          </a:p>
        </p:txBody>
      </p:sp>
      <p:sp>
        <p:nvSpPr>
          <p:cNvPr id="24" name="Shape 18"/>
          <p:cNvSpPr/>
          <p:nvPr/>
        </p:nvSpPr>
        <p:spPr>
          <a:xfrm>
            <a:off x="791587" y="5672852"/>
            <a:ext cx="381595" cy="381595"/>
          </a:xfrm>
          <a:prstGeom prst="roundRect">
            <a:avLst>
              <a:gd name="adj" fmla="val 18672"/>
            </a:avLst>
          </a:prstGeom>
          <a:solidFill>
            <a:srgbClr val="7A6855"/>
          </a:solidFill>
          <a:ln w="7620">
            <a:solidFill>
              <a:srgbClr val="93816E"/>
            </a:solidFill>
            <a:prstDash val="solid"/>
          </a:ln>
        </p:spPr>
        <p:txBody>
          <a:bodyPr/>
          <a:lstStyle/>
          <a:p>
            <a:endParaRPr lang="en-GB" noProof="0"/>
          </a:p>
        </p:txBody>
      </p:sp>
      <p:pic>
        <p:nvPicPr>
          <p:cNvPr id="25" name="Image 4" descr="preencoded.png"/>
          <p:cNvPicPr>
            <a:picLocks noChangeAspect="1"/>
          </p:cNvPicPr>
          <p:nvPr/>
        </p:nvPicPr>
        <p:blipFill>
          <a:blip r:embed="rId8"/>
          <a:stretch>
            <a:fillRect/>
          </a:stretch>
        </p:blipFill>
        <p:spPr>
          <a:xfrm>
            <a:off x="855107" y="5704582"/>
            <a:ext cx="254437" cy="318016"/>
          </a:xfrm>
          <a:prstGeom prst="rect">
            <a:avLst/>
          </a:prstGeom>
        </p:spPr>
      </p:pic>
      <p:sp>
        <p:nvSpPr>
          <p:cNvPr id="26" name="Text 19"/>
          <p:cNvSpPr/>
          <p:nvPr/>
        </p:nvSpPr>
        <p:spPr>
          <a:xfrm>
            <a:off x="1830705" y="5651659"/>
            <a:ext cx="2120503" cy="265033"/>
          </a:xfrm>
          <a:prstGeom prst="rect">
            <a:avLst/>
          </a:prstGeom>
          <a:noFill/>
          <a:ln/>
        </p:spPr>
        <p:txBody>
          <a:bodyPr wrap="none" lIns="0" tIns="0" rIns="0" bIns="0" rtlCol="0" anchor="t"/>
          <a:lstStyle/>
          <a:p>
            <a:pPr marL="0" indent="0" algn="l">
              <a:lnSpc>
                <a:spcPts val="205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Pre-Board Scrutiny</a:t>
            </a:r>
            <a:endParaRPr lang="en-GB" sz="2000" noProof="0"/>
          </a:p>
        </p:txBody>
      </p:sp>
      <p:sp>
        <p:nvSpPr>
          <p:cNvPr id="27" name="Text 20"/>
          <p:cNvSpPr/>
          <p:nvPr/>
        </p:nvSpPr>
        <p:spPr>
          <a:xfrm>
            <a:off x="1830705" y="6018371"/>
            <a:ext cx="12008048" cy="271463"/>
          </a:xfrm>
          <a:prstGeom prst="rect">
            <a:avLst/>
          </a:prstGeom>
          <a:noFill/>
          <a:ln/>
        </p:spPr>
        <p:txBody>
          <a:bodyPr wrap="square" lIns="0" tIns="0" rIns="0" bIns="0" rtlCol="0" anchor="t"/>
          <a:lstStyle/>
          <a:p>
            <a:pPr marL="0" indent="0" algn="l">
              <a:lnSpc>
                <a:spcPts val="2100"/>
              </a:lnSpc>
              <a:buNone/>
            </a:pPr>
            <a:r>
              <a:rPr lang="en-GB" noProof="0">
                <a:solidFill>
                  <a:srgbClr val="003865"/>
                </a:solidFill>
                <a:latin typeface="Arial" panose="020B0604020202020204" pitchFamily="34" charset="0"/>
                <a:ea typeface="Inter" pitchFamily="34" charset="-122"/>
                <a:cs typeface="Arial" panose="020B0604020202020204" pitchFamily="34" charset="0"/>
              </a:rPr>
              <a:t>Designated scrutineers to complete verification checks and submit findings to the Assessment Officer the night before the boards.</a:t>
            </a:r>
            <a:endParaRPr lang="en-GB" noProof="0"/>
          </a:p>
        </p:txBody>
      </p:sp>
      <p:sp>
        <p:nvSpPr>
          <p:cNvPr id="28" name="Shape 21"/>
          <p:cNvSpPr/>
          <p:nvPr/>
        </p:nvSpPr>
        <p:spPr>
          <a:xfrm>
            <a:off x="1150322" y="6998970"/>
            <a:ext cx="508873" cy="22860"/>
          </a:xfrm>
          <a:prstGeom prst="roundRect">
            <a:avLst>
              <a:gd name="adj" fmla="val 311692"/>
            </a:avLst>
          </a:prstGeom>
          <a:solidFill>
            <a:srgbClr val="196CB1"/>
          </a:solidFill>
          <a:ln/>
        </p:spPr>
        <p:txBody>
          <a:bodyPr/>
          <a:lstStyle/>
          <a:p>
            <a:endParaRPr lang="en-GB" noProof="0"/>
          </a:p>
        </p:txBody>
      </p:sp>
      <p:sp>
        <p:nvSpPr>
          <p:cNvPr id="29" name="Shape 22"/>
          <p:cNvSpPr/>
          <p:nvPr/>
        </p:nvSpPr>
        <p:spPr>
          <a:xfrm>
            <a:off x="791587" y="6819662"/>
            <a:ext cx="381595" cy="381595"/>
          </a:xfrm>
          <a:prstGeom prst="roundRect">
            <a:avLst>
              <a:gd name="adj" fmla="val 18672"/>
            </a:avLst>
          </a:prstGeom>
          <a:solidFill>
            <a:srgbClr val="005398"/>
          </a:solidFill>
          <a:ln w="7620">
            <a:solidFill>
              <a:srgbClr val="196CB1"/>
            </a:solidFill>
            <a:prstDash val="solid"/>
          </a:ln>
        </p:spPr>
        <p:txBody>
          <a:bodyPr/>
          <a:lstStyle/>
          <a:p>
            <a:endParaRPr lang="en-GB" noProof="0"/>
          </a:p>
        </p:txBody>
      </p:sp>
      <p:pic>
        <p:nvPicPr>
          <p:cNvPr id="30" name="Image 5" descr="preencoded.png"/>
          <p:cNvPicPr>
            <a:picLocks noChangeAspect="1"/>
          </p:cNvPicPr>
          <p:nvPr/>
        </p:nvPicPr>
        <p:blipFill>
          <a:blip r:embed="rId9"/>
          <a:stretch>
            <a:fillRect/>
          </a:stretch>
        </p:blipFill>
        <p:spPr>
          <a:xfrm>
            <a:off x="855107" y="6851392"/>
            <a:ext cx="254437" cy="318016"/>
          </a:xfrm>
          <a:prstGeom prst="rect">
            <a:avLst/>
          </a:prstGeom>
        </p:spPr>
      </p:pic>
      <p:sp>
        <p:nvSpPr>
          <p:cNvPr id="31" name="Text 23"/>
          <p:cNvSpPr/>
          <p:nvPr/>
        </p:nvSpPr>
        <p:spPr>
          <a:xfrm>
            <a:off x="1830705" y="6798469"/>
            <a:ext cx="2120503" cy="265033"/>
          </a:xfrm>
          <a:prstGeom prst="rect">
            <a:avLst/>
          </a:prstGeom>
          <a:noFill/>
          <a:ln/>
        </p:spPr>
        <p:txBody>
          <a:bodyPr wrap="none" lIns="0" tIns="0" rIns="0" bIns="0" rtlCol="0" anchor="t"/>
          <a:lstStyle/>
          <a:p>
            <a:pPr marL="0" indent="0" algn="l">
              <a:lnSpc>
                <a:spcPts val="2050"/>
              </a:lnSpc>
              <a:buNone/>
            </a:pPr>
            <a:r>
              <a:rPr lang="en-GB" sz="2000" b="1" noProof="0">
                <a:solidFill>
                  <a:srgbClr val="003865"/>
                </a:solidFill>
                <a:latin typeface="Arial" panose="020B0604020202020204" pitchFamily="34" charset="0"/>
                <a:ea typeface="Inter Bold" pitchFamily="34" charset="-122"/>
                <a:cs typeface="Arial" panose="020B0604020202020204" pitchFamily="34" charset="0"/>
              </a:rPr>
              <a:t>Board Meeting</a:t>
            </a:r>
            <a:endParaRPr lang="en-GB" sz="2000" noProof="0"/>
          </a:p>
        </p:txBody>
      </p:sp>
      <p:sp>
        <p:nvSpPr>
          <p:cNvPr id="32" name="Text 24"/>
          <p:cNvSpPr/>
          <p:nvPr/>
        </p:nvSpPr>
        <p:spPr>
          <a:xfrm>
            <a:off x="1830705" y="7165181"/>
            <a:ext cx="12008048" cy="271463"/>
          </a:xfrm>
          <a:prstGeom prst="rect">
            <a:avLst/>
          </a:prstGeom>
          <a:noFill/>
          <a:ln/>
        </p:spPr>
        <p:txBody>
          <a:bodyPr wrap="square" lIns="0" tIns="0" rIns="0" bIns="0" rtlCol="0" anchor="t"/>
          <a:lstStyle/>
          <a:p>
            <a:pPr marL="0" indent="0" algn="l">
              <a:lnSpc>
                <a:spcPts val="2100"/>
              </a:lnSpc>
              <a:buNone/>
            </a:pPr>
            <a:r>
              <a:rPr lang="en-GB" noProof="0">
                <a:solidFill>
                  <a:srgbClr val="003865"/>
                </a:solidFill>
                <a:latin typeface="Arial" panose="020B0604020202020204" pitchFamily="34" charset="0"/>
                <a:ea typeface="Inter" pitchFamily="34" charset="-122"/>
                <a:cs typeface="Arial" panose="020B0604020202020204" pitchFamily="34" charset="0"/>
              </a:rPr>
              <a:t>Streamlined examination board.</a:t>
            </a:r>
            <a:endParaRPr lang="en-GB" noProof="0"/>
          </a:p>
        </p:txBody>
      </p:sp>
      <p:pic>
        <p:nvPicPr>
          <p:cNvPr id="33" name="Image 6" descr="preencoded.png"/>
          <p:cNvPicPr>
            <a:picLocks noChangeAspect="1"/>
          </p:cNvPicPr>
          <p:nvPr/>
        </p:nvPicPr>
        <p:blipFill>
          <a:blip r:embed="rId10"/>
          <a:stretch>
            <a:fillRect/>
          </a:stretch>
        </p:blipFill>
        <p:spPr>
          <a:xfrm>
            <a:off x="13365480" y="228600"/>
            <a:ext cx="1036320" cy="45339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78F5C-4F69-FD1E-26C8-7A9B9ACEEC9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58ACDB4-9509-9045-2270-140F6EA88E63}"/>
              </a:ext>
            </a:extLst>
          </p:cNvPr>
          <p:cNvSpPr/>
          <p:nvPr/>
        </p:nvSpPr>
        <p:spPr>
          <a:xfrm>
            <a:off x="793790" y="1279684"/>
            <a:ext cx="6768346" cy="708779"/>
          </a:xfrm>
          <a:prstGeom prst="rect">
            <a:avLst/>
          </a:prstGeom>
          <a:noFill/>
          <a:ln/>
        </p:spPr>
        <p:txBody>
          <a:bodyPr wrap="none" lIns="0" tIns="0" rIns="0" bIns="0" rtlCol="0" anchor="t"/>
          <a:lstStyle/>
          <a:p>
            <a:pPr marL="0" indent="0" algn="l">
              <a:lnSpc>
                <a:spcPts val="5550"/>
              </a:lnSpc>
              <a:buNone/>
            </a:pPr>
            <a:r>
              <a:rPr lang="en-GB" sz="4450" b="1" noProof="0">
                <a:solidFill>
                  <a:srgbClr val="003865"/>
                </a:solidFill>
                <a:latin typeface="Arial" panose="020B0604020202020204" pitchFamily="34" charset="0"/>
                <a:ea typeface="Inter Bold" pitchFamily="34" charset="-122"/>
                <a:cs typeface="Arial" panose="020B0604020202020204" pitchFamily="34" charset="0"/>
              </a:rPr>
              <a:t>Scrutineer Reporting/Comments</a:t>
            </a:r>
            <a:endParaRPr lang="en-GB" sz="4450" noProof="0"/>
          </a:p>
        </p:txBody>
      </p:sp>
      <p:sp>
        <p:nvSpPr>
          <p:cNvPr id="18" name="Text 12">
            <a:extLst>
              <a:ext uri="{FF2B5EF4-FFF2-40B4-BE49-F238E27FC236}">
                <a16:creationId xmlns:a16="http://schemas.microsoft.com/office/drawing/2014/main" id="{B161FF9F-DA54-7052-6CCF-1210A847131A}"/>
              </a:ext>
            </a:extLst>
          </p:cNvPr>
          <p:cNvSpPr/>
          <p:nvPr/>
        </p:nvSpPr>
        <p:spPr>
          <a:xfrm>
            <a:off x="793790" y="2526386"/>
            <a:ext cx="12448681" cy="3645813"/>
          </a:xfrm>
          <a:prstGeom prst="rect">
            <a:avLst/>
          </a:prstGeom>
          <a:noFill/>
          <a:ln/>
        </p:spPr>
        <p:txBody>
          <a:bodyPr wrap="square" lIns="0" tIns="0" rIns="0" bIns="0" rtlCol="0" anchor="t"/>
          <a:lstStyle/>
          <a:p>
            <a:pPr marL="0" indent="0" algn="l">
              <a:lnSpc>
                <a:spcPts val="2850"/>
              </a:lnSpc>
              <a:spcAft>
                <a:spcPts val="600"/>
              </a:spcAft>
              <a:buNone/>
            </a:pPr>
            <a:r>
              <a:rPr lang="en-GB" sz="2400" noProof="0">
                <a:solidFill>
                  <a:srgbClr val="003865"/>
                </a:solidFill>
                <a:latin typeface="Arial" panose="020B0604020202020204" pitchFamily="34" charset="0"/>
                <a:ea typeface="Inter" pitchFamily="34" charset="-122"/>
                <a:cs typeface="Arial" panose="020B0604020202020204" pitchFamily="34" charset="0"/>
              </a:rPr>
              <a:t>Overleaf are some anonymized comments from different scrutineers in different situations. They can give you a flavour of the sorts of activity which can happen in the pre-scrutiny phase.</a:t>
            </a:r>
          </a:p>
          <a:p>
            <a:pPr marL="0" indent="0" algn="l">
              <a:lnSpc>
                <a:spcPts val="2850"/>
              </a:lnSpc>
              <a:spcAft>
                <a:spcPts val="600"/>
              </a:spcAft>
              <a:buNone/>
            </a:pPr>
            <a:endParaRPr lang="en-GB" sz="2400" noProof="0">
              <a:solidFill>
                <a:srgbClr val="003865"/>
              </a:solidFill>
              <a:latin typeface="Arial" panose="020B0604020202020204" pitchFamily="34" charset="0"/>
              <a:ea typeface="Inter" pitchFamily="34" charset="-122"/>
              <a:cs typeface="Arial" panose="020B0604020202020204" pitchFamily="34" charset="0"/>
            </a:endParaRPr>
          </a:p>
          <a:p>
            <a:pPr marL="0" indent="0" algn="l">
              <a:lnSpc>
                <a:spcPts val="2850"/>
              </a:lnSpc>
              <a:spcAft>
                <a:spcPts val="600"/>
              </a:spcAft>
              <a:buNone/>
            </a:pPr>
            <a:r>
              <a:rPr lang="en-GB" sz="2400" noProof="0">
                <a:solidFill>
                  <a:srgbClr val="003865"/>
                </a:solidFill>
                <a:latin typeface="Arial" panose="020B0604020202020204" pitchFamily="34" charset="0"/>
                <a:ea typeface="Inter" pitchFamily="34" charset="-122"/>
                <a:cs typeface="Arial" panose="020B0604020202020204" pitchFamily="34" charset="0"/>
              </a:rPr>
              <a:t>Thanks to those anonymous colleagues who agreed to provide screenshots!</a:t>
            </a:r>
            <a:endParaRPr lang="en-GB" sz="2400" noProof="0"/>
          </a:p>
        </p:txBody>
      </p:sp>
      <p:pic>
        <p:nvPicPr>
          <p:cNvPr id="19" name="Image 4" descr="preencoded.png">
            <a:extLst>
              <a:ext uri="{FF2B5EF4-FFF2-40B4-BE49-F238E27FC236}">
                <a16:creationId xmlns:a16="http://schemas.microsoft.com/office/drawing/2014/main" id="{962BB172-001E-F815-0406-B9B4333E12C2}"/>
              </a:ext>
            </a:extLst>
          </p:cNvPr>
          <p:cNvPicPr>
            <a:picLocks noChangeAspect="1"/>
          </p:cNvPicPr>
          <p:nvPr/>
        </p:nvPicPr>
        <p:blipFill>
          <a:blip r:embed="rId3"/>
          <a:stretch>
            <a:fillRect/>
          </a:stretch>
        </p:blipFill>
        <p:spPr>
          <a:xfrm>
            <a:off x="13365480" y="228600"/>
            <a:ext cx="1036320" cy="453390"/>
          </a:xfrm>
          <a:prstGeom prst="rect">
            <a:avLst/>
          </a:prstGeom>
        </p:spPr>
      </p:pic>
    </p:spTree>
    <p:extLst>
      <p:ext uri="{BB962C8B-B14F-4D97-AF65-F5344CB8AC3E}">
        <p14:creationId xmlns:p14="http://schemas.microsoft.com/office/powerpoint/2010/main" val="4241207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4B6E3F-B983-25F0-51E7-456CB44B7A00}"/>
              </a:ext>
            </a:extLst>
          </p:cNvPr>
          <p:cNvPicPr>
            <a:picLocks noChangeAspect="1"/>
          </p:cNvPicPr>
          <p:nvPr/>
        </p:nvPicPr>
        <p:blipFill>
          <a:blip r:embed="rId3"/>
          <a:stretch>
            <a:fillRect/>
          </a:stretch>
        </p:blipFill>
        <p:spPr>
          <a:xfrm>
            <a:off x="523092" y="0"/>
            <a:ext cx="13162716" cy="7894974"/>
          </a:xfrm>
          <a:prstGeom prst="rect">
            <a:avLst/>
          </a:prstGeom>
        </p:spPr>
      </p:pic>
    </p:spTree>
    <p:extLst>
      <p:ext uri="{BB962C8B-B14F-4D97-AF65-F5344CB8AC3E}">
        <p14:creationId xmlns:p14="http://schemas.microsoft.com/office/powerpoint/2010/main" val="999230039"/>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0B4E612-B823-5C28-8455-50033D185AD9}"/>
              </a:ext>
            </a:extLst>
          </p:cNvPr>
          <p:cNvPicPr>
            <a:picLocks noChangeAspect="1"/>
          </p:cNvPicPr>
          <p:nvPr/>
        </p:nvPicPr>
        <p:blipFill>
          <a:blip r:embed="rId2"/>
          <a:stretch>
            <a:fillRect/>
          </a:stretch>
        </p:blipFill>
        <p:spPr>
          <a:xfrm>
            <a:off x="1298327" y="0"/>
            <a:ext cx="12033746" cy="8247993"/>
          </a:xfrm>
          <a:prstGeom prst="rect">
            <a:avLst/>
          </a:prstGeom>
        </p:spPr>
      </p:pic>
    </p:spTree>
    <p:extLst>
      <p:ext uri="{BB962C8B-B14F-4D97-AF65-F5344CB8AC3E}">
        <p14:creationId xmlns:p14="http://schemas.microsoft.com/office/powerpoint/2010/main" val="1398894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D35B31D-8D30-E901-E9CC-847B4E882D6F}"/>
              </a:ext>
            </a:extLst>
          </p:cNvPr>
          <p:cNvPicPr>
            <a:picLocks noChangeAspect="1"/>
          </p:cNvPicPr>
          <p:nvPr/>
        </p:nvPicPr>
        <p:blipFill>
          <a:blip r:embed="rId2"/>
          <a:stretch>
            <a:fillRect/>
          </a:stretch>
        </p:blipFill>
        <p:spPr>
          <a:xfrm>
            <a:off x="1077685" y="248024"/>
            <a:ext cx="12475029" cy="7733552"/>
          </a:xfrm>
          <a:prstGeom prst="rect">
            <a:avLst/>
          </a:prstGeom>
        </p:spPr>
      </p:pic>
    </p:spTree>
    <p:extLst>
      <p:ext uri="{BB962C8B-B14F-4D97-AF65-F5344CB8AC3E}">
        <p14:creationId xmlns:p14="http://schemas.microsoft.com/office/powerpoint/2010/main" val="4232013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595C23-DF3C-B8E7-E104-DACB7744A3A3}"/>
              </a:ext>
            </a:extLst>
          </p:cNvPr>
          <p:cNvPicPr>
            <a:picLocks noChangeAspect="1"/>
          </p:cNvPicPr>
          <p:nvPr/>
        </p:nvPicPr>
        <p:blipFill>
          <a:blip r:embed="rId2"/>
          <a:stretch>
            <a:fillRect/>
          </a:stretch>
        </p:blipFill>
        <p:spPr>
          <a:xfrm>
            <a:off x="479808" y="2368622"/>
            <a:ext cx="13432135" cy="3492355"/>
          </a:xfrm>
          <a:prstGeom prst="rect">
            <a:avLst/>
          </a:prstGeom>
        </p:spPr>
      </p:pic>
    </p:spTree>
    <p:extLst>
      <p:ext uri="{BB962C8B-B14F-4D97-AF65-F5344CB8AC3E}">
        <p14:creationId xmlns:p14="http://schemas.microsoft.com/office/powerpoint/2010/main" val="3697180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3657" y="843320"/>
            <a:ext cx="7776686" cy="1220867"/>
          </a:xfrm>
          <a:prstGeom prst="rect">
            <a:avLst/>
          </a:prstGeom>
          <a:noFill/>
          <a:ln/>
        </p:spPr>
        <p:txBody>
          <a:bodyPr wrap="square" lIns="0" tIns="0" rIns="0" bIns="0" rtlCol="0" anchor="t"/>
          <a:lstStyle/>
          <a:p>
            <a:pPr marL="0" indent="0" algn="l">
              <a:lnSpc>
                <a:spcPts val="4800"/>
              </a:lnSpc>
              <a:buNone/>
            </a:pPr>
            <a:r>
              <a:rPr lang="en-GB" sz="3800" b="1" noProof="0">
                <a:solidFill>
                  <a:srgbClr val="003865"/>
                </a:solidFill>
                <a:latin typeface="Arial" panose="020B0604020202020204" pitchFamily="34" charset="0"/>
                <a:ea typeface="Inter Bold" pitchFamily="34" charset="-122"/>
                <a:cs typeface="Arial" panose="020B0604020202020204" pitchFamily="34" charset="0"/>
              </a:rPr>
              <a:t>Core Principles of Compassionate Communication</a:t>
            </a:r>
            <a:endParaRPr lang="en-GB" sz="3800" noProof="0"/>
          </a:p>
        </p:txBody>
      </p:sp>
      <p:sp>
        <p:nvSpPr>
          <p:cNvPr id="4" name="Shape 1"/>
          <p:cNvSpPr/>
          <p:nvPr/>
        </p:nvSpPr>
        <p:spPr>
          <a:xfrm>
            <a:off x="683657" y="2576870"/>
            <a:ext cx="439460" cy="439460"/>
          </a:xfrm>
          <a:prstGeom prst="roundRect">
            <a:avLst>
              <a:gd name="adj" fmla="val 18670"/>
            </a:avLst>
          </a:prstGeom>
          <a:solidFill>
            <a:srgbClr val="013560"/>
          </a:solidFill>
          <a:ln w="7620">
            <a:solidFill>
              <a:srgbClr val="1A4E79"/>
            </a:solidFill>
            <a:prstDash val="solid"/>
          </a:ln>
        </p:spPr>
        <p:txBody>
          <a:bodyPr/>
          <a:lstStyle/>
          <a:p>
            <a:endParaRPr lang="en-GB" noProof="0"/>
          </a:p>
        </p:txBody>
      </p:sp>
      <p:pic>
        <p:nvPicPr>
          <p:cNvPr id="5" name="Image 1" descr="preencoded.png"/>
          <p:cNvPicPr>
            <a:picLocks noChangeAspect="1"/>
          </p:cNvPicPr>
          <p:nvPr/>
        </p:nvPicPr>
        <p:blipFill>
          <a:blip r:embed="rId4"/>
          <a:stretch>
            <a:fillRect/>
          </a:stretch>
        </p:blipFill>
        <p:spPr>
          <a:xfrm>
            <a:off x="756821" y="2613422"/>
            <a:ext cx="293013" cy="366236"/>
          </a:xfrm>
          <a:prstGeom prst="rect">
            <a:avLst/>
          </a:prstGeom>
        </p:spPr>
      </p:pic>
      <p:sp>
        <p:nvSpPr>
          <p:cNvPr id="6" name="Text 2"/>
          <p:cNvSpPr/>
          <p:nvPr/>
        </p:nvSpPr>
        <p:spPr>
          <a:xfrm>
            <a:off x="1318379" y="2576870"/>
            <a:ext cx="2441853" cy="305157"/>
          </a:xfrm>
          <a:prstGeom prst="rect">
            <a:avLst/>
          </a:prstGeom>
          <a:noFill/>
          <a:ln/>
        </p:spPr>
        <p:txBody>
          <a:bodyPr wrap="none" lIns="0" tIns="0" rIns="0" bIns="0" rtlCol="0" anchor="t"/>
          <a:lstStyle/>
          <a:p>
            <a:pPr marL="0" indent="0" algn="l">
              <a:lnSpc>
                <a:spcPts val="2400"/>
              </a:lnSpc>
              <a:buNone/>
            </a:pPr>
            <a:r>
              <a:rPr lang="en-GB" sz="1900" b="1" noProof="0">
                <a:solidFill>
                  <a:srgbClr val="003865"/>
                </a:solidFill>
                <a:latin typeface="Arial" panose="020B0604020202020204" pitchFamily="34" charset="0"/>
                <a:ea typeface="Inter Bold" pitchFamily="34" charset="-122"/>
                <a:cs typeface="Arial" panose="020B0604020202020204" pitchFamily="34" charset="0"/>
              </a:rPr>
              <a:t>Culture of Kindness</a:t>
            </a:r>
            <a:endParaRPr lang="en-GB" sz="1900" noProof="0"/>
          </a:p>
        </p:txBody>
      </p:sp>
      <p:sp>
        <p:nvSpPr>
          <p:cNvPr id="7" name="Text 3"/>
          <p:cNvSpPr/>
          <p:nvPr/>
        </p:nvSpPr>
        <p:spPr>
          <a:xfrm>
            <a:off x="1318379" y="2999184"/>
            <a:ext cx="7141964" cy="625078"/>
          </a:xfrm>
          <a:prstGeom prst="rect">
            <a:avLst/>
          </a:prstGeom>
          <a:noFill/>
          <a:ln/>
        </p:spPr>
        <p:txBody>
          <a:bodyPr wrap="square" lIns="0" tIns="0" rIns="0" bIns="0" rtlCol="0" anchor="t"/>
          <a:lstStyle/>
          <a:p>
            <a:pPr marL="0" indent="0" algn="l">
              <a:lnSpc>
                <a:spcPts val="2450"/>
              </a:lnSpc>
              <a:buNone/>
            </a:pPr>
            <a:r>
              <a:rPr lang="en-GB" sz="1500" noProof="0">
                <a:solidFill>
                  <a:srgbClr val="003865"/>
                </a:solidFill>
                <a:latin typeface="Arial" panose="020B0604020202020204" pitchFamily="34" charset="0"/>
                <a:ea typeface="Inter" pitchFamily="34" charset="-122"/>
                <a:cs typeface="Arial" panose="020B0604020202020204" pitchFamily="34" charset="0"/>
              </a:rPr>
              <a:t>Incorporating kindness into student-facing policies, processes, and communications.</a:t>
            </a:r>
            <a:endParaRPr lang="en-GB" sz="1500" noProof="0"/>
          </a:p>
        </p:txBody>
      </p:sp>
      <p:sp>
        <p:nvSpPr>
          <p:cNvPr id="8" name="Shape 4"/>
          <p:cNvSpPr/>
          <p:nvPr/>
        </p:nvSpPr>
        <p:spPr>
          <a:xfrm>
            <a:off x="683657" y="3767341"/>
            <a:ext cx="439460" cy="439460"/>
          </a:xfrm>
          <a:prstGeom prst="roundRect">
            <a:avLst>
              <a:gd name="adj" fmla="val 18670"/>
            </a:avLst>
          </a:prstGeom>
          <a:solidFill>
            <a:srgbClr val="BE4D00"/>
          </a:solidFill>
          <a:ln w="7620">
            <a:solidFill>
              <a:srgbClr val="D76619"/>
            </a:solidFill>
            <a:prstDash val="solid"/>
          </a:ln>
        </p:spPr>
        <p:txBody>
          <a:bodyPr/>
          <a:lstStyle/>
          <a:p>
            <a:endParaRPr lang="en-GB" noProof="0"/>
          </a:p>
        </p:txBody>
      </p:sp>
      <p:pic>
        <p:nvPicPr>
          <p:cNvPr id="9" name="Image 2" descr="preencoded.png"/>
          <p:cNvPicPr>
            <a:picLocks noChangeAspect="1"/>
          </p:cNvPicPr>
          <p:nvPr/>
        </p:nvPicPr>
        <p:blipFill>
          <a:blip r:embed="rId5"/>
          <a:stretch>
            <a:fillRect/>
          </a:stretch>
        </p:blipFill>
        <p:spPr>
          <a:xfrm>
            <a:off x="756821" y="3803894"/>
            <a:ext cx="293013" cy="366236"/>
          </a:xfrm>
          <a:prstGeom prst="rect">
            <a:avLst/>
          </a:prstGeom>
        </p:spPr>
      </p:pic>
      <p:sp>
        <p:nvSpPr>
          <p:cNvPr id="10" name="Text 5"/>
          <p:cNvSpPr/>
          <p:nvPr/>
        </p:nvSpPr>
        <p:spPr>
          <a:xfrm>
            <a:off x="1318379" y="3767341"/>
            <a:ext cx="2999780" cy="305157"/>
          </a:xfrm>
          <a:prstGeom prst="rect">
            <a:avLst/>
          </a:prstGeom>
          <a:noFill/>
          <a:ln/>
        </p:spPr>
        <p:txBody>
          <a:bodyPr wrap="none" lIns="0" tIns="0" rIns="0" bIns="0" rtlCol="0" anchor="t"/>
          <a:lstStyle/>
          <a:p>
            <a:pPr marL="0" indent="0" algn="l">
              <a:lnSpc>
                <a:spcPts val="2400"/>
              </a:lnSpc>
              <a:buNone/>
            </a:pPr>
            <a:r>
              <a:rPr lang="en-GB" sz="1900" b="1" noProof="0">
                <a:solidFill>
                  <a:srgbClr val="003865"/>
                </a:solidFill>
                <a:latin typeface="Arial" panose="020B0604020202020204" pitchFamily="34" charset="0"/>
                <a:ea typeface="Inter Bold" pitchFamily="34" charset="-122"/>
                <a:cs typeface="Arial" panose="020B0604020202020204" pitchFamily="34" charset="0"/>
              </a:rPr>
              <a:t>Mindful Communications</a:t>
            </a:r>
            <a:endParaRPr lang="en-GB" sz="1900" noProof="0"/>
          </a:p>
        </p:txBody>
      </p:sp>
      <p:sp>
        <p:nvSpPr>
          <p:cNvPr id="11" name="Text 6"/>
          <p:cNvSpPr/>
          <p:nvPr/>
        </p:nvSpPr>
        <p:spPr>
          <a:xfrm>
            <a:off x="1318379" y="4189656"/>
            <a:ext cx="7141964" cy="312539"/>
          </a:xfrm>
          <a:prstGeom prst="rect">
            <a:avLst/>
          </a:prstGeom>
          <a:noFill/>
          <a:ln/>
        </p:spPr>
        <p:txBody>
          <a:bodyPr wrap="none" lIns="0" tIns="0" rIns="0" bIns="0" rtlCol="0" anchor="t"/>
          <a:lstStyle/>
          <a:p>
            <a:pPr marL="0" indent="0" algn="l">
              <a:lnSpc>
                <a:spcPts val="2450"/>
              </a:lnSpc>
              <a:buNone/>
            </a:pPr>
            <a:r>
              <a:rPr lang="en-GB" sz="1500" noProof="0">
                <a:solidFill>
                  <a:srgbClr val="003865"/>
                </a:solidFill>
                <a:latin typeface="Arial" panose="020B0604020202020204" pitchFamily="34" charset="0"/>
                <a:ea typeface="Inter" pitchFamily="34" charset="-122"/>
                <a:cs typeface="Arial" panose="020B0604020202020204" pitchFamily="34" charset="0"/>
              </a:rPr>
              <a:t>Ensuring clarity, empathy, action-focus, and supportive tone.</a:t>
            </a:r>
            <a:endParaRPr lang="en-GB" sz="1500" noProof="0"/>
          </a:p>
        </p:txBody>
      </p:sp>
      <p:sp>
        <p:nvSpPr>
          <p:cNvPr id="12" name="Shape 7"/>
          <p:cNvSpPr/>
          <p:nvPr/>
        </p:nvSpPr>
        <p:spPr>
          <a:xfrm>
            <a:off x="683657" y="4917128"/>
            <a:ext cx="439460" cy="439460"/>
          </a:xfrm>
          <a:prstGeom prst="roundRect">
            <a:avLst>
              <a:gd name="adj" fmla="val 18670"/>
            </a:avLst>
          </a:prstGeom>
          <a:solidFill>
            <a:srgbClr val="4F5961"/>
          </a:solidFill>
          <a:ln w="7620">
            <a:solidFill>
              <a:srgbClr val="68727A"/>
            </a:solidFill>
            <a:prstDash val="solid"/>
          </a:ln>
        </p:spPr>
        <p:txBody>
          <a:bodyPr/>
          <a:lstStyle/>
          <a:p>
            <a:endParaRPr lang="en-GB" noProof="0"/>
          </a:p>
        </p:txBody>
      </p:sp>
      <p:pic>
        <p:nvPicPr>
          <p:cNvPr id="13" name="Image 3" descr="preencoded.png"/>
          <p:cNvPicPr>
            <a:picLocks noChangeAspect="1"/>
          </p:cNvPicPr>
          <p:nvPr/>
        </p:nvPicPr>
        <p:blipFill>
          <a:blip r:embed="rId6"/>
          <a:stretch>
            <a:fillRect/>
          </a:stretch>
        </p:blipFill>
        <p:spPr>
          <a:xfrm>
            <a:off x="756821" y="4953680"/>
            <a:ext cx="293013" cy="366236"/>
          </a:xfrm>
          <a:prstGeom prst="rect">
            <a:avLst/>
          </a:prstGeom>
        </p:spPr>
      </p:pic>
      <p:sp>
        <p:nvSpPr>
          <p:cNvPr id="14" name="Text 8"/>
          <p:cNvSpPr/>
          <p:nvPr/>
        </p:nvSpPr>
        <p:spPr>
          <a:xfrm>
            <a:off x="1318379" y="4917128"/>
            <a:ext cx="2441853" cy="305157"/>
          </a:xfrm>
          <a:prstGeom prst="rect">
            <a:avLst/>
          </a:prstGeom>
          <a:noFill/>
          <a:ln/>
        </p:spPr>
        <p:txBody>
          <a:bodyPr wrap="none" lIns="0" tIns="0" rIns="0" bIns="0" rtlCol="0" anchor="t"/>
          <a:lstStyle/>
          <a:p>
            <a:pPr marL="0" indent="0" algn="l">
              <a:lnSpc>
                <a:spcPts val="2400"/>
              </a:lnSpc>
              <a:buNone/>
            </a:pPr>
            <a:r>
              <a:rPr lang="en-GB" sz="1900" b="1" noProof="0">
                <a:solidFill>
                  <a:srgbClr val="003865"/>
                </a:solidFill>
                <a:latin typeface="Arial" panose="020B0604020202020204" pitchFamily="34" charset="0"/>
                <a:ea typeface="Inter Bold" pitchFamily="34" charset="-122"/>
                <a:cs typeface="Arial" panose="020B0604020202020204" pitchFamily="34" charset="0"/>
              </a:rPr>
              <a:t>Timely Delivery</a:t>
            </a:r>
            <a:endParaRPr lang="en-GB" sz="1900" noProof="0"/>
          </a:p>
        </p:txBody>
      </p:sp>
      <p:sp>
        <p:nvSpPr>
          <p:cNvPr id="15" name="Text 9"/>
          <p:cNvSpPr/>
          <p:nvPr/>
        </p:nvSpPr>
        <p:spPr>
          <a:xfrm>
            <a:off x="1318379" y="5339443"/>
            <a:ext cx="7141964" cy="312539"/>
          </a:xfrm>
          <a:prstGeom prst="rect">
            <a:avLst/>
          </a:prstGeom>
          <a:noFill/>
          <a:ln/>
        </p:spPr>
        <p:txBody>
          <a:bodyPr wrap="none" lIns="0" tIns="0" rIns="0" bIns="0" rtlCol="0" anchor="t"/>
          <a:lstStyle/>
          <a:p>
            <a:pPr marL="0" indent="0" algn="l">
              <a:lnSpc>
                <a:spcPts val="2450"/>
              </a:lnSpc>
              <a:buNone/>
            </a:pPr>
            <a:r>
              <a:rPr lang="en-GB" sz="1500" noProof="0">
                <a:solidFill>
                  <a:srgbClr val="003865"/>
                </a:solidFill>
                <a:latin typeface="Arial" panose="020B0604020202020204" pitchFamily="34" charset="0"/>
                <a:ea typeface="Inter" pitchFamily="34" charset="-122"/>
                <a:cs typeface="Arial" panose="020B0604020202020204" pitchFamily="34" charset="0"/>
              </a:rPr>
              <a:t>Careful consideration of timing, enabling access to support when needed.</a:t>
            </a:r>
            <a:endParaRPr lang="en-GB" sz="1500" noProof="0"/>
          </a:p>
        </p:txBody>
      </p:sp>
      <p:sp>
        <p:nvSpPr>
          <p:cNvPr id="16" name="Shape 10"/>
          <p:cNvSpPr/>
          <p:nvPr/>
        </p:nvSpPr>
        <p:spPr>
          <a:xfrm>
            <a:off x="683657" y="6066914"/>
            <a:ext cx="439460" cy="439460"/>
          </a:xfrm>
          <a:prstGeom prst="roundRect">
            <a:avLst>
              <a:gd name="adj" fmla="val 18670"/>
            </a:avLst>
          </a:prstGeom>
          <a:solidFill>
            <a:srgbClr val="0075B0"/>
          </a:solidFill>
          <a:ln w="7620">
            <a:solidFill>
              <a:srgbClr val="198EC9"/>
            </a:solidFill>
            <a:prstDash val="solid"/>
          </a:ln>
        </p:spPr>
        <p:txBody>
          <a:bodyPr/>
          <a:lstStyle/>
          <a:p>
            <a:endParaRPr lang="en-GB" noProof="0"/>
          </a:p>
        </p:txBody>
      </p:sp>
      <p:pic>
        <p:nvPicPr>
          <p:cNvPr id="17" name="Image 4" descr="preencoded.png"/>
          <p:cNvPicPr>
            <a:picLocks noChangeAspect="1"/>
          </p:cNvPicPr>
          <p:nvPr/>
        </p:nvPicPr>
        <p:blipFill>
          <a:blip r:embed="rId7"/>
          <a:stretch>
            <a:fillRect/>
          </a:stretch>
        </p:blipFill>
        <p:spPr>
          <a:xfrm>
            <a:off x="756821" y="6103467"/>
            <a:ext cx="293013" cy="366236"/>
          </a:xfrm>
          <a:prstGeom prst="rect">
            <a:avLst/>
          </a:prstGeom>
        </p:spPr>
      </p:pic>
      <p:sp>
        <p:nvSpPr>
          <p:cNvPr id="18" name="Text 11"/>
          <p:cNvSpPr/>
          <p:nvPr/>
        </p:nvSpPr>
        <p:spPr>
          <a:xfrm>
            <a:off x="1318379" y="6066914"/>
            <a:ext cx="2731056" cy="305157"/>
          </a:xfrm>
          <a:prstGeom prst="rect">
            <a:avLst/>
          </a:prstGeom>
          <a:noFill/>
          <a:ln/>
        </p:spPr>
        <p:txBody>
          <a:bodyPr wrap="none" lIns="0" tIns="0" rIns="0" bIns="0" rtlCol="0" anchor="t"/>
          <a:lstStyle/>
          <a:p>
            <a:pPr marL="0" indent="0" algn="l">
              <a:lnSpc>
                <a:spcPts val="2400"/>
              </a:lnSpc>
              <a:buNone/>
            </a:pPr>
            <a:r>
              <a:rPr lang="en-GB" sz="1900" b="1" noProof="0">
                <a:solidFill>
                  <a:srgbClr val="003865"/>
                </a:solidFill>
                <a:latin typeface="Arial" panose="020B0604020202020204" pitchFamily="34" charset="0"/>
                <a:ea typeface="Inter Bold" pitchFamily="34" charset="-122"/>
                <a:cs typeface="Arial" panose="020B0604020202020204" pitchFamily="34" charset="0"/>
              </a:rPr>
              <a:t>Inclusivity &amp; Reflection</a:t>
            </a:r>
            <a:endParaRPr lang="en-GB" sz="1900" noProof="0"/>
          </a:p>
        </p:txBody>
      </p:sp>
      <p:sp>
        <p:nvSpPr>
          <p:cNvPr id="19" name="Text 12"/>
          <p:cNvSpPr/>
          <p:nvPr/>
        </p:nvSpPr>
        <p:spPr>
          <a:xfrm>
            <a:off x="1318379" y="6489229"/>
            <a:ext cx="7141964" cy="625078"/>
          </a:xfrm>
          <a:prstGeom prst="rect">
            <a:avLst/>
          </a:prstGeom>
          <a:noFill/>
          <a:ln/>
        </p:spPr>
        <p:txBody>
          <a:bodyPr wrap="square" lIns="0" tIns="0" rIns="0" bIns="0" rtlCol="0" anchor="t"/>
          <a:lstStyle/>
          <a:p>
            <a:pPr marL="0" indent="0" algn="l">
              <a:lnSpc>
                <a:spcPts val="2450"/>
              </a:lnSpc>
              <a:buNone/>
            </a:pPr>
            <a:r>
              <a:rPr lang="en-GB" sz="1500" noProof="0">
                <a:solidFill>
                  <a:srgbClr val="003865"/>
                </a:solidFill>
                <a:latin typeface="Arial" panose="020B0604020202020204" pitchFamily="34" charset="0"/>
                <a:ea typeface="Inter" pitchFamily="34" charset="-122"/>
                <a:cs typeface="Arial" panose="020B0604020202020204" pitchFamily="34" charset="0"/>
              </a:rPr>
              <a:t>Addressing barriers to engagement and committing to continuous improvement.</a:t>
            </a:r>
            <a:endParaRPr lang="en-GB" sz="1500" noProof="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74370" y="531852"/>
            <a:ext cx="7795260" cy="1204198"/>
          </a:xfrm>
          <a:prstGeom prst="rect">
            <a:avLst/>
          </a:prstGeom>
          <a:noFill/>
          <a:ln/>
        </p:spPr>
        <p:txBody>
          <a:bodyPr wrap="square" lIns="0" tIns="0" rIns="0" bIns="0" rtlCol="0" anchor="t"/>
          <a:lstStyle/>
          <a:p>
            <a:pPr marL="0" indent="0" algn="l">
              <a:lnSpc>
                <a:spcPts val="4700"/>
              </a:lnSpc>
              <a:buNone/>
            </a:pPr>
            <a:r>
              <a:rPr lang="en-GB" sz="3750" b="1" noProof="0">
                <a:solidFill>
                  <a:srgbClr val="003865"/>
                </a:solidFill>
                <a:latin typeface="Arial" panose="020B0604020202020204" pitchFamily="34" charset="0"/>
                <a:ea typeface="Inter Bold" pitchFamily="34" charset="-122"/>
                <a:cs typeface="Arial" panose="020B0604020202020204" pitchFamily="34" charset="0"/>
              </a:rPr>
              <a:t>Practical Implementation Strategies</a:t>
            </a:r>
            <a:endParaRPr lang="en-GB" sz="3750" noProof="0"/>
          </a:p>
        </p:txBody>
      </p:sp>
      <p:pic>
        <p:nvPicPr>
          <p:cNvPr id="4" name="Image 1" descr="preencoded.png"/>
          <p:cNvPicPr>
            <a:picLocks noChangeAspect="1"/>
          </p:cNvPicPr>
          <p:nvPr/>
        </p:nvPicPr>
        <p:blipFill>
          <a:blip r:embed="rId4"/>
          <a:stretch>
            <a:fillRect/>
          </a:stretch>
        </p:blipFill>
        <p:spPr>
          <a:xfrm>
            <a:off x="674370" y="2025015"/>
            <a:ext cx="963335" cy="1418153"/>
          </a:xfrm>
          <a:prstGeom prst="rect">
            <a:avLst/>
          </a:prstGeom>
        </p:spPr>
      </p:pic>
      <p:sp>
        <p:nvSpPr>
          <p:cNvPr id="5" name="Text 1"/>
          <p:cNvSpPr/>
          <p:nvPr/>
        </p:nvSpPr>
        <p:spPr>
          <a:xfrm>
            <a:off x="1926669" y="2217658"/>
            <a:ext cx="3643670" cy="300990"/>
          </a:xfrm>
          <a:prstGeom prst="rect">
            <a:avLst/>
          </a:prstGeom>
          <a:noFill/>
          <a:ln/>
        </p:spPr>
        <p:txBody>
          <a:bodyPr wrap="none" lIns="0" tIns="0" rIns="0" bIns="0" rtlCol="0" anchor="t"/>
          <a:lstStyle/>
          <a:p>
            <a:pPr marL="0" indent="0" algn="l">
              <a:lnSpc>
                <a:spcPts val="235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Understanding Students Better</a:t>
            </a:r>
            <a:endParaRPr lang="en-GB" sz="1850" noProof="0"/>
          </a:p>
        </p:txBody>
      </p:sp>
      <p:sp>
        <p:nvSpPr>
          <p:cNvPr id="6" name="Text 2"/>
          <p:cNvSpPr/>
          <p:nvPr/>
        </p:nvSpPr>
        <p:spPr>
          <a:xfrm>
            <a:off x="1926669" y="2634258"/>
            <a:ext cx="6542961" cy="616268"/>
          </a:xfrm>
          <a:prstGeom prst="rect">
            <a:avLst/>
          </a:prstGeom>
          <a:noFill/>
          <a:ln/>
        </p:spPr>
        <p:txBody>
          <a:bodyPr wrap="square" lIns="0" tIns="0" rIns="0" bIns="0" rtlCol="0" anchor="t"/>
          <a:lstStyle/>
          <a:p>
            <a:pPr marL="0" indent="0" algn="l">
              <a:lnSpc>
                <a:spcPts val="2400"/>
              </a:lnSpc>
              <a:buNone/>
            </a:pPr>
            <a:r>
              <a:rPr lang="en-GB" sz="1500" noProof="0">
                <a:solidFill>
                  <a:srgbClr val="003865"/>
                </a:solidFill>
                <a:latin typeface="Arial" panose="020B0604020202020204" pitchFamily="34" charset="0"/>
                <a:ea typeface="Inter" pitchFamily="34" charset="-122"/>
                <a:cs typeface="Arial" panose="020B0604020202020204" pitchFamily="34" charset="0"/>
              </a:rPr>
              <a:t>Create supportive environments by knowing student needs and concerns.</a:t>
            </a:r>
            <a:endParaRPr lang="en-GB" sz="1500" noProof="0"/>
          </a:p>
        </p:txBody>
      </p:sp>
      <p:pic>
        <p:nvPicPr>
          <p:cNvPr id="7" name="Image 2" descr="preencoded.png"/>
          <p:cNvPicPr>
            <a:picLocks noChangeAspect="1"/>
          </p:cNvPicPr>
          <p:nvPr/>
        </p:nvPicPr>
        <p:blipFill>
          <a:blip r:embed="rId5"/>
          <a:stretch>
            <a:fillRect/>
          </a:stretch>
        </p:blipFill>
        <p:spPr>
          <a:xfrm>
            <a:off x="674370" y="3443168"/>
            <a:ext cx="963335" cy="1418153"/>
          </a:xfrm>
          <a:prstGeom prst="rect">
            <a:avLst/>
          </a:prstGeom>
        </p:spPr>
      </p:pic>
      <p:sp>
        <p:nvSpPr>
          <p:cNvPr id="8" name="Text 3"/>
          <p:cNvSpPr/>
          <p:nvPr/>
        </p:nvSpPr>
        <p:spPr>
          <a:xfrm>
            <a:off x="1926669" y="3635812"/>
            <a:ext cx="4271367" cy="300990"/>
          </a:xfrm>
          <a:prstGeom prst="rect">
            <a:avLst/>
          </a:prstGeom>
          <a:noFill/>
          <a:ln/>
        </p:spPr>
        <p:txBody>
          <a:bodyPr wrap="none" lIns="0" tIns="0" rIns="0" bIns="0" rtlCol="0" anchor="t"/>
          <a:lstStyle/>
          <a:p>
            <a:pPr marL="0" indent="0" algn="l">
              <a:lnSpc>
                <a:spcPts val="235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Paying Attention to Emotional States</a:t>
            </a:r>
            <a:endParaRPr lang="en-GB" sz="1850" noProof="0"/>
          </a:p>
        </p:txBody>
      </p:sp>
      <p:sp>
        <p:nvSpPr>
          <p:cNvPr id="9" name="Text 4"/>
          <p:cNvSpPr/>
          <p:nvPr/>
        </p:nvSpPr>
        <p:spPr>
          <a:xfrm>
            <a:off x="1926669" y="4052411"/>
            <a:ext cx="6542961" cy="616268"/>
          </a:xfrm>
          <a:prstGeom prst="rect">
            <a:avLst/>
          </a:prstGeom>
          <a:noFill/>
          <a:ln/>
        </p:spPr>
        <p:txBody>
          <a:bodyPr wrap="square" lIns="0" tIns="0" rIns="0" bIns="0" rtlCol="0" anchor="t"/>
          <a:lstStyle/>
          <a:p>
            <a:pPr marL="0" indent="0" algn="l">
              <a:lnSpc>
                <a:spcPts val="2400"/>
              </a:lnSpc>
              <a:buNone/>
            </a:pPr>
            <a:r>
              <a:rPr lang="en-GB" sz="1500" noProof="0">
                <a:solidFill>
                  <a:srgbClr val="003865"/>
                </a:solidFill>
                <a:latin typeface="Arial" panose="020B0604020202020204" pitchFamily="34" charset="0"/>
                <a:ea typeface="Inter" pitchFamily="34" charset="-122"/>
                <a:cs typeface="Arial" panose="020B0604020202020204" pitchFamily="34" charset="0"/>
              </a:rPr>
              <a:t>Notice changes in attitude to identify when additional support is needed.</a:t>
            </a:r>
            <a:endParaRPr lang="en-GB" sz="1500" noProof="0"/>
          </a:p>
        </p:txBody>
      </p:sp>
      <p:pic>
        <p:nvPicPr>
          <p:cNvPr id="10" name="Image 3" descr="preencoded.png"/>
          <p:cNvPicPr>
            <a:picLocks noChangeAspect="1"/>
          </p:cNvPicPr>
          <p:nvPr/>
        </p:nvPicPr>
        <p:blipFill>
          <a:blip r:embed="rId6"/>
          <a:stretch>
            <a:fillRect/>
          </a:stretch>
        </p:blipFill>
        <p:spPr>
          <a:xfrm>
            <a:off x="674370" y="4861322"/>
            <a:ext cx="963335" cy="1418153"/>
          </a:xfrm>
          <a:prstGeom prst="rect">
            <a:avLst/>
          </a:prstGeom>
        </p:spPr>
      </p:pic>
      <p:sp>
        <p:nvSpPr>
          <p:cNvPr id="11" name="Text 5"/>
          <p:cNvSpPr/>
          <p:nvPr/>
        </p:nvSpPr>
        <p:spPr>
          <a:xfrm>
            <a:off x="1926669" y="5053965"/>
            <a:ext cx="4098608" cy="300990"/>
          </a:xfrm>
          <a:prstGeom prst="rect">
            <a:avLst/>
          </a:prstGeom>
          <a:noFill/>
          <a:ln/>
        </p:spPr>
        <p:txBody>
          <a:bodyPr wrap="none" lIns="0" tIns="0" rIns="0" bIns="0" rtlCol="0" anchor="t"/>
          <a:lstStyle/>
          <a:p>
            <a:pPr marL="0" indent="0" algn="l">
              <a:lnSpc>
                <a:spcPts val="235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Encouraging Open Communication</a:t>
            </a:r>
            <a:endParaRPr lang="en-GB" sz="1850" noProof="0"/>
          </a:p>
        </p:txBody>
      </p:sp>
      <p:sp>
        <p:nvSpPr>
          <p:cNvPr id="12" name="Text 6"/>
          <p:cNvSpPr/>
          <p:nvPr/>
        </p:nvSpPr>
        <p:spPr>
          <a:xfrm>
            <a:off x="1926669" y="5470565"/>
            <a:ext cx="6542961" cy="616268"/>
          </a:xfrm>
          <a:prstGeom prst="rect">
            <a:avLst/>
          </a:prstGeom>
          <a:noFill/>
          <a:ln/>
        </p:spPr>
        <p:txBody>
          <a:bodyPr wrap="square" lIns="0" tIns="0" rIns="0" bIns="0" rtlCol="0" anchor="t"/>
          <a:lstStyle/>
          <a:p>
            <a:pPr marL="0" indent="0" algn="l">
              <a:lnSpc>
                <a:spcPts val="2400"/>
              </a:lnSpc>
              <a:buNone/>
            </a:pPr>
            <a:r>
              <a:rPr lang="en-GB" sz="1500" noProof="0">
                <a:solidFill>
                  <a:srgbClr val="003865"/>
                </a:solidFill>
                <a:latin typeface="Arial" panose="020B0604020202020204" pitchFamily="34" charset="0"/>
                <a:ea typeface="Inter" pitchFamily="34" charset="-122"/>
                <a:cs typeface="Arial" panose="020B0604020202020204" pitchFamily="34" charset="0"/>
              </a:rPr>
              <a:t>Promote transparency that allows for feedback and constructive criticism.</a:t>
            </a:r>
            <a:endParaRPr lang="en-GB" sz="1500" noProof="0"/>
          </a:p>
        </p:txBody>
      </p:sp>
      <p:pic>
        <p:nvPicPr>
          <p:cNvPr id="13" name="Image 4" descr="preencoded.png"/>
          <p:cNvPicPr>
            <a:picLocks noChangeAspect="1"/>
          </p:cNvPicPr>
          <p:nvPr/>
        </p:nvPicPr>
        <p:blipFill>
          <a:blip r:embed="rId7"/>
          <a:stretch>
            <a:fillRect/>
          </a:stretch>
        </p:blipFill>
        <p:spPr>
          <a:xfrm>
            <a:off x="674370" y="6279475"/>
            <a:ext cx="963335" cy="1418153"/>
          </a:xfrm>
          <a:prstGeom prst="rect">
            <a:avLst/>
          </a:prstGeom>
        </p:spPr>
      </p:pic>
      <p:sp>
        <p:nvSpPr>
          <p:cNvPr id="14" name="Text 7"/>
          <p:cNvSpPr/>
          <p:nvPr/>
        </p:nvSpPr>
        <p:spPr>
          <a:xfrm>
            <a:off x="1926669" y="6472118"/>
            <a:ext cx="2408515" cy="300990"/>
          </a:xfrm>
          <a:prstGeom prst="rect">
            <a:avLst/>
          </a:prstGeom>
          <a:noFill/>
          <a:ln/>
        </p:spPr>
        <p:txBody>
          <a:bodyPr wrap="none" lIns="0" tIns="0" rIns="0" bIns="0" rtlCol="0" anchor="t"/>
          <a:lstStyle/>
          <a:p>
            <a:pPr marL="0" indent="0" algn="l">
              <a:lnSpc>
                <a:spcPts val="2350"/>
              </a:lnSpc>
              <a:buNone/>
            </a:pPr>
            <a:r>
              <a:rPr lang="en-GB" sz="1850" b="1" noProof="0">
                <a:solidFill>
                  <a:srgbClr val="003865"/>
                </a:solidFill>
                <a:latin typeface="Arial" panose="020B0604020202020204" pitchFamily="34" charset="0"/>
                <a:ea typeface="Inter Bold" pitchFamily="34" charset="-122"/>
                <a:cs typeface="Arial" panose="020B0604020202020204" pitchFamily="34" charset="0"/>
              </a:rPr>
              <a:t>Eliminating Barriers</a:t>
            </a:r>
            <a:endParaRPr lang="en-GB" sz="1850" noProof="0"/>
          </a:p>
        </p:txBody>
      </p:sp>
      <p:sp>
        <p:nvSpPr>
          <p:cNvPr id="15" name="Text 8"/>
          <p:cNvSpPr/>
          <p:nvPr/>
        </p:nvSpPr>
        <p:spPr>
          <a:xfrm>
            <a:off x="1926669" y="6888718"/>
            <a:ext cx="6542961" cy="616268"/>
          </a:xfrm>
          <a:prstGeom prst="rect">
            <a:avLst/>
          </a:prstGeom>
          <a:noFill/>
          <a:ln/>
        </p:spPr>
        <p:txBody>
          <a:bodyPr wrap="square" lIns="0" tIns="0" rIns="0" bIns="0" rtlCol="0" anchor="t"/>
          <a:lstStyle/>
          <a:p>
            <a:pPr marL="0" indent="0" algn="l">
              <a:lnSpc>
                <a:spcPts val="2400"/>
              </a:lnSpc>
              <a:buNone/>
            </a:pPr>
            <a:r>
              <a:rPr lang="en-GB" sz="1500" noProof="0">
                <a:solidFill>
                  <a:srgbClr val="003865"/>
                </a:solidFill>
                <a:latin typeface="Arial" panose="020B0604020202020204" pitchFamily="34" charset="0"/>
                <a:ea typeface="Inter" pitchFamily="34" charset="-122"/>
                <a:cs typeface="Arial" panose="020B0604020202020204" pitchFamily="34" charset="0"/>
              </a:rPr>
              <a:t>Reduce boundaries between administration and students for better collaboration.</a:t>
            </a:r>
            <a:endParaRPr lang="en-GB" sz="1500" noProof="0"/>
          </a:p>
        </p:txBody>
      </p:sp>
      <p:sp>
        <p:nvSpPr>
          <p:cNvPr id="16" name="Text 8">
            <a:extLst>
              <a:ext uri="{FF2B5EF4-FFF2-40B4-BE49-F238E27FC236}">
                <a16:creationId xmlns:a16="http://schemas.microsoft.com/office/drawing/2014/main" id="{25DC2BBF-0B46-BB1E-11A4-9B40E8F1B59A}"/>
              </a:ext>
            </a:extLst>
          </p:cNvPr>
          <p:cNvSpPr/>
          <p:nvPr/>
        </p:nvSpPr>
        <p:spPr>
          <a:xfrm>
            <a:off x="3366070" y="7574993"/>
            <a:ext cx="3664158" cy="616268"/>
          </a:xfrm>
          <a:prstGeom prst="rect">
            <a:avLst/>
          </a:prstGeom>
          <a:noFill/>
          <a:ln/>
        </p:spPr>
        <p:txBody>
          <a:bodyPr wrap="square" lIns="0" tIns="0" rIns="0" bIns="0" rtlCol="0" anchor="t"/>
          <a:lstStyle/>
          <a:p>
            <a:pPr marL="0" indent="0" algn="l">
              <a:lnSpc>
                <a:spcPts val="2400"/>
              </a:lnSpc>
              <a:buNone/>
            </a:pPr>
            <a:r>
              <a:rPr lang="en-GB" sz="1500" noProof="0">
                <a:solidFill>
                  <a:srgbClr val="003865"/>
                </a:solidFill>
                <a:latin typeface="Arial" panose="020B0604020202020204" pitchFamily="34" charset="0"/>
                <a:ea typeface="Inter" pitchFamily="34" charset="-122"/>
              </a:rPr>
              <a:t>We have a duty of care to all our students.</a:t>
            </a:r>
            <a:endParaRPr lang="en-GB" sz="1500" b="1" noProof="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28600" y="601027"/>
            <a:ext cx="7024449" cy="1118235"/>
          </a:xfrm>
          <a:prstGeom prst="rect">
            <a:avLst/>
          </a:prstGeom>
          <a:noFill/>
          <a:ln/>
        </p:spPr>
        <p:txBody>
          <a:bodyPr wrap="square" lIns="0" tIns="0" rIns="0" bIns="0" rtlCol="0" anchor="t"/>
          <a:lstStyle/>
          <a:p>
            <a:pPr marL="0" indent="0" algn="l">
              <a:lnSpc>
                <a:spcPts val="4400"/>
              </a:lnSpc>
              <a:buNone/>
            </a:pPr>
            <a:r>
              <a:rPr lang="en-GB" sz="3500" b="1" noProof="0">
                <a:solidFill>
                  <a:srgbClr val="003865"/>
                </a:solidFill>
                <a:latin typeface="Arial" panose="020B0604020202020204" pitchFamily="34" charset="0"/>
                <a:ea typeface="Inter Bold" pitchFamily="34" charset="-122"/>
                <a:cs typeface="Arial" panose="020B0604020202020204" pitchFamily="34" charset="0"/>
              </a:rPr>
              <a:t>Communication Considerations</a:t>
            </a:r>
            <a:endParaRPr lang="en-GB" sz="3500" noProof="0"/>
          </a:p>
        </p:txBody>
      </p:sp>
      <p:sp>
        <p:nvSpPr>
          <p:cNvPr id="4" name="Shape 1"/>
          <p:cNvSpPr/>
          <p:nvPr/>
        </p:nvSpPr>
        <p:spPr>
          <a:xfrm>
            <a:off x="228599" y="1936195"/>
            <a:ext cx="13964756" cy="1332071"/>
          </a:xfrm>
          <a:prstGeom prst="roundRect">
            <a:avLst>
              <a:gd name="adj" fmla="val 5641"/>
            </a:avLst>
          </a:prstGeom>
          <a:solidFill>
            <a:srgbClr val="013560"/>
          </a:solidFill>
          <a:ln w="7620">
            <a:solidFill>
              <a:srgbClr val="1A4E79"/>
            </a:solidFill>
            <a:prstDash val="solid"/>
          </a:ln>
        </p:spPr>
        <p:txBody>
          <a:bodyPr/>
          <a:lstStyle/>
          <a:p>
            <a:endParaRPr lang="en-GB" noProof="0"/>
          </a:p>
        </p:txBody>
      </p:sp>
      <p:sp>
        <p:nvSpPr>
          <p:cNvPr id="5" name="Text 2"/>
          <p:cNvSpPr/>
          <p:nvPr/>
        </p:nvSpPr>
        <p:spPr>
          <a:xfrm>
            <a:off x="437045" y="2074305"/>
            <a:ext cx="3351371" cy="279440"/>
          </a:xfrm>
          <a:prstGeom prst="rect">
            <a:avLst/>
          </a:prstGeom>
          <a:noFill/>
          <a:ln/>
        </p:spPr>
        <p:txBody>
          <a:bodyPr wrap="none" lIns="0" tIns="0" rIns="0" bIns="0" rtlCol="0" anchor="t"/>
          <a:lstStyle/>
          <a:p>
            <a:pPr marL="0" indent="0" algn="l">
              <a:lnSpc>
                <a:spcPts val="2200"/>
              </a:lnSpc>
              <a:buNone/>
            </a:pPr>
            <a:r>
              <a:rPr lang="en-GB" sz="1750" b="1" noProof="0">
                <a:solidFill>
                  <a:srgbClr val="FFFFFF"/>
                </a:solidFill>
                <a:latin typeface="Arial" panose="020B0604020202020204" pitchFamily="34" charset="0"/>
                <a:ea typeface="Inter Bold" pitchFamily="34" charset="-122"/>
                <a:cs typeface="Arial" panose="020B0604020202020204" pitchFamily="34" charset="0"/>
              </a:rPr>
              <a:t>Acknowledge Tone Limitations</a:t>
            </a:r>
            <a:endParaRPr lang="en-GB" sz="1750" noProof="0"/>
          </a:p>
        </p:txBody>
      </p:sp>
      <p:sp>
        <p:nvSpPr>
          <p:cNvPr id="6" name="Text 3"/>
          <p:cNvSpPr/>
          <p:nvPr/>
        </p:nvSpPr>
        <p:spPr>
          <a:xfrm>
            <a:off x="437045" y="2461020"/>
            <a:ext cx="13638184" cy="572453"/>
          </a:xfrm>
          <a:prstGeom prst="rect">
            <a:avLst/>
          </a:prstGeom>
          <a:noFill/>
          <a:ln/>
        </p:spPr>
        <p:txBody>
          <a:bodyPr wrap="square" lIns="0" tIns="0" rIns="0" bIns="0" rtlCol="0" anchor="t"/>
          <a:lstStyle/>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Explicitly recognise that tone can be difficult to discern in emails and text communications. </a:t>
            </a:r>
          </a:p>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The default communications from </a:t>
            </a:r>
            <a:r>
              <a:rPr lang="en-GB" sz="1400" noProof="0" err="1">
                <a:solidFill>
                  <a:srgbClr val="FFFFFF"/>
                </a:solidFill>
                <a:latin typeface="Arial" panose="020B0604020202020204" pitchFamily="34" charset="0"/>
                <a:ea typeface="Inter" pitchFamily="34" charset="-122"/>
                <a:cs typeface="Arial" panose="020B0604020202020204" pitchFamily="34" charset="0"/>
              </a:rPr>
              <a:t>MyCampus</a:t>
            </a:r>
            <a:r>
              <a:rPr lang="en-GB" sz="1400" noProof="0">
                <a:solidFill>
                  <a:srgbClr val="FFFFFF"/>
                </a:solidFill>
                <a:latin typeface="Arial" panose="020B0604020202020204" pitchFamily="34" charset="0"/>
                <a:ea typeface="Inter" pitchFamily="34" charset="-122"/>
                <a:cs typeface="Arial" panose="020B0604020202020204" pitchFamily="34" charset="0"/>
              </a:rPr>
              <a:t> can be confusing and do not offer support.</a:t>
            </a:r>
            <a:endParaRPr lang="en-GB" sz="1400" b="1" noProof="0"/>
          </a:p>
        </p:txBody>
      </p:sp>
      <p:sp>
        <p:nvSpPr>
          <p:cNvPr id="7" name="Shape 4"/>
          <p:cNvSpPr/>
          <p:nvPr/>
        </p:nvSpPr>
        <p:spPr>
          <a:xfrm>
            <a:off x="228597" y="3391815"/>
            <a:ext cx="13964756" cy="1422931"/>
          </a:xfrm>
          <a:prstGeom prst="roundRect">
            <a:avLst>
              <a:gd name="adj" fmla="val 5641"/>
            </a:avLst>
          </a:prstGeom>
          <a:solidFill>
            <a:srgbClr val="BE4D00"/>
          </a:solidFill>
          <a:ln w="7620">
            <a:solidFill>
              <a:srgbClr val="D76619"/>
            </a:solidFill>
            <a:prstDash val="solid"/>
          </a:ln>
        </p:spPr>
        <p:txBody>
          <a:bodyPr/>
          <a:lstStyle/>
          <a:p>
            <a:endParaRPr lang="en-GB" noProof="0"/>
          </a:p>
        </p:txBody>
      </p:sp>
      <p:sp>
        <p:nvSpPr>
          <p:cNvPr id="8" name="Text 5"/>
          <p:cNvSpPr/>
          <p:nvPr/>
        </p:nvSpPr>
        <p:spPr>
          <a:xfrm>
            <a:off x="421415" y="3473450"/>
            <a:ext cx="2236470" cy="279440"/>
          </a:xfrm>
          <a:prstGeom prst="rect">
            <a:avLst/>
          </a:prstGeom>
          <a:noFill/>
          <a:ln/>
        </p:spPr>
        <p:txBody>
          <a:bodyPr wrap="none" lIns="0" tIns="0" rIns="0" bIns="0" rtlCol="0" anchor="t"/>
          <a:lstStyle/>
          <a:p>
            <a:pPr marL="0" indent="0" algn="l">
              <a:lnSpc>
                <a:spcPts val="2200"/>
              </a:lnSpc>
              <a:buNone/>
            </a:pPr>
            <a:r>
              <a:rPr lang="en-GB" sz="1750" b="1" noProof="0">
                <a:solidFill>
                  <a:srgbClr val="FFFFFF"/>
                </a:solidFill>
                <a:latin typeface="Arial" panose="020B0604020202020204" pitchFamily="34" charset="0"/>
                <a:ea typeface="Inter Bold" pitchFamily="34" charset="-122"/>
                <a:cs typeface="Arial" panose="020B0604020202020204" pitchFamily="34" charset="0"/>
              </a:rPr>
              <a:t>Example:</a:t>
            </a:r>
            <a:endParaRPr lang="en-GB" sz="1750" noProof="0"/>
          </a:p>
        </p:txBody>
      </p:sp>
      <p:sp>
        <p:nvSpPr>
          <p:cNvPr id="9" name="Text 6"/>
          <p:cNvSpPr/>
          <p:nvPr/>
        </p:nvSpPr>
        <p:spPr>
          <a:xfrm>
            <a:off x="421415" y="3792107"/>
            <a:ext cx="13638184" cy="964960"/>
          </a:xfrm>
          <a:prstGeom prst="rect">
            <a:avLst/>
          </a:prstGeom>
          <a:noFill/>
          <a:ln/>
        </p:spPr>
        <p:txBody>
          <a:bodyPr wrap="square" lIns="0" tIns="0" rIns="0" bIns="0" rtlCol="0" anchor="t"/>
          <a:lstStyle/>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Re: MODULE EC2501 RESULT: FAIL</a:t>
            </a:r>
          </a:p>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Your mark of CR is a fail. This course must be passed to progress to year 3. You must register for the August resit examination by 30 June. Failure to pass the resit will result in termination of your studies.</a:t>
            </a:r>
            <a:endParaRPr lang="en-GB" sz="1400" noProof="0"/>
          </a:p>
        </p:txBody>
      </p:sp>
      <p:sp>
        <p:nvSpPr>
          <p:cNvPr id="10" name="Shape 7"/>
          <p:cNvSpPr/>
          <p:nvPr/>
        </p:nvSpPr>
        <p:spPr>
          <a:xfrm>
            <a:off x="228597" y="4973660"/>
            <a:ext cx="13986755" cy="2588664"/>
          </a:xfrm>
          <a:prstGeom prst="roundRect">
            <a:avLst>
              <a:gd name="adj" fmla="val 7185"/>
            </a:avLst>
          </a:prstGeom>
          <a:solidFill>
            <a:srgbClr val="4F5961"/>
          </a:solidFill>
          <a:ln w="7620">
            <a:solidFill>
              <a:srgbClr val="68727A"/>
            </a:solidFill>
            <a:prstDash val="solid"/>
          </a:ln>
        </p:spPr>
        <p:txBody>
          <a:bodyPr/>
          <a:lstStyle/>
          <a:p>
            <a:endParaRPr lang="en-GB" noProof="0"/>
          </a:p>
        </p:txBody>
      </p:sp>
      <p:pic>
        <p:nvPicPr>
          <p:cNvPr id="16" name="Image 1" descr="preencoded.png"/>
          <p:cNvPicPr>
            <a:picLocks noChangeAspect="1"/>
          </p:cNvPicPr>
          <p:nvPr/>
        </p:nvPicPr>
        <p:blipFill>
          <a:blip r:embed="rId3"/>
          <a:stretch>
            <a:fillRect/>
          </a:stretch>
        </p:blipFill>
        <p:spPr>
          <a:xfrm>
            <a:off x="13365480" y="228600"/>
            <a:ext cx="1036320" cy="453390"/>
          </a:xfrm>
          <a:prstGeom prst="rect">
            <a:avLst/>
          </a:prstGeom>
        </p:spPr>
      </p:pic>
      <p:sp>
        <p:nvSpPr>
          <p:cNvPr id="18" name="Text 6">
            <a:extLst>
              <a:ext uri="{FF2B5EF4-FFF2-40B4-BE49-F238E27FC236}">
                <a16:creationId xmlns:a16="http://schemas.microsoft.com/office/drawing/2014/main" id="{962730D9-F909-0264-6288-A39373C42CC8}"/>
              </a:ext>
            </a:extLst>
          </p:cNvPr>
          <p:cNvSpPr/>
          <p:nvPr/>
        </p:nvSpPr>
        <p:spPr>
          <a:xfrm>
            <a:off x="421415" y="5139496"/>
            <a:ext cx="13579121" cy="964960"/>
          </a:xfrm>
          <a:prstGeom prst="rect">
            <a:avLst/>
          </a:prstGeom>
          <a:noFill/>
          <a:ln/>
        </p:spPr>
        <p:txBody>
          <a:bodyPr wrap="square" lIns="0" tIns="0" rIns="0" bIns="0" rtlCol="0" anchor="t"/>
          <a:lstStyle/>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Re: MODULE EC2501 RESULT AND NEXT STEPS</a:t>
            </a:r>
          </a:p>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I'm writing regarding your mark of CR for EC2501. While this does mean a resit will be necessary, I want to offer specific guidance to help you succeed in August.</a:t>
            </a:r>
          </a:p>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Looking at your exam paper, I can see you demonstrated good understanding in sections 1 and 3. The areas needing development are the mathematical models in section 2 and application of theory in section 4.</a:t>
            </a:r>
          </a:p>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Additionally, our </a:t>
            </a:r>
            <a:r>
              <a:rPr lang="en-GB" sz="1400" u="sng" noProof="0">
                <a:solidFill>
                  <a:srgbClr val="FFFFFF"/>
                </a:solidFill>
                <a:latin typeface="Arial" panose="020B0604020202020204" pitchFamily="34" charset="0"/>
                <a:ea typeface="Inter" pitchFamily="34" charset="-122"/>
                <a:cs typeface="Arial" panose="020B0604020202020204" pitchFamily="34" charset="0"/>
              </a:rPr>
              <a:t>Student Learning Development </a:t>
            </a:r>
            <a:r>
              <a:rPr lang="en-GB" sz="1400" noProof="0">
                <a:solidFill>
                  <a:srgbClr val="FFFFFF"/>
                </a:solidFill>
                <a:latin typeface="Arial" panose="020B0604020202020204" pitchFamily="34" charset="0"/>
                <a:ea typeface="Inter" pitchFamily="34" charset="-122"/>
                <a:cs typeface="Arial" panose="020B0604020202020204" pitchFamily="34" charset="0"/>
              </a:rPr>
              <a:t>team can help with exam techniques and managing exam anxiety if that would be helpful. Our </a:t>
            </a:r>
            <a:r>
              <a:rPr lang="en-GB" sz="1400" u="sng" noProof="0">
                <a:solidFill>
                  <a:srgbClr val="FFFFFF"/>
                </a:solidFill>
                <a:latin typeface="Arial" panose="020B0604020202020204" pitchFamily="34" charset="0"/>
                <a:ea typeface="Inter" pitchFamily="34" charset="-122"/>
                <a:cs typeface="Arial" panose="020B0604020202020204" pitchFamily="34" charset="0"/>
              </a:rPr>
              <a:t>Wellbeing and Inclusion team </a:t>
            </a:r>
            <a:r>
              <a:rPr lang="en-GB" sz="1400" noProof="0">
                <a:solidFill>
                  <a:srgbClr val="FFFFFF"/>
                </a:solidFill>
                <a:latin typeface="Arial" panose="020B0604020202020204" pitchFamily="34" charset="0"/>
                <a:ea typeface="Inter" pitchFamily="34" charset="-122"/>
                <a:cs typeface="Arial" panose="020B0604020202020204" pitchFamily="34" charset="0"/>
              </a:rPr>
              <a:t>can likewise help with managing preparation for your exams. </a:t>
            </a:r>
          </a:p>
          <a:p>
            <a:pPr marL="0" indent="0" algn="l">
              <a:lnSpc>
                <a:spcPts val="2250"/>
              </a:lnSpc>
              <a:buNone/>
            </a:pPr>
            <a:r>
              <a:rPr lang="en-GB" sz="1400" noProof="0">
                <a:solidFill>
                  <a:srgbClr val="FFFFFF"/>
                </a:solidFill>
                <a:latin typeface="Arial" panose="020B0604020202020204" pitchFamily="34" charset="0"/>
                <a:ea typeface="Inter" pitchFamily="34" charset="-122"/>
                <a:cs typeface="Arial" panose="020B0604020202020204" pitchFamily="34" charset="0"/>
              </a:rPr>
              <a:t>Please register for the August resit by 30 June using the student portal. If you wish to speak further, we can be contacted at XXX. Keep in mind we are here to help you. </a:t>
            </a:r>
            <a:endParaRPr lang="en-GB" sz="1400" noProof="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33199"/>
            <a:ext cx="5670590" cy="708779"/>
          </a:xfrm>
          <a:prstGeom prst="rect">
            <a:avLst/>
          </a:prstGeom>
          <a:noFill/>
          <a:ln/>
        </p:spPr>
        <p:txBody>
          <a:bodyPr wrap="none" lIns="0" tIns="0" rIns="0" bIns="0" rtlCol="0" anchor="t"/>
          <a:lstStyle/>
          <a:p>
            <a:pPr marL="0" indent="0" algn="l">
              <a:lnSpc>
                <a:spcPts val="5550"/>
              </a:lnSpc>
              <a:buNone/>
            </a:pPr>
            <a:r>
              <a:rPr lang="en-GB" sz="4450" b="1" noProof="0">
                <a:solidFill>
                  <a:srgbClr val="003865"/>
                </a:solidFill>
                <a:latin typeface="Arial" panose="020B0604020202020204" pitchFamily="34" charset="0"/>
                <a:ea typeface="Inter Bold" pitchFamily="34" charset="-122"/>
                <a:cs typeface="Arial" panose="020B0604020202020204" pitchFamily="34" charset="0"/>
              </a:rPr>
              <a:t>Practical Next Steps</a:t>
            </a:r>
            <a:endParaRPr lang="en-GB" sz="4450" noProof="0"/>
          </a:p>
        </p:txBody>
      </p:sp>
      <p:sp>
        <p:nvSpPr>
          <p:cNvPr id="3" name="Shape 1"/>
          <p:cNvSpPr/>
          <p:nvPr/>
        </p:nvSpPr>
        <p:spPr>
          <a:xfrm>
            <a:off x="793790" y="1995607"/>
            <a:ext cx="170021" cy="853321"/>
          </a:xfrm>
          <a:prstGeom prst="roundRect">
            <a:avLst>
              <a:gd name="adj" fmla="val 56033"/>
            </a:avLst>
          </a:prstGeom>
          <a:solidFill>
            <a:srgbClr val="013560"/>
          </a:solidFill>
          <a:ln w="7620">
            <a:solidFill>
              <a:srgbClr val="1A4E79"/>
            </a:solidFill>
            <a:prstDash val="solid"/>
          </a:ln>
        </p:spPr>
        <p:txBody>
          <a:bodyPr/>
          <a:lstStyle/>
          <a:p>
            <a:endParaRPr lang="en-GB" noProof="0"/>
          </a:p>
        </p:txBody>
      </p:sp>
      <p:sp>
        <p:nvSpPr>
          <p:cNvPr id="4" name="Text 2"/>
          <p:cNvSpPr/>
          <p:nvPr/>
        </p:nvSpPr>
        <p:spPr>
          <a:xfrm>
            <a:off x="1303973" y="1995607"/>
            <a:ext cx="4343162"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Audit Existing Communications</a:t>
            </a:r>
            <a:endParaRPr lang="en-GB" sz="2200" noProof="0"/>
          </a:p>
        </p:txBody>
      </p:sp>
      <p:sp>
        <p:nvSpPr>
          <p:cNvPr id="5" name="Text 3"/>
          <p:cNvSpPr/>
          <p:nvPr/>
        </p:nvSpPr>
        <p:spPr>
          <a:xfrm>
            <a:off x="1303973" y="2486025"/>
            <a:ext cx="11833027" cy="362903"/>
          </a:xfrm>
          <a:prstGeom prst="rect">
            <a:avLst/>
          </a:prstGeom>
          <a:noFill/>
          <a:ln/>
        </p:spPr>
        <p:txBody>
          <a:bodyPr wrap="non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Review with diverse stakeholder groups to identify areas for improvement. Create an open, inclusive and friendly tone to communications.</a:t>
            </a:r>
            <a:endParaRPr lang="en-GB" sz="1750" noProof="0"/>
          </a:p>
        </p:txBody>
      </p:sp>
      <p:sp>
        <p:nvSpPr>
          <p:cNvPr id="6" name="Shape 4"/>
          <p:cNvSpPr/>
          <p:nvPr/>
        </p:nvSpPr>
        <p:spPr>
          <a:xfrm>
            <a:off x="1133951" y="3075742"/>
            <a:ext cx="170021" cy="853321"/>
          </a:xfrm>
          <a:prstGeom prst="roundRect">
            <a:avLst>
              <a:gd name="adj" fmla="val 56033"/>
            </a:avLst>
          </a:prstGeom>
          <a:solidFill>
            <a:srgbClr val="BE4D00"/>
          </a:solidFill>
          <a:ln w="7620">
            <a:solidFill>
              <a:srgbClr val="D76619"/>
            </a:solidFill>
            <a:prstDash val="solid"/>
          </a:ln>
        </p:spPr>
        <p:txBody>
          <a:bodyPr/>
          <a:lstStyle/>
          <a:p>
            <a:endParaRPr lang="en-GB" noProof="0"/>
          </a:p>
        </p:txBody>
      </p:sp>
      <p:sp>
        <p:nvSpPr>
          <p:cNvPr id="7" name="Text 5"/>
          <p:cNvSpPr/>
          <p:nvPr/>
        </p:nvSpPr>
        <p:spPr>
          <a:xfrm>
            <a:off x="1644134" y="3075742"/>
            <a:ext cx="3302198"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Identify Pressure Points</a:t>
            </a:r>
            <a:endParaRPr lang="en-GB" sz="2200" noProof="0"/>
          </a:p>
        </p:txBody>
      </p:sp>
      <p:sp>
        <p:nvSpPr>
          <p:cNvPr id="8" name="Text 6"/>
          <p:cNvSpPr/>
          <p:nvPr/>
        </p:nvSpPr>
        <p:spPr>
          <a:xfrm>
            <a:off x="1644134" y="3566160"/>
            <a:ext cx="11492865" cy="362903"/>
          </a:xfrm>
          <a:prstGeom prst="rect">
            <a:avLst/>
          </a:prstGeom>
          <a:noFill/>
          <a:ln/>
        </p:spPr>
        <p:txBody>
          <a:bodyPr wrap="non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Locate where communication frequently breaks down or causes stress. Provide students with detailed, specific next action points.</a:t>
            </a:r>
            <a:endParaRPr lang="en-GB" sz="1750" noProof="0"/>
          </a:p>
        </p:txBody>
      </p:sp>
      <p:sp>
        <p:nvSpPr>
          <p:cNvPr id="9" name="Shape 7"/>
          <p:cNvSpPr/>
          <p:nvPr/>
        </p:nvSpPr>
        <p:spPr>
          <a:xfrm>
            <a:off x="1474232" y="4155877"/>
            <a:ext cx="170021" cy="853321"/>
          </a:xfrm>
          <a:prstGeom prst="roundRect">
            <a:avLst>
              <a:gd name="adj" fmla="val 56033"/>
            </a:avLst>
          </a:prstGeom>
          <a:solidFill>
            <a:srgbClr val="4F5961"/>
          </a:solidFill>
          <a:ln w="7620">
            <a:solidFill>
              <a:srgbClr val="68727A"/>
            </a:solidFill>
            <a:prstDash val="solid"/>
          </a:ln>
        </p:spPr>
        <p:txBody>
          <a:bodyPr/>
          <a:lstStyle/>
          <a:p>
            <a:endParaRPr lang="en-GB" noProof="0"/>
          </a:p>
        </p:txBody>
      </p:sp>
      <p:sp>
        <p:nvSpPr>
          <p:cNvPr id="10" name="Text 8"/>
          <p:cNvSpPr/>
          <p:nvPr/>
        </p:nvSpPr>
        <p:spPr>
          <a:xfrm>
            <a:off x="1984415" y="4155877"/>
            <a:ext cx="5004435"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Develop Context-Specific Principles</a:t>
            </a:r>
            <a:endParaRPr lang="en-GB" sz="2200" noProof="0"/>
          </a:p>
        </p:txBody>
      </p:sp>
      <p:sp>
        <p:nvSpPr>
          <p:cNvPr id="11" name="Text 9"/>
          <p:cNvSpPr/>
          <p:nvPr/>
        </p:nvSpPr>
        <p:spPr>
          <a:xfrm>
            <a:off x="1984415" y="4646295"/>
            <a:ext cx="11152584" cy="362903"/>
          </a:xfrm>
          <a:prstGeom prst="rect">
            <a:avLst/>
          </a:prstGeom>
          <a:noFill/>
          <a:ln/>
        </p:spPr>
        <p:txBody>
          <a:bodyPr wrap="non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Create exemplars tailored to your team’s unique needs. Catalogue and have access to up-to-date student support information.</a:t>
            </a:r>
          </a:p>
          <a:p>
            <a:pPr marL="0" indent="0" algn="l">
              <a:lnSpc>
                <a:spcPts val="2850"/>
              </a:lnSpc>
              <a:buNone/>
            </a:pPr>
            <a:endParaRPr lang="en-GB" sz="1750" noProof="0"/>
          </a:p>
        </p:txBody>
      </p:sp>
      <p:sp>
        <p:nvSpPr>
          <p:cNvPr id="12" name="Shape 10"/>
          <p:cNvSpPr/>
          <p:nvPr/>
        </p:nvSpPr>
        <p:spPr>
          <a:xfrm>
            <a:off x="1814513" y="5236012"/>
            <a:ext cx="170021" cy="853321"/>
          </a:xfrm>
          <a:prstGeom prst="roundRect">
            <a:avLst>
              <a:gd name="adj" fmla="val 56033"/>
            </a:avLst>
          </a:prstGeom>
          <a:solidFill>
            <a:srgbClr val="0075B0"/>
          </a:solidFill>
          <a:ln w="7620">
            <a:solidFill>
              <a:srgbClr val="198EC9"/>
            </a:solidFill>
            <a:prstDash val="solid"/>
          </a:ln>
        </p:spPr>
        <p:txBody>
          <a:bodyPr/>
          <a:lstStyle/>
          <a:p>
            <a:endParaRPr lang="en-GB" noProof="0"/>
          </a:p>
        </p:txBody>
      </p:sp>
      <p:sp>
        <p:nvSpPr>
          <p:cNvPr id="13" name="Text 11"/>
          <p:cNvSpPr/>
          <p:nvPr/>
        </p:nvSpPr>
        <p:spPr>
          <a:xfrm>
            <a:off x="2324695" y="5236012"/>
            <a:ext cx="3561398"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Provide Targeted Training</a:t>
            </a:r>
            <a:endParaRPr lang="en-GB" sz="2200" noProof="0"/>
          </a:p>
        </p:txBody>
      </p:sp>
      <p:sp>
        <p:nvSpPr>
          <p:cNvPr id="14" name="Text 12"/>
          <p:cNvSpPr/>
          <p:nvPr/>
        </p:nvSpPr>
        <p:spPr>
          <a:xfrm>
            <a:off x="2324695" y="5726430"/>
            <a:ext cx="10812304" cy="362903"/>
          </a:xfrm>
          <a:prstGeom prst="rect">
            <a:avLst/>
          </a:prstGeom>
          <a:noFill/>
          <a:ln/>
        </p:spPr>
        <p:txBody>
          <a:bodyPr wrap="non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Address discipline-specific communications and challenges. Ensure staff know of where to direct students for specific queries.</a:t>
            </a:r>
            <a:endParaRPr lang="en-GB" sz="1750" noProof="0"/>
          </a:p>
        </p:txBody>
      </p:sp>
      <p:sp>
        <p:nvSpPr>
          <p:cNvPr id="15" name="Shape 13"/>
          <p:cNvSpPr/>
          <p:nvPr/>
        </p:nvSpPr>
        <p:spPr>
          <a:xfrm>
            <a:off x="1474232" y="6316147"/>
            <a:ext cx="170021" cy="853321"/>
          </a:xfrm>
          <a:prstGeom prst="roundRect">
            <a:avLst>
              <a:gd name="adj" fmla="val 56033"/>
            </a:avLst>
          </a:prstGeom>
          <a:solidFill>
            <a:srgbClr val="7A6855"/>
          </a:solidFill>
          <a:ln w="7620">
            <a:solidFill>
              <a:srgbClr val="93816E"/>
            </a:solidFill>
            <a:prstDash val="solid"/>
          </a:ln>
        </p:spPr>
        <p:txBody>
          <a:bodyPr/>
          <a:lstStyle/>
          <a:p>
            <a:endParaRPr lang="en-GB" noProof="0"/>
          </a:p>
        </p:txBody>
      </p:sp>
      <p:sp>
        <p:nvSpPr>
          <p:cNvPr id="16" name="Text 14"/>
          <p:cNvSpPr/>
          <p:nvPr/>
        </p:nvSpPr>
        <p:spPr>
          <a:xfrm>
            <a:off x="1984415" y="6316147"/>
            <a:ext cx="3598426" cy="354330"/>
          </a:xfrm>
          <a:prstGeom prst="rect">
            <a:avLst/>
          </a:prstGeom>
          <a:noFill/>
          <a:ln/>
        </p:spPr>
        <p:txBody>
          <a:bodyPr wrap="none" lIns="0" tIns="0" rIns="0" bIns="0" rtlCol="0" anchor="t"/>
          <a:lstStyle/>
          <a:p>
            <a:pPr marL="0" indent="0" algn="l">
              <a:lnSpc>
                <a:spcPts val="2750"/>
              </a:lnSpc>
              <a:buNone/>
            </a:pPr>
            <a:r>
              <a:rPr lang="en-GB" sz="2200" b="1" noProof="0">
                <a:solidFill>
                  <a:srgbClr val="003865"/>
                </a:solidFill>
                <a:latin typeface="Arial" panose="020B0604020202020204" pitchFamily="34" charset="0"/>
                <a:ea typeface="Inter Bold" pitchFamily="34" charset="-122"/>
                <a:cs typeface="Arial" panose="020B0604020202020204" pitchFamily="34" charset="0"/>
              </a:rPr>
              <a:t>Regularly Evaluate Impact</a:t>
            </a:r>
            <a:endParaRPr lang="en-GB" sz="2200" noProof="0"/>
          </a:p>
        </p:txBody>
      </p:sp>
      <p:sp>
        <p:nvSpPr>
          <p:cNvPr id="17" name="Text 15"/>
          <p:cNvSpPr/>
          <p:nvPr/>
        </p:nvSpPr>
        <p:spPr>
          <a:xfrm>
            <a:off x="1984415" y="6806565"/>
            <a:ext cx="11152584" cy="362903"/>
          </a:xfrm>
          <a:prstGeom prst="rect">
            <a:avLst/>
          </a:prstGeom>
          <a:noFill/>
          <a:ln/>
        </p:spPr>
        <p:txBody>
          <a:bodyPr wrap="none" lIns="0" tIns="0" rIns="0" bIns="0" rtlCol="0" anchor="t"/>
          <a:lstStyle/>
          <a:p>
            <a:pPr marL="0" indent="0" algn="l">
              <a:lnSpc>
                <a:spcPts val="2850"/>
              </a:lnSpc>
              <a:buNone/>
            </a:pPr>
            <a:r>
              <a:rPr lang="en-GB" sz="1750" noProof="0">
                <a:solidFill>
                  <a:srgbClr val="003865"/>
                </a:solidFill>
                <a:latin typeface="Arial" panose="020B0604020202020204" pitchFamily="34" charset="0"/>
                <a:ea typeface="Inter" pitchFamily="34" charset="-122"/>
                <a:cs typeface="Arial" panose="020B0604020202020204" pitchFamily="34" charset="0"/>
              </a:rPr>
              <a:t>Use both quantitative and qualitative measures to assess effectiveness. Monitoring of communications is key.</a:t>
            </a:r>
            <a:endParaRPr lang="en-GB" sz="1750" b="1" noProof="0"/>
          </a:p>
        </p:txBody>
      </p:sp>
      <p:pic>
        <p:nvPicPr>
          <p:cNvPr id="18" name="Image 0" descr="preencoded.png"/>
          <p:cNvPicPr>
            <a:picLocks noChangeAspect="1"/>
          </p:cNvPicPr>
          <p:nvPr/>
        </p:nvPicPr>
        <p:blipFill>
          <a:blip r:embed="rId3"/>
          <a:stretch>
            <a:fillRect/>
          </a:stretch>
        </p:blipFill>
        <p:spPr>
          <a:xfrm>
            <a:off x="13365480" y="228600"/>
            <a:ext cx="1036320" cy="4533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A8B70-AC50-3BAF-9C41-2676C7DAF3E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8C967A3-89D7-DB83-D3AE-897D858C2C6E}"/>
              </a:ext>
            </a:extLst>
          </p:cNvPr>
          <p:cNvSpPr/>
          <p:nvPr/>
        </p:nvSpPr>
        <p:spPr>
          <a:xfrm>
            <a:off x="228600" y="601027"/>
            <a:ext cx="9436100" cy="1118235"/>
          </a:xfrm>
          <a:prstGeom prst="rect">
            <a:avLst/>
          </a:prstGeom>
          <a:noFill/>
          <a:ln/>
        </p:spPr>
        <p:txBody>
          <a:bodyPr wrap="square" lIns="0" tIns="0" rIns="0" bIns="0" rtlCol="0" anchor="t"/>
          <a:lstStyle/>
          <a:p>
            <a:pPr marL="0" indent="0" algn="l">
              <a:lnSpc>
                <a:spcPts val="4400"/>
              </a:lnSpc>
              <a:buNone/>
            </a:pPr>
            <a:r>
              <a:rPr lang="en-GB" sz="4000" b="1" noProof="0">
                <a:solidFill>
                  <a:srgbClr val="003865"/>
                </a:solidFill>
                <a:latin typeface="Arial" panose="020B0604020202020204" pitchFamily="34" charset="0"/>
                <a:ea typeface="Inter Bold" pitchFamily="34" charset="-122"/>
                <a:cs typeface="Arial" panose="020B0604020202020204" pitchFamily="34" charset="0"/>
              </a:rPr>
              <a:t>Good Cause: Some Reminders</a:t>
            </a:r>
            <a:endParaRPr lang="en-GB" sz="4000" noProof="0"/>
          </a:p>
        </p:txBody>
      </p:sp>
      <p:pic>
        <p:nvPicPr>
          <p:cNvPr id="16" name="Image 1" descr="preencoded.png">
            <a:extLst>
              <a:ext uri="{FF2B5EF4-FFF2-40B4-BE49-F238E27FC236}">
                <a16:creationId xmlns:a16="http://schemas.microsoft.com/office/drawing/2014/main" id="{DC23E62C-08CE-DE42-2A98-6A6103502BA7}"/>
              </a:ext>
            </a:extLst>
          </p:cNvPr>
          <p:cNvPicPr>
            <a:picLocks noChangeAspect="1"/>
          </p:cNvPicPr>
          <p:nvPr/>
        </p:nvPicPr>
        <p:blipFill>
          <a:blip r:embed="rId3"/>
          <a:stretch>
            <a:fillRect/>
          </a:stretch>
        </p:blipFill>
        <p:spPr>
          <a:xfrm>
            <a:off x="13365480" y="228600"/>
            <a:ext cx="1036320" cy="453390"/>
          </a:xfrm>
          <a:prstGeom prst="rect">
            <a:avLst/>
          </a:prstGeom>
        </p:spPr>
      </p:pic>
      <p:sp>
        <p:nvSpPr>
          <p:cNvPr id="2" name="Text 1">
            <a:extLst>
              <a:ext uri="{FF2B5EF4-FFF2-40B4-BE49-F238E27FC236}">
                <a16:creationId xmlns:a16="http://schemas.microsoft.com/office/drawing/2014/main" id="{7EC101E5-FFA8-75ED-C39A-6DAB0C80AD0B}"/>
              </a:ext>
            </a:extLst>
          </p:cNvPr>
          <p:cNvSpPr/>
          <p:nvPr/>
        </p:nvSpPr>
        <p:spPr>
          <a:xfrm>
            <a:off x="793789" y="2671819"/>
            <a:ext cx="13042821" cy="725805"/>
          </a:xfrm>
          <a:prstGeom prst="rect">
            <a:avLst/>
          </a:prstGeom>
          <a:noFill/>
          <a:ln/>
        </p:spPr>
        <p:txBody>
          <a:bodyPr wrap="square" lIns="0" tIns="0" rIns="0" bIns="0" rtlCol="0" anchor="t"/>
          <a:lstStyle/>
          <a:p>
            <a:pPr algn="l">
              <a:spcAft>
                <a:spcPts val="800"/>
              </a:spcAft>
            </a:pPr>
            <a:r>
              <a:rPr lang="en-GB" sz="2400" dirty="0">
                <a:solidFill>
                  <a:srgbClr val="343536"/>
                </a:solidFill>
                <a:latin typeface="Arial" panose="020B0604020202020204" pitchFamily="34" charset="0"/>
                <a:ea typeface="Inter" pitchFamily="34" charset="-122"/>
                <a:cs typeface="Arial" panose="020B0604020202020204" pitchFamily="34" charset="0"/>
              </a:rPr>
              <a:t>Good Cause decisions should be made and communicated to students within </a:t>
            </a:r>
            <a:r>
              <a:rPr lang="en-GB" sz="2400" b="1" dirty="0">
                <a:solidFill>
                  <a:srgbClr val="343536"/>
                </a:solidFill>
                <a:latin typeface="Arial" panose="020B0604020202020204" pitchFamily="34" charset="0"/>
                <a:ea typeface="Inter" pitchFamily="34" charset="-122"/>
                <a:cs typeface="Arial" panose="020B0604020202020204" pitchFamily="34" charset="0"/>
              </a:rPr>
              <a:t>ten working days </a:t>
            </a:r>
            <a:r>
              <a:rPr lang="en-GB" sz="2400" dirty="0">
                <a:solidFill>
                  <a:srgbClr val="343536"/>
                </a:solidFill>
                <a:latin typeface="Arial" panose="020B0604020202020204" pitchFamily="34" charset="0"/>
                <a:ea typeface="Inter" pitchFamily="34" charset="-122"/>
                <a:cs typeface="Arial" panose="020B0604020202020204" pitchFamily="34" charset="0"/>
              </a:rPr>
              <a:t>of their submission of a Good Cause claim (</a:t>
            </a:r>
            <a:r>
              <a:rPr lang="en-GB" sz="2400" i="1" dirty="0">
                <a:solidFill>
                  <a:srgbClr val="343536"/>
                </a:solidFill>
                <a:latin typeface="Arial" panose="020B0604020202020204" pitchFamily="34" charset="0"/>
                <a:ea typeface="Inter" pitchFamily="34" charset="-122"/>
                <a:cs typeface="Arial" panose="020B0604020202020204" pitchFamily="34" charset="0"/>
              </a:rPr>
              <a:t>Guide to the Code</a:t>
            </a:r>
            <a:r>
              <a:rPr lang="en-GB" sz="2400" dirty="0">
                <a:solidFill>
                  <a:srgbClr val="343536"/>
                </a:solidFill>
                <a:latin typeface="Arial" panose="020B0604020202020204" pitchFamily="34" charset="0"/>
                <a:ea typeface="Inter" pitchFamily="34" charset="-122"/>
                <a:cs typeface="Arial" panose="020B0604020202020204" pitchFamily="34" charset="0"/>
              </a:rPr>
              <a:t>, Chapter 5, p.8). See also p.13 of </a:t>
            </a:r>
            <a:r>
              <a:rPr lang="en-GB" sz="2400" i="1" dirty="0">
                <a:solidFill>
                  <a:srgbClr val="343536"/>
                </a:solidFill>
                <a:latin typeface="Arial" panose="020B0604020202020204" pitchFamily="34" charset="0"/>
                <a:ea typeface="Inter" pitchFamily="34" charset="-122"/>
                <a:cs typeface="Arial" panose="020B0604020202020204" pitchFamily="34" charset="0"/>
              </a:rPr>
              <a:t>Requests for additional consideration </a:t>
            </a:r>
            <a:r>
              <a:rPr lang="en-GB" sz="2400" dirty="0">
                <a:solidFill>
                  <a:srgbClr val="343536"/>
                </a:solidFill>
                <a:latin typeface="Arial" panose="020B0604020202020204" pitchFamily="34" charset="0"/>
                <a:ea typeface="Inter" pitchFamily="34" charset="-122"/>
                <a:cs typeface="Arial" panose="020B0604020202020204" pitchFamily="34" charset="0"/>
              </a:rPr>
              <a:t>from the Office of the Independent Adjudicator.</a:t>
            </a:r>
          </a:p>
          <a:p>
            <a:pPr algn="l">
              <a:spcAft>
                <a:spcPts val="800"/>
              </a:spcAft>
            </a:pPr>
            <a:endParaRPr lang="en-GB" sz="2400" noProof="0" dirty="0">
              <a:solidFill>
                <a:srgbClr val="343536"/>
              </a:solidFill>
              <a:latin typeface="Arial" panose="020B0604020202020204" pitchFamily="34" charset="0"/>
              <a:ea typeface="Inter" pitchFamily="34" charset="-122"/>
              <a:cs typeface="Arial" panose="020B0604020202020204" pitchFamily="34" charset="0"/>
            </a:endParaRPr>
          </a:p>
          <a:p>
            <a:pPr algn="l">
              <a:spcAft>
                <a:spcPts val="800"/>
              </a:spcAft>
            </a:pPr>
            <a:r>
              <a:rPr lang="en-GB" sz="2400" dirty="0">
                <a:solidFill>
                  <a:srgbClr val="343536"/>
                </a:solidFill>
                <a:latin typeface="Arial" panose="020B0604020202020204" pitchFamily="34" charset="0"/>
                <a:ea typeface="Inter" pitchFamily="34" charset="-122"/>
                <a:cs typeface="Arial" panose="020B0604020202020204" pitchFamily="34" charset="0"/>
              </a:rPr>
              <a:t>The exceptions are claims of manifest prejudice where marking should be complete (or, in some cases, other grades gathered as evidence) before a decision can be made.</a:t>
            </a:r>
          </a:p>
          <a:p>
            <a:pPr algn="l">
              <a:spcAft>
                <a:spcPts val="800"/>
              </a:spcAft>
            </a:pPr>
            <a:endParaRPr lang="en-GB" sz="2400" noProof="0" dirty="0">
              <a:solidFill>
                <a:srgbClr val="343536"/>
              </a:solidFill>
              <a:latin typeface="Arial" panose="020B0604020202020204" pitchFamily="34" charset="0"/>
              <a:ea typeface="Inter" pitchFamily="34" charset="-122"/>
              <a:cs typeface="Arial" panose="020B0604020202020204" pitchFamily="34" charset="0"/>
            </a:endParaRPr>
          </a:p>
          <a:p>
            <a:pPr algn="l">
              <a:spcAft>
                <a:spcPts val="800"/>
              </a:spcAft>
            </a:pPr>
            <a:r>
              <a:rPr lang="en-GB" sz="2400" dirty="0">
                <a:solidFill>
                  <a:srgbClr val="343536"/>
                </a:solidFill>
                <a:latin typeface="Arial" panose="020B0604020202020204" pitchFamily="34" charset="0"/>
                <a:ea typeface="Inter" pitchFamily="34" charset="-122"/>
                <a:cs typeface="Arial" panose="020B0604020202020204" pitchFamily="34" charset="0"/>
              </a:rPr>
              <a:t>Good practice advice is available in chapter 5 of the </a:t>
            </a:r>
            <a:r>
              <a:rPr lang="en-GB" sz="2400" i="1" dirty="0">
                <a:solidFill>
                  <a:srgbClr val="343536"/>
                </a:solidFill>
                <a:latin typeface="Arial" panose="020B0604020202020204" pitchFamily="34" charset="0"/>
                <a:ea typeface="Inter" pitchFamily="34" charset="-122"/>
                <a:cs typeface="Arial" panose="020B0604020202020204" pitchFamily="34" charset="0"/>
              </a:rPr>
              <a:t>Guide to the Code</a:t>
            </a:r>
            <a:r>
              <a:rPr lang="en-GB" sz="2400" dirty="0">
                <a:solidFill>
                  <a:srgbClr val="343536"/>
                </a:solidFill>
                <a:latin typeface="Arial" panose="020B0604020202020204" pitchFamily="34" charset="0"/>
                <a:ea typeface="Inter" pitchFamily="34" charset="-122"/>
                <a:cs typeface="Arial" panose="020B0604020202020204" pitchFamily="34" charset="0"/>
              </a:rPr>
              <a:t>.</a:t>
            </a:r>
            <a:endParaRPr lang="en-GB" sz="2200" noProof="0" dirty="0">
              <a:solidFill>
                <a:srgbClr val="003865"/>
              </a:solidFill>
              <a:latin typeface="Arial" panose="020B0604020202020204" pitchFamily="34" charset="0"/>
              <a:ea typeface="Inter" pitchFamily="34" charset="-122"/>
              <a:cs typeface="Arial" panose="020B0604020202020204" pitchFamily="34" charset="0"/>
            </a:endParaRPr>
          </a:p>
        </p:txBody>
      </p:sp>
    </p:spTree>
    <p:extLst>
      <p:ext uri="{BB962C8B-B14F-4D97-AF65-F5344CB8AC3E}">
        <p14:creationId xmlns:p14="http://schemas.microsoft.com/office/powerpoint/2010/main" val="1563618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2923</Words>
  <Application>Microsoft Macintosh PowerPoint</Application>
  <PresentationFormat>Custom</PresentationFormat>
  <Paragraphs>225</Paragraphs>
  <Slides>26</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26</vt:i4>
      </vt:variant>
    </vt:vector>
  </HeadingPairs>
  <TitlesOfParts>
    <vt:vector size="2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Marc Alexander</cp:lastModifiedBy>
  <cp:revision>1</cp:revision>
  <dcterms:created xsi:type="dcterms:W3CDTF">2025-03-20T14:57:16Z</dcterms:created>
  <dcterms:modified xsi:type="dcterms:W3CDTF">2025-03-25T11:45:13Z</dcterms:modified>
</cp:coreProperties>
</file>